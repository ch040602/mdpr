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0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88</c:v>
                </c:pt>
                <c:pt idx="2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Defects</c:v>
                </c:pt>
              </c:strCache>
            </c:strRef>
          </c:tx>
          <c:spPr>
            <a:solidFill>
              <a:srgbClr val="1118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8181B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6D3D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7534E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7534E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0.xml"/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sv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sv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sv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image" Target="../media/image-19-9.png"/><Relationship Id="rId10" Type="http://schemas.openxmlformats.org/officeDocument/2006/relationships/image" Target="../media/image-19-10.sv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111827">
              <a:alpha val="9200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5559552"/>
            <a:ext cx="374904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Composition Grammar QA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188720"/>
            <a:ext cx="10515600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6199632"/>
            <a:ext cx="2011680" cy="45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1389888"/>
            <a:ext cx="22860" cy="4663440"/>
          </a:xfrm>
          <a:prstGeom prst="rect">
            <a:avLst/>
          </a:prstGeom>
          <a:solidFill>
            <a:srgbClr val="D6D3D1">
              <a:alpha val="9000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389888"/>
            <a:ext cx="73152" cy="65836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194560"/>
            <a:ext cx="73152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990088"/>
            <a:ext cx="73152" cy="65836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794760"/>
            <a:ext cx="73152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599432"/>
            <a:ext cx="73152" cy="65836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5394960"/>
            <a:ext cx="73152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1389888"/>
            <a:ext cx="73152" cy="65836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2194560"/>
            <a:ext cx="73152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2990088"/>
            <a:ext cx="73152" cy="65836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2784" y="3794760"/>
            <a:ext cx="73152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4599432"/>
            <a:ext cx="73152" cy="65836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5394960"/>
            <a:ext cx="73152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800" dirty="0"/>
          </a:p>
        </p:txBody>
      </p:sp>
      <p:sp>
        <p:nvSpPr>
          <p:cNvPr id="24" name="Text 22"/>
          <p:cNvSpPr txBox="1"/>
          <p:nvPr/>
        </p:nvSpPr>
        <p:spPr>
          <a:xfrm>
            <a:off x="1042416" y="14813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Preview Purpose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042416" y="22860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Composition Contract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042416" y="30815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Style Families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042416" y="38862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Semantic Blocks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" y="4690872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Pipeline Diagram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042416" y="54864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Table Coherence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14813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Chart and Table Pair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22860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Editable Proof Objects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30815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Object Shape Grammar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38862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Icon and Text Aside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4690872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Overflow Guard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54864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Actions Output Review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FFFCF7">
              <a:alpha val="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Preview Purpose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decks must prove hierarchy, evidence, and object grammar before decoration.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Fixture type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Actions theme preview source.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 shape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bullets, bounded tables, and one-slide diagrams.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Review target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readable, coherent, composition-aware output.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111827">
              <a:alpha val="8000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CF7">
              <a:alpha val="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CF7">
              <a:alpha val="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CF7">
              <a:alpha val="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D6D3D1"/>
            </a:solidFill>
            <a:prstDash val="solid"/>
          </a:ln>
        </p:spPr>
      </p:sp>
      <p:pic>
        <p:nvPicPr>
          <p:cNvPr id="20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 signal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title scale and first-viewport identity.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D6D3D1"/>
            </a:solidFill>
            <a:prstDash val="solid"/>
          </a:ln>
        </p:spPr>
      </p:sp>
      <p:pic>
        <p:nvPicPr>
          <p:cNvPr id="23" name="Image 4" descr="chart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 rhythm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chart, table, and proof objects stay connected.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D6D3D1"/>
            </a:solidFill>
            <a:prstDash val="solid"/>
          </a:ln>
        </p:spPr>
      </p:sp>
      <p:pic>
        <p:nvPicPr>
          <p:cNvPr id="26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cards, tickets, flags, and panels vary coherently.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Connector clarity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arrows attach to object boundaries.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discipline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no region exceeds the slide.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111827">
              <a:alpha val="8000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CF7">
              <a:alpha val="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CF7">
              <a:alpha val="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CF7">
              <a:alpha val="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 Families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D6D3D1"/>
            </a:solidFill>
            <a:prstDash val="solid"/>
          </a:ln>
        </p:spPr>
      </p:sp>
      <p:pic>
        <p:nvPicPr>
          <p:cNvPr id="20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/ minimalism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restrained structural baselines.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D6D3D1"/>
            </a:solidFill>
            <a:prstDash val="solid"/>
          </a:ln>
        </p:spPr>
      </p:sp>
      <p:pic>
        <p:nvPicPr>
          <p:cNvPr id="23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Executive / technical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structured operational hierarchy.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D6D3D1"/>
            </a:solidFill>
            <a:prstDash val="solid"/>
          </a:ln>
        </p:spPr>
      </p:sp>
      <p:pic>
        <p:nvPicPr>
          <p:cNvPr id="26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Editorial / magazine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warmer page rhythm.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 Families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Minimalism / newmorphism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sparse or softly raised surfaces.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Glass / grid / data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distinct surface and background grammar.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CF7">
              <a:alpha val="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CF7">
              <a:alpha val="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CF7">
              <a:alpha val="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CF7">
              <a:alpha val="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Blocks</a:t>
            </a:r>
            <a:endParaRPr lang="en-US" sz="3400" dirty="0"/>
          </a:p>
        </p:txBody>
      </p:sp>
      <p:sp>
        <p:nvSpPr>
          <p:cNvPr id="21" name="Shape 15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D6D3D1"/>
            </a:solidFill>
            <a:prstDash val="solid"/>
          </a:ln>
        </p:spPr>
      </p:sp>
      <p:pic>
        <p:nvPicPr>
          <p:cNvPr id="22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Headings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stable slide boundaries.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D6D3D1"/>
            </a:solidFill>
            <a:prstDash val="solid"/>
          </a:ln>
        </p:spPr>
      </p:sp>
      <p:pic>
        <p:nvPicPr>
          <p:cNvPr id="25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Lists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and unordered structure.</a:t>
            </a:r>
            <a:endParaRPr lang="en-US" sz="2200" dirty="0"/>
          </a:p>
        </p:txBody>
      </p:sp>
      <p:sp>
        <p:nvSpPr>
          <p:cNvPr id="27" name="Shape 19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D6D3D1"/>
            </a:solidFill>
            <a:prstDash val="solid"/>
          </a:ln>
        </p:spPr>
      </p:sp>
      <p:pic>
        <p:nvPicPr>
          <p:cNvPr id="28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Constraint: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Indented description lines stay under the bold label.</a:t>
            </a:r>
            <a:endParaRPr lang="en-US" sz="2200" dirty="0"/>
          </a:p>
        </p:txBody>
      </p:sp>
      <p:sp>
        <p:nvSpPr>
          <p:cNvPr id="30" name="Shape 21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D6D3D1"/>
            </a:solidFill>
            <a:prstDash val="solid"/>
          </a:ln>
        </p:spPr>
      </p:sp>
      <p:pic>
        <p:nvPicPr>
          <p:cNvPr id="31" name="Image 7" descr="tab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Emphasis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bold and italic remain editable.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C2410C"/>
            </a:solidFill>
            <a:prstDash val="solid"/>
            <a:headEnd type="triangle"/>
          </a:ln>
        </p:spPr>
      </p:sp>
      <p:sp>
        <p:nvSpPr>
          <p:cNvPr id="13" name="Shape 11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C2410C"/>
            </a:solidFill>
            <a:prstDash val="solid"/>
            <a:headEnd type="triangle"/>
          </a:ln>
        </p:spPr>
      </p:sp>
      <p:sp>
        <p:nvSpPr>
          <p:cNvPr id="14" name="Shape 12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CF7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4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CF7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4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 blocks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CF7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4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slides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CF7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4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objects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CF7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4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 overflow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CF7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4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 PPTX HTML PDF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Coherence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Renderer expectation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QA signal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 box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editable, middle aligned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minimum size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native table 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fill and cell padding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>
                        <a:alpha val="80000"/>
                      </a:srgbClr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Diagram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nodes and connectors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clipped labels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theme-colored data 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contrast and value clarity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FFCF7">
              <a:alpha val="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Numeric 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stay side by side.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Data density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values remain readable without shrinking below floor.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Comparison goal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coverage and defects are visible together.</a:t>
            </a:r>
            <a:endParaRPr lang="en-US" sz="2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 (Cont. 2/2)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20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Stage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Coverage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Defects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Parser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92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Layout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>
                        <a:alpha val="80000"/>
                      </a:srgbClr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PPTX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400" y="1417320"/>
            <a:ext cx="10241280" cy="4343400"/>
          </a:xfrm>
          <a:prstGeom prst="rect">
            <a:avLst/>
          </a:prstGeom>
          <a:solidFill>
            <a:srgbClr val="FFFCF7">
              <a:alpha val="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</a:t>
            </a:r>
            <a:endParaRPr lang="en-US" sz="3400" dirty="0"/>
          </a:p>
        </p:txBody>
      </p:sp>
      <p:sp>
        <p:nvSpPr>
          <p:cNvPr id="11" name="Shape 8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D6D3D1">
              <a:alpha val="8200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12780000"/>
              <a:gd name="adj3" fmla="val 12000"/>
            </a:avLst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514348" y="3049296"/>
            <a:ext cx="145278" cy="14527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F8F4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704039" y="2945647"/>
            <a:ext cx="1286745" cy="1286745"/>
          </a:xfrm>
          <a:prstGeom prst="ellipse">
            <a:avLst/>
          </a:prstGeom>
          <a:solidFill>
            <a:srgbClr val="F8F4EF"/>
          </a:solidFill>
          <a:ln w="12700">
            <a:solidFill>
              <a:srgbClr val="F8F4E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766300" y="3236203"/>
            <a:ext cx="1162221" cy="49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84%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1683285" y="3755052"/>
            <a:ext cx="1328253" cy="373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753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796589" y="2567178"/>
            <a:ext cx="137160" cy="13716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025189" y="241630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84%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796589" y="3006090"/>
            <a:ext cx="137160" cy="137160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025189" y="285521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753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16%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658990" y="3835908"/>
            <a:ext cx="4051962" cy="256032"/>
          </a:xfrm>
          <a:prstGeom prst="roundRect">
            <a:avLst>
              <a:gd name="adj" fmla="val 28571"/>
            </a:avLst>
          </a:prstGeom>
          <a:solidFill>
            <a:srgbClr val="D6D3D1">
              <a:alpha val="8500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658990" y="3835908"/>
            <a:ext cx="3687286" cy="256032"/>
          </a:xfrm>
          <a:prstGeom prst="roundRect">
            <a:avLst>
              <a:gd name="adj" fmla="val 28571"/>
            </a:avLst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346276" y="3433572"/>
            <a:ext cx="0" cy="969264"/>
          </a:xfrm>
          <a:prstGeom prst="line">
            <a:avLst/>
          </a:prstGeom>
          <a:noFill/>
          <a:ln w="12700">
            <a:solidFill>
              <a:srgbClr val="18181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199972" y="3817620"/>
            <a:ext cx="292608" cy="292608"/>
          </a:xfrm>
          <a:prstGeom prst="ellipse">
            <a:avLst/>
          </a:prstGeom>
          <a:solidFill>
            <a:srgbClr val="F8F4EF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658990" y="3744468"/>
            <a:ext cx="0" cy="438912"/>
          </a:xfrm>
          <a:prstGeom prst="line">
            <a:avLst/>
          </a:prstGeom>
          <a:noFill/>
          <a:ln w="12700">
            <a:solidFill>
              <a:srgbClr val="D6D3D1">
                <a:alpha val="9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710952" y="3744468"/>
            <a:ext cx="0" cy="438912"/>
          </a:xfrm>
          <a:prstGeom prst="line">
            <a:avLst/>
          </a:prstGeom>
          <a:noFill/>
          <a:ln w="12700">
            <a:solidFill>
              <a:srgbClr val="D6D3D1">
                <a:alpha val="9500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55618" y="2217420"/>
            <a:ext cx="14587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91%</a:t>
            </a:r>
            <a:endParaRPr lang="en-US" sz="3200" dirty="0"/>
          </a:p>
        </p:txBody>
      </p:sp>
      <p:sp>
        <p:nvSpPr>
          <p:cNvPr id="29" name="Text 26"/>
          <p:cNvSpPr txBox="1"/>
          <p:nvPr/>
        </p:nvSpPr>
        <p:spPr>
          <a:xfrm>
            <a:off x="6658990" y="4530852"/>
            <a:ext cx="40519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5753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Score · Readiness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6658990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753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10162312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753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400" y="1417320"/>
            <a:ext cx="10241280" cy="4343400"/>
          </a:xfrm>
          <a:prstGeom prst="rect">
            <a:avLst/>
          </a:prstGeom>
          <a:solidFill>
            <a:srgbClr val="FFFCF7">
              <a:alpha val="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 (Cont. 2/2)</a:t>
            </a:r>
            <a:endParaRPr lang="en-US" sz="3400" dirty="0"/>
          </a:p>
        </p:txBody>
      </p:sp>
      <p:sp>
        <p:nvSpPr>
          <p:cNvPr id="11" name="Shape 8"/>
          <p:cNvSpPr/>
          <p:nvPr/>
        </p:nvSpPr>
        <p:spPr>
          <a:xfrm>
            <a:off x="1078992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CF7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80160" y="4347972"/>
            <a:ext cx="593815" cy="12801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61872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261872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3628705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CF7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29873" y="4347972"/>
            <a:ext cx="1227218" cy="12801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811585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3811585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6178418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CF7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79586" y="4347972"/>
            <a:ext cx="1702270" cy="12801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61298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361298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86%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8728131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CF7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929299" y="4347972"/>
            <a:ext cx="1860621" cy="12801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911011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8911011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94%</a:t>
            </a:r>
            <a:endParaRPr lang="en-US" sz="2800" dirty="0"/>
          </a:p>
        </p:txBody>
      </p:sp>
      <p:sp>
        <p:nvSpPr>
          <p:cNvPr id="27" name="Shape 24"/>
          <p:cNvSpPr/>
          <p:nvPr/>
        </p:nvSpPr>
        <p:spPr>
          <a:xfrm>
            <a:off x="3285375" y="3589020"/>
            <a:ext cx="399904" cy="0"/>
          </a:xfrm>
          <a:prstGeom prst="line">
            <a:avLst/>
          </a:prstGeom>
          <a:noFill/>
          <a:ln w="127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5835088" y="3589020"/>
            <a:ext cx="399904" cy="0"/>
          </a:xfrm>
          <a:prstGeom prst="line">
            <a:avLst/>
          </a:prstGeom>
          <a:noFill/>
          <a:ln w="127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8384801" y="3589020"/>
            <a:ext cx="399904" cy="0"/>
          </a:xfrm>
          <a:prstGeom prst="line">
            <a:avLst/>
          </a:prstGeom>
          <a:noFill/>
          <a:ln w="12700">
            <a:solidFill>
              <a:srgbClr val="C2410C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1572768"/>
            <a:ext cx="10094976" cy="426110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Method flag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high-level step.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Ticket panel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document-like evidence.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Two-corner panel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linear grouping.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Notched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technical constraint or code-like object.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Rounded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neutral fallback surface.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CF7">
              <a:alpha val="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CF7">
              <a:alpha val="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CF7">
              <a:alpha val="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CF7">
              <a:alpha val="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and Text Aside</a:t>
            </a:r>
            <a:endParaRPr lang="en-US" sz="3400" dirty="0"/>
          </a:p>
        </p:txBody>
      </p:sp>
      <p:sp>
        <p:nvSpPr>
          <p:cNvPr id="21" name="Shape 15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D6D3D1"/>
            </a:solidFill>
            <a:prstDash val="solid"/>
          </a:ln>
        </p:spPr>
      </p:sp>
      <p:pic>
        <p:nvPicPr>
          <p:cNvPr id="22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quiet monochrome anchor.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D6D3D1"/>
            </a:solidFill>
            <a:prstDash val="solid"/>
          </a:ln>
        </p:spPr>
      </p:sp>
      <p:pic>
        <p:nvPicPr>
          <p:cNvPr id="25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scale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secondary to title and body text.</a:t>
            </a:r>
            <a:endParaRPr lang="en-US" sz="2200" dirty="0"/>
          </a:p>
        </p:txBody>
      </p:sp>
      <p:sp>
        <p:nvSpPr>
          <p:cNvPr id="27" name="Shape 19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D6D3D1"/>
            </a:solidFill>
            <a:prstDash val="solid"/>
          </a:ln>
        </p:spPr>
      </p:sp>
      <p:pic>
        <p:nvPicPr>
          <p:cNvPr id="28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Placement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never fills empty space alone.</a:t>
            </a:r>
            <a:endParaRPr lang="en-US" sz="2200" dirty="0"/>
          </a:p>
        </p:txBody>
      </p:sp>
      <p:sp>
        <p:nvSpPr>
          <p:cNvPr id="30" name="Shape 21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D6D3D1"/>
            </a:solidFill>
            <a:prstDash val="solid"/>
          </a:ln>
        </p:spPr>
      </p:sp>
      <p:pic>
        <p:nvPicPr>
          <p:cNvPr id="31" name="Image 7" descr="tab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and text share a stable center line.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CF7">
              <a:alpha val="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CF7">
              <a:alpha val="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CF7">
              <a:alpha val="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CF7">
              <a:alpha val="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Overflow Guard</a:t>
            </a:r>
            <a:endParaRPr lang="en-US" sz="3400" dirty="0"/>
          </a:p>
        </p:txBody>
      </p:sp>
      <p:sp>
        <p:nvSpPr>
          <p:cNvPr id="21" name="Shape 15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D6D3D1"/>
            </a:solidFill>
            <a:prstDash val="solid"/>
          </a:ln>
        </p:spPr>
      </p:sp>
      <p:pic>
        <p:nvPicPr>
          <p:cNvPr id="22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fit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region bounds are validated before output.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D6D3D1"/>
            </a:solidFill>
            <a:prstDash val="solid"/>
          </a:ln>
        </p:spPr>
      </p:sp>
      <p:pic>
        <p:nvPicPr>
          <p:cNvPr id="25" name="Image 5" descr="tab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cell text uses middle alignment and coherent margins.</a:t>
            </a:r>
            <a:endParaRPr lang="en-US" sz="2200" dirty="0"/>
          </a:p>
        </p:txBody>
      </p:sp>
      <p:sp>
        <p:nvSpPr>
          <p:cNvPr id="27" name="Shape 19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D6D3D1"/>
            </a:solidFill>
            <a:prstDash val="solid"/>
          </a:ln>
        </p:spPr>
      </p:sp>
      <p:pic>
        <p:nvPicPr>
          <p:cNvPr id="28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Continuation slides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content splits before unreadable shrink.</a:t>
            </a:r>
            <a:endParaRPr lang="en-US" sz="2200" dirty="0"/>
          </a:p>
        </p:txBody>
      </p:sp>
      <p:sp>
        <p:nvSpPr>
          <p:cNvPr id="30" name="Shape 21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D6D3D1"/>
            </a:solidFill>
            <a:prstDash val="solid"/>
          </a:ln>
        </p:spPr>
      </p:sp>
      <p:pic>
        <p:nvPicPr>
          <p:cNvPr id="31" name="Image 7" descr="artic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Cleanup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decorative-only bullets and empty artifacts are removed.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C2410C">
              <a:alpha val="90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111827">
              <a:alpha val="8000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CF7">
              <a:alpha val="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CF7">
              <a:alpha val="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CF7">
              <a:alpha val="0"/>
            </a:srgbClr>
          </a:solidFill>
          <a:ln w="12700">
            <a:solidFill>
              <a:srgbClr val="D6D3D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Output Review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D6D3D1"/>
            </a:solidFill>
            <a:prstDash val="solid"/>
          </a:ln>
        </p:spPr>
      </p:sp>
      <p:pic>
        <p:nvPicPr>
          <p:cNvPr id="20" name="Image 3" descr="flow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Theme Preview builds this source across decoration styles.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D6D3D1"/>
            </a:solidFill>
            <a:prstDash val="solid"/>
          </a:ln>
        </p:spPr>
      </p:sp>
      <p:pic>
        <p:nvPicPr>
          <p:cNvPr id="23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Gallery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Pages shows each styled deck and object-check slide.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D6D3D1"/>
            </a:solidFill>
            <a:prstDash val="solid"/>
          </a:ln>
        </p:spPr>
      </p:sp>
      <p:pic>
        <p:nvPicPr>
          <p:cNvPr id="26" name="Image 5" descr="spark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Ownership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owns rendering; mdpr-skill may prepare hints.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8181B"/>
      </a:dk1>
      <a:lt1>
        <a:srgbClr val="F8F4EF"/>
      </a:lt1>
      <a:dk2>
        <a:srgbClr val="57534E"/>
      </a:dk2>
      <a:lt2>
        <a:srgbClr val="FFFCF7"/>
      </a:lt2>
      <a:accent1>
        <a:srgbClr val="C2410C"/>
      </a:accent1>
      <a:accent2>
        <a:srgbClr val="111827"/>
      </a:accent2>
      <a:accent3>
        <a:srgbClr val="C2410C"/>
      </a:accent3>
      <a:accent4>
        <a:srgbClr val="57534E"/>
      </a:accent4>
      <a:accent5>
        <a:srgbClr val="D6D3D1"/>
      </a:accent5>
      <a:accent6>
        <a:srgbClr val="18181B"/>
      </a:accent6>
      <a:hlink>
        <a:srgbClr val="C2410C"/>
      </a:hlink>
      <a:folHlink>
        <a:srgbClr val="111827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Composition Grammar QA</dc:title>
  <dc:subject>Generated from Markdown through Presentation IR and Layout IR</dc:subject>
  <dc:creator>mdpresent</dc:creator>
  <cp:lastModifiedBy>mdpresent</cp:lastModifiedBy>
  <cp:revision>1</cp:revision>
  <dcterms:created xsi:type="dcterms:W3CDTF">2026-06-20T14:16:05Z</dcterms:created>
  <dcterms:modified xsi:type="dcterms:W3CDTF">2026-06-20T14:16:05Z</dcterms:modified>
</cp:coreProperties>
</file>