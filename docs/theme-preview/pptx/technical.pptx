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</c:v>
                </c:pt>
              </c:strCache>
            </c:strRef>
          </c:tx>
          <c:spPr>
            <a:solidFill>
              <a:srgbClr val="0478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Parser</c:v>
                  </c:pt>
                  <c:pt idx="1">
                    <c:v>Layout</c:v>
                  </c:pt>
                  <c:pt idx="2">
                    <c:v>PPTX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92</c:v>
                </c:pt>
                <c:pt idx="1">
                  <c:v>88</c:v>
                </c:pt>
                <c:pt idx="2">
                  <c:v>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Defects</c:v>
                </c:pt>
              </c:strCache>
            </c:strRef>
          </c:tx>
          <c:spPr>
            <a:solidFill>
              <a:srgbClr val="A7F3D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Parser</c:v>
                  </c:pt>
                  <c:pt idx="1">
                    <c:v>Layout</c:v>
                  </c:pt>
                  <c:pt idx="2">
                    <c:v>PPTX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</c:v>
                </c:pt>
                <c:pt idx="1">
                  <c:v>5</c:v>
                </c:pt>
                <c:pt idx="2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827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1FA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74151"/>
              </a:solidFill>
              <a:latin typeface="Pretendard"/>
              <a:cs typeface="Pretendard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image" Target="../media/image-8-13.png"/><Relationship Id="rId14" Type="http://schemas.openxmlformats.org/officeDocument/2006/relationships/image" Target="../media/image-8-14.svg"/><Relationship Id="rId15" Type="http://schemas.openxmlformats.org/officeDocument/2006/relationships/image" Target="../media/image-8-15.png"/><Relationship Id="rId16" Type="http://schemas.openxmlformats.org/officeDocument/2006/relationships/image" Target="../media/image-8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4.xml"/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image" Target="../media/image-17-4.svg"/><Relationship Id="rId5" Type="http://schemas.openxmlformats.org/officeDocument/2006/relationships/image" Target="../media/image-17-5.png"/><Relationship Id="rId6" Type="http://schemas.openxmlformats.org/officeDocument/2006/relationships/image" Target="../media/image-17-6.svg"/><Relationship Id="rId7" Type="http://schemas.openxmlformats.org/officeDocument/2006/relationships/image" Target="../media/image-17-7.png"/><Relationship Id="rId8" Type="http://schemas.openxmlformats.org/officeDocument/2006/relationships/image" Target="../media/image-17-8.svg"/><Relationship Id="rId9" Type="http://schemas.openxmlformats.org/officeDocument/2006/relationships/image" Target="../media/image-17-9.png"/><Relationship Id="rId10" Type="http://schemas.openxmlformats.org/officeDocument/2006/relationships/image" Target="../media/image-17-10.sv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svg"/><Relationship Id="rId13" Type="http://schemas.openxmlformats.org/officeDocument/2006/relationships/image" Target="../media/image-17-13.png"/><Relationship Id="rId14" Type="http://schemas.openxmlformats.org/officeDocument/2006/relationships/image" Target="../media/image-17-14.svg"/><Relationship Id="rId15" Type="http://schemas.openxmlformats.org/officeDocument/2006/relationships/image" Target="../media/image-17-15.png"/><Relationship Id="rId16" Type="http://schemas.openxmlformats.org/officeDocument/2006/relationships/image" Target="../media/image-17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image" Target="../media/image-18-3.png"/><Relationship Id="rId4" Type="http://schemas.openxmlformats.org/officeDocument/2006/relationships/image" Target="../media/image-18-4.svg"/><Relationship Id="rId5" Type="http://schemas.openxmlformats.org/officeDocument/2006/relationships/image" Target="../media/image-18-5.png"/><Relationship Id="rId6" Type="http://schemas.openxmlformats.org/officeDocument/2006/relationships/image" Target="../media/image-18-6.svg"/><Relationship Id="rId7" Type="http://schemas.openxmlformats.org/officeDocument/2006/relationships/image" Target="../media/image-18-7.png"/><Relationship Id="rId8" Type="http://schemas.openxmlformats.org/officeDocument/2006/relationships/image" Target="../media/image-18-8.svg"/><Relationship Id="rId9" Type="http://schemas.openxmlformats.org/officeDocument/2006/relationships/image" Target="../media/image-18-9.png"/><Relationship Id="rId10" Type="http://schemas.openxmlformats.org/officeDocument/2006/relationships/image" Target="../media/image-18-10.svg"/><Relationship Id="rId11" Type="http://schemas.openxmlformats.org/officeDocument/2006/relationships/image" Target="../media/image-18-11.png"/><Relationship Id="rId12" Type="http://schemas.openxmlformats.org/officeDocument/2006/relationships/image" Target="../media/image-18-12.svg"/><Relationship Id="rId13" Type="http://schemas.openxmlformats.org/officeDocument/2006/relationships/image" Target="../media/image-18-13.png"/><Relationship Id="rId14" Type="http://schemas.openxmlformats.org/officeDocument/2006/relationships/image" Target="../media/image-18-14.svg"/><Relationship Id="rId15" Type="http://schemas.openxmlformats.org/officeDocument/2006/relationships/image" Target="../media/image-18-15.png"/><Relationship Id="rId16" Type="http://schemas.openxmlformats.org/officeDocument/2006/relationships/image" Target="../media/image-18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image" Target="../media/image-19-3.png"/><Relationship Id="rId4" Type="http://schemas.openxmlformats.org/officeDocument/2006/relationships/image" Target="../media/image-19-4.svg"/><Relationship Id="rId5" Type="http://schemas.openxmlformats.org/officeDocument/2006/relationships/image" Target="../media/image-19-5.png"/><Relationship Id="rId6" Type="http://schemas.openxmlformats.org/officeDocument/2006/relationships/image" Target="../media/image-19-6.svg"/><Relationship Id="rId7" Type="http://schemas.openxmlformats.org/officeDocument/2006/relationships/image" Target="../media/image-19-7.png"/><Relationship Id="rId8" Type="http://schemas.openxmlformats.org/officeDocument/2006/relationships/image" Target="../media/image-19-8.svg"/><Relationship Id="rId9" Type="http://schemas.openxmlformats.org/officeDocument/2006/relationships/image" Target="../media/image-19-9.png"/><Relationship Id="rId10" Type="http://schemas.openxmlformats.org/officeDocument/2006/relationships/image" Target="../media/image-19-10.svg"/><Relationship Id="rId11" Type="http://schemas.openxmlformats.org/officeDocument/2006/relationships/image" Target="../media/image-19-11.png"/><Relationship Id="rId12" Type="http://schemas.openxmlformats.org/officeDocument/2006/relationships/image" Target="../media/image-19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78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3776" y="1005840"/>
            <a:ext cx="73152" cy="484632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05740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Composition Grammar QA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188720"/>
            <a:ext cx="10515600" cy="4572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6199632"/>
            <a:ext cx="2011680" cy="45720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80760" y="1389888"/>
            <a:ext cx="22860" cy="4663440"/>
          </a:xfrm>
          <a:prstGeom prst="rect">
            <a:avLst/>
          </a:prstGeom>
          <a:solidFill>
            <a:srgbClr val="D1FAE5">
              <a:alpha val="90000"/>
            </a:srgbClr>
          </a:solidFill>
          <a:ln w="12700">
            <a:solidFill>
              <a:srgbClr val="D1FAE5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389888"/>
            <a:ext cx="73152" cy="6583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94560"/>
            <a:ext cx="73152" cy="658368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990088"/>
            <a:ext cx="73152" cy="6583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3794760"/>
            <a:ext cx="73152" cy="658368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4599432"/>
            <a:ext cx="73152" cy="6583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5394960"/>
            <a:ext cx="73152" cy="658368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72784" y="1389888"/>
            <a:ext cx="73152" cy="6583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72784" y="2194560"/>
            <a:ext cx="73152" cy="658368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2784" y="2990088"/>
            <a:ext cx="73152" cy="6583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2784" y="3794760"/>
            <a:ext cx="73152" cy="658368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2784" y="4599432"/>
            <a:ext cx="73152" cy="6583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72784" y="5394960"/>
            <a:ext cx="73152" cy="658368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Agenda</a:t>
            </a:r>
            <a:endParaRPr lang="en-US" sz="3800" dirty="0"/>
          </a:p>
        </p:txBody>
      </p:sp>
      <p:sp>
        <p:nvSpPr>
          <p:cNvPr id="19" name="Text 17"/>
          <p:cNvSpPr txBox="1"/>
          <p:nvPr/>
        </p:nvSpPr>
        <p:spPr>
          <a:xfrm>
            <a:off x="1042416" y="1481328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Preview Purpose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042416" y="2286000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Composition Contract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042416" y="3081528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Style Families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042416" y="3886200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Semantic Blocks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042416" y="4690872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Pipeline Diagram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042416" y="5486400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Table Coherence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1481328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Chart and Table Pair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2286000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Editable Proof Objects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6492240" y="3081528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Object Shape Grammar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492240" y="3886200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Icon and Text Aside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6492240" y="4690872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Overflow Guard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6492240" y="5486400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Actions Output Review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3063240"/>
            <a:ext cx="10241280" cy="7315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13258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14400" y="1417320"/>
            <a:ext cx="10241280" cy="13258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1FAE5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046988" y="1549908"/>
            <a:ext cx="73152" cy="1060704"/>
          </a:xfrm>
          <a:prstGeom prst="roundRect">
            <a:avLst>
              <a:gd name="adj" fmla="val 25000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Preview Purpose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1298448" y="1545336"/>
            <a:ext cx="963777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Generated decks must prove hierarchy, evidence, and object grammar before decoration.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987552" y="3172968"/>
            <a:ext cx="10094976" cy="247802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478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Fixture type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Actions theme preview source.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478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Source shape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short bullets, bounded tables, and one-slide diagrams.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478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Review target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readable, coherent, composition-aware output.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A7F3D0">
              <a:alpha val="80000"/>
            </a:srgbClr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1FAE5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1FAE5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1FAE5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3" name="Text 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Composition Contract</a:t>
            </a:r>
            <a:endParaRPr lang="en-US" sz="3400" dirty="0"/>
          </a:p>
        </p:txBody>
      </p:sp>
      <p:sp>
        <p:nvSpPr>
          <p:cNvPr id="14" name="Shape 9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9FAFB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15" name="Image 3" descr="article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699321" y="195754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478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Cover signal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title scale and first-viewport identity.</a:t>
            </a:r>
            <a:endParaRPr lang="en-US" sz="2200" dirty="0"/>
          </a:p>
        </p:txBody>
      </p:sp>
      <p:sp>
        <p:nvSpPr>
          <p:cNvPr id="17" name="Shape 11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9FAFB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18" name="Image 4" descr="chart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699321" y="328342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478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Evidence rhythm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chart, table, and proof objects stay connected.</a:t>
            </a:r>
            <a:endParaRPr lang="en-US" sz="2200" dirty="0"/>
          </a:p>
        </p:txBody>
      </p:sp>
      <p:sp>
        <p:nvSpPr>
          <p:cNvPr id="20" name="Shape 13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9FAFB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21" name="Image 5" descr="artic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699321" y="4600164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478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grammar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cards, tickets, flags, and panels vary coherently.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Composition Contract (Cont. 2/2)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478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Connector clarity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arrows attach to object boundaries.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478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Bounds discipline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no region exceeds the slide.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A7F3D0">
              <a:alpha val="80000"/>
            </a:srgbClr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1FAE5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1FAE5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1FAE5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3" name="Text 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Style Families</a:t>
            </a:r>
            <a:endParaRPr lang="en-US" sz="3400" dirty="0"/>
          </a:p>
        </p:txBody>
      </p:sp>
      <p:sp>
        <p:nvSpPr>
          <p:cNvPr id="14" name="Shape 9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9FAFB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15" name="Image 3" descr="article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699321" y="195754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478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Clean / minimalism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restrained structural baselines.</a:t>
            </a:r>
            <a:endParaRPr lang="en-US" sz="2200" dirty="0"/>
          </a:p>
        </p:txBody>
      </p:sp>
      <p:sp>
        <p:nvSpPr>
          <p:cNvPr id="17" name="Shape 11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9FAFB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18" name="Image 4" descr="articl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699321" y="328342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478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Executive / technical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structured operational hierarchy.</a:t>
            </a:r>
            <a:endParaRPr lang="en-US" sz="2200" dirty="0"/>
          </a:p>
        </p:txBody>
      </p:sp>
      <p:sp>
        <p:nvSpPr>
          <p:cNvPr id="20" name="Shape 13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9FAFB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21" name="Image 5" descr="artic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699321" y="4600164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478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Editorial / magazine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warmer page rhythm.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Style Families (Cont. 2/2)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478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Minimalism / newmorphism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sparse or softly raised surfaces.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478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Glass / grid / data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distinct surface and background grammar.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960" y="1463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1FAE5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309360" y="1463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1FAE5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822960" y="3749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1FAE5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309360" y="3749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1FAE5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5" name="Text 9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Semantic Blocks</a:t>
            </a:r>
            <a:endParaRPr lang="en-US" sz="3400" dirty="0"/>
          </a:p>
        </p:txBody>
      </p:sp>
      <p:sp>
        <p:nvSpPr>
          <p:cNvPr id="16" name="Shape 10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9FAFB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17" name="Image 4" descr="tabl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9274" y="2203704"/>
            <a:ext cx="438912" cy="43891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478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Headings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stable slide boundaries.</a:t>
            </a:r>
            <a:endParaRPr lang="en-US" sz="2200" dirty="0"/>
          </a:p>
        </p:txBody>
      </p:sp>
      <p:sp>
        <p:nvSpPr>
          <p:cNvPr id="19" name="Shape 12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9FAFB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20" name="Image 5" descr="artic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35674" y="2203704"/>
            <a:ext cx="438912" cy="438912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478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Lists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ordered and unordered structure.</a:t>
            </a:r>
            <a:endParaRPr lang="en-US" sz="2200" dirty="0"/>
          </a:p>
        </p:txBody>
      </p:sp>
      <p:sp>
        <p:nvSpPr>
          <p:cNvPr id="22" name="Shape 14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9FAFB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23" name="Image 6" descr="article icon from tabler-icons (MIT)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9274" y="4489704"/>
            <a:ext cx="438912" cy="438912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478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Constraint: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Indented description lines stay under the bold label.</a:t>
            </a:r>
            <a:endParaRPr lang="en-US" sz="2200" dirty="0"/>
          </a:p>
        </p:txBody>
      </p:sp>
      <p:sp>
        <p:nvSpPr>
          <p:cNvPr id="25" name="Shape 16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9FAFB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26" name="Image 7" descr="table icon from tabler-icons (MIT)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35674" y="4489704"/>
            <a:ext cx="438912" cy="438912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478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Emphasis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bold and italic remain editable.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Pipeline Diagram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002024" y="3095244"/>
            <a:ext cx="457200" cy="0"/>
          </a:xfrm>
          <a:prstGeom prst="line">
            <a:avLst/>
          </a:prstGeom>
          <a:noFill/>
          <a:ln w="12700">
            <a:solidFill>
              <a:srgbClr val="047857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7748016" y="3095244"/>
            <a:ext cx="457200" cy="0"/>
          </a:xfrm>
          <a:prstGeom prst="line">
            <a:avLst/>
          </a:prstGeom>
          <a:noFill/>
          <a:ln w="12700">
            <a:solidFill>
              <a:srgbClr val="047857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9849612" y="3627791"/>
            <a:ext cx="0" cy="416235"/>
          </a:xfrm>
          <a:prstGeom prst="line">
            <a:avLst/>
          </a:prstGeom>
          <a:noFill/>
          <a:ln w="12700">
            <a:solidFill>
              <a:srgbClr val="047857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7748016" y="4576572"/>
            <a:ext cx="457200" cy="0"/>
          </a:xfrm>
          <a:prstGeom prst="line">
            <a:avLst/>
          </a:prstGeom>
          <a:noFill/>
          <a:ln w="12700">
            <a:solidFill>
              <a:srgbClr val="047857"/>
            </a:solidFill>
            <a:prstDash val="solid"/>
            <a:headEnd type="triangle"/>
          </a:ln>
        </p:spPr>
      </p:sp>
      <p:sp>
        <p:nvSpPr>
          <p:cNvPr id="8" name="Shape 6"/>
          <p:cNvSpPr/>
          <p:nvPr/>
        </p:nvSpPr>
        <p:spPr>
          <a:xfrm>
            <a:off x="4002024" y="4576572"/>
            <a:ext cx="457200" cy="0"/>
          </a:xfrm>
          <a:prstGeom prst="line">
            <a:avLst/>
          </a:prstGeom>
          <a:noFill/>
          <a:ln w="12700">
            <a:solidFill>
              <a:srgbClr val="047857"/>
            </a:solidFill>
            <a:prstDash val="solid"/>
            <a:headEnd type="triangle"/>
          </a:ln>
        </p:spPr>
      </p:sp>
      <p:sp>
        <p:nvSpPr>
          <p:cNvPr id="9" name="Shape 7"/>
          <p:cNvSpPr/>
          <p:nvPr/>
        </p:nvSpPr>
        <p:spPr>
          <a:xfrm>
            <a:off x="640080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047857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510028"/>
            <a:ext cx="3435096" cy="1097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2907975"/>
            <a:ext cx="374538" cy="374538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04672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325514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Markdown source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386072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047857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86072" y="2510028"/>
            <a:ext cx="3435096" cy="1097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50664" y="2907975"/>
            <a:ext cx="374538" cy="374538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50664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071506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Parse blocks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132064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047857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132064" y="2510028"/>
            <a:ext cx="3435096" cy="1097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96656" y="2907975"/>
            <a:ext cx="374538" cy="374538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96656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8817498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Split slides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32064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047857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132064" y="3991356"/>
            <a:ext cx="3435096" cy="1097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96656" y="4389303"/>
            <a:ext cx="374538" cy="374538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96656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817498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Layout objects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386072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047857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386072" y="3991356"/>
            <a:ext cx="3435096" cy="1097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50664" y="4389303"/>
            <a:ext cx="374538" cy="374538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50664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5071506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Validate overflow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0080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047857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0080" y="3991356"/>
            <a:ext cx="3435096" cy="1097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4672" y="4389303"/>
            <a:ext cx="374538" cy="374538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04672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9FAF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1325514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Render PPTX HTML PDF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 Coherence</a:t>
            </a:r>
            <a:endParaRPr lang="en-US" sz="3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63040"/>
          <a:ext cx="10241280" cy="4480560"/>
        </p:xfrm>
        <a:graphic>
          <a:graphicData uri="http://schemas.openxmlformats.org/drawingml/2006/table">
            <a:tbl>
              <a:tblPr/>
              <a:tblGrid>
                <a:gridCol w="3413760"/>
                <a:gridCol w="3413760"/>
                <a:gridCol w="3413760"/>
              </a:tblGrid>
              <a:tr h="8961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Object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8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Renderer expectation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8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QA signal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857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Text box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editable, middle aligned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readable minimum size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Table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native table object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header fill and cell padding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Diagram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nodes and connectors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 clipped labels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Chart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theme-colored data object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contrast and value clarity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" y="1517904"/>
            <a:ext cx="3822192" cy="7315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6048" y="1426464"/>
            <a:ext cx="6199632" cy="44074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56048" y="1426464"/>
            <a:ext cx="6199632" cy="440740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1FAE5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Chart and Table Pair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1627632"/>
            <a:ext cx="3675888" cy="40050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478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Numeric evidence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chart and table stay side by side.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478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Data density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values remain readable without shrinking below floor.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478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Comparison goal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coverage and defects are visible together.</a:t>
            </a:r>
            <a:endParaRPr lang="en-US" sz="2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084064" y="1572768"/>
          <a:ext cx="5943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Chart and Table Pair (Cont. 2/2)</a:t>
            </a:r>
            <a:endParaRPr lang="en-US" sz="3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63040"/>
          <a:ext cx="10241280" cy="4480560"/>
        </p:xfrm>
        <a:graphic>
          <a:graphicData uri="http://schemas.openxmlformats.org/drawingml/2006/table">
            <a:tbl>
              <a:tblPr/>
              <a:tblGrid>
                <a:gridCol w="3413760"/>
                <a:gridCol w="3413760"/>
                <a:gridCol w="3413760"/>
              </a:tblGrid>
              <a:tr h="1120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Stage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8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Coverage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8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Defects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857"/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Parser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92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Layout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88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PPTX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95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FA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343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1417320"/>
            <a:ext cx="10241280" cy="4343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1FAE5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Editable Proof Objects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1309713" y="2551322"/>
            <a:ext cx="2075395" cy="2075395"/>
          </a:xfrm>
          <a:prstGeom prst="blockArc">
            <a:avLst>
              <a:gd name="adj1" fmla="val 0"/>
              <a:gd name="adj2" fmla="val 21540000"/>
              <a:gd name="adj3" fmla="val 12000"/>
            </a:avLst>
          </a:prstGeom>
          <a:solidFill>
            <a:srgbClr val="D1FAE5">
              <a:alpha val="82000"/>
            </a:srgbClr>
          </a:solidFill>
          <a:ln w="12700">
            <a:solidFill>
              <a:srgbClr val="D1FAE5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309713" y="2551322"/>
            <a:ext cx="2075395" cy="2075395"/>
          </a:xfrm>
          <a:prstGeom prst="blockArc">
            <a:avLst>
              <a:gd name="adj1" fmla="val 16200000"/>
              <a:gd name="adj2" fmla="val 21540000"/>
              <a:gd name="adj3" fmla="val 12000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09713" y="2551322"/>
            <a:ext cx="2075395" cy="2075395"/>
          </a:xfrm>
          <a:prstGeom prst="blockArc">
            <a:avLst>
              <a:gd name="adj1" fmla="val 0"/>
              <a:gd name="adj2" fmla="val 12780000"/>
              <a:gd name="adj3" fmla="val 12000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514348" y="3049296"/>
            <a:ext cx="145278" cy="145278"/>
          </a:xfrm>
          <a:prstGeom prst="ellipse">
            <a:avLst/>
          </a:prstGeom>
          <a:solidFill>
            <a:srgbClr val="A7F3D0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704039" y="2945647"/>
            <a:ext cx="1286745" cy="1286745"/>
          </a:xfrm>
          <a:prstGeom prst="ellipse">
            <a:avLst/>
          </a:prstGeom>
          <a:solidFill>
            <a:srgbClr val="F9FAFB"/>
          </a:solidFill>
          <a:ln w="12700">
            <a:solidFill>
              <a:srgbClr val="F9FAFB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766300" y="3236203"/>
            <a:ext cx="1162221" cy="4980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84%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1683285" y="3755052"/>
            <a:ext cx="1328253" cy="373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Coverage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796589" y="2567178"/>
            <a:ext cx="137160" cy="13716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025189" y="241630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Validated 84%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796589" y="3006090"/>
            <a:ext cx="137160" cy="137160"/>
          </a:xfrm>
          <a:prstGeom prst="ellipse">
            <a:avLst/>
          </a:prstGeom>
          <a:solidFill>
            <a:srgbClr val="A7F3D0"/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025189" y="2855214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Remaining 16%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658990" y="3835908"/>
            <a:ext cx="4051962" cy="256032"/>
          </a:xfrm>
          <a:prstGeom prst="roundRect">
            <a:avLst>
              <a:gd name="adj" fmla="val 28571"/>
            </a:avLst>
          </a:prstGeom>
          <a:solidFill>
            <a:srgbClr val="D1FAE5">
              <a:alpha val="85000"/>
            </a:srgbClr>
          </a:solidFill>
          <a:ln w="12700">
            <a:solidFill>
              <a:srgbClr val="D1FAE5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658990" y="3835908"/>
            <a:ext cx="3687286" cy="256032"/>
          </a:xfrm>
          <a:prstGeom prst="roundRect">
            <a:avLst>
              <a:gd name="adj" fmla="val 28571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346276" y="3433572"/>
            <a:ext cx="0" cy="969264"/>
          </a:xfrm>
          <a:prstGeom prst="line">
            <a:avLst/>
          </a:prstGeom>
          <a:noFill/>
          <a:ln w="12700">
            <a:solidFill>
              <a:srgbClr val="11182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0199972" y="3817620"/>
            <a:ext cx="292608" cy="292608"/>
          </a:xfrm>
          <a:prstGeom prst="ellipse">
            <a:avLst/>
          </a:prstGeom>
          <a:solidFill>
            <a:srgbClr val="F9FAFB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658990" y="3744468"/>
            <a:ext cx="0" cy="438912"/>
          </a:xfrm>
          <a:prstGeom prst="line">
            <a:avLst/>
          </a:prstGeom>
          <a:noFill/>
          <a:ln w="12700">
            <a:solidFill>
              <a:srgbClr val="D1FAE5">
                <a:alpha val="95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0710952" y="3744468"/>
            <a:ext cx="0" cy="438912"/>
          </a:xfrm>
          <a:prstGeom prst="line">
            <a:avLst/>
          </a:prstGeom>
          <a:noFill/>
          <a:ln w="12700">
            <a:solidFill>
              <a:srgbClr val="D1FAE5">
                <a:alpha val="95000"/>
              </a:srgbClr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955618" y="2217420"/>
            <a:ext cx="14587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91%</a:t>
            </a:r>
            <a:endParaRPr lang="en-US" sz="3200" dirty="0"/>
          </a:p>
        </p:txBody>
      </p:sp>
      <p:sp>
        <p:nvSpPr>
          <p:cNvPr id="24" name="Text 21"/>
          <p:cNvSpPr txBox="1"/>
          <p:nvPr/>
        </p:nvSpPr>
        <p:spPr>
          <a:xfrm>
            <a:off x="6658990" y="4530852"/>
            <a:ext cx="40519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Score · Readiness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6658990" y="413766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10162312" y="413766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7415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343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1417320"/>
            <a:ext cx="10241280" cy="4343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1FAE5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Editable Proof Objects (Cont. 2/2)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1078992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80160" y="4347972"/>
            <a:ext cx="593815" cy="12801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261872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Parse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261872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0478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30%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3628705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829873" y="4347972"/>
            <a:ext cx="1227218" cy="128016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811585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Plan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811585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A7F3D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62%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6178418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79586" y="4347972"/>
            <a:ext cx="1702270" cy="12801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61298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Render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6361298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0478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86%</a:t>
            </a:r>
            <a:endParaRPr lang="en-US" sz="2800" dirty="0"/>
          </a:p>
        </p:txBody>
      </p:sp>
      <p:sp>
        <p:nvSpPr>
          <p:cNvPr id="18" name="Shape 15"/>
          <p:cNvSpPr/>
          <p:nvPr/>
        </p:nvSpPr>
        <p:spPr>
          <a:xfrm>
            <a:off x="8728131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929299" y="4347972"/>
            <a:ext cx="1860621" cy="12801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911011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Review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8911011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0478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94%</a:t>
            </a:r>
            <a:endParaRPr lang="en-US" sz="2800" dirty="0"/>
          </a:p>
        </p:txBody>
      </p:sp>
      <p:sp>
        <p:nvSpPr>
          <p:cNvPr id="22" name="Shape 19"/>
          <p:cNvSpPr/>
          <p:nvPr/>
        </p:nvSpPr>
        <p:spPr>
          <a:xfrm>
            <a:off x="3285375" y="3589020"/>
            <a:ext cx="399904" cy="0"/>
          </a:xfrm>
          <a:prstGeom prst="line">
            <a:avLst/>
          </a:prstGeom>
          <a:noFill/>
          <a:ln w="12700">
            <a:solidFill>
              <a:srgbClr val="047857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5835088" y="3589020"/>
            <a:ext cx="399904" cy="0"/>
          </a:xfrm>
          <a:prstGeom prst="line">
            <a:avLst/>
          </a:prstGeom>
          <a:noFill/>
          <a:ln w="12700">
            <a:solidFill>
              <a:srgbClr val="047857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8384801" y="3589020"/>
            <a:ext cx="399904" cy="0"/>
          </a:xfrm>
          <a:prstGeom prst="line">
            <a:avLst/>
          </a:prstGeom>
          <a:noFill/>
          <a:ln w="12700">
            <a:solidFill>
              <a:srgbClr val="047857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Shape Grammar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987552" y="1572768"/>
            <a:ext cx="10094976" cy="426110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478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Method flag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short high-level step.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478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Ticket panel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document-like evidence.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478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Two-corner panel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linear grouping.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Shape Grammar (Cont. 2/2)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478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Notched panel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technical constraint or code-like object.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478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Rounded panel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neutral fallback surface.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960" y="1463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1FAE5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309360" y="1463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1FAE5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822960" y="3749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1FAE5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309360" y="3749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1FAE5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5" name="Text 9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Icon and Text Aside</a:t>
            </a:r>
            <a:endParaRPr lang="en-US" sz="3400" dirty="0"/>
          </a:p>
        </p:txBody>
      </p:sp>
      <p:sp>
        <p:nvSpPr>
          <p:cNvPr id="16" name="Shape 10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9FAFB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17" name="Image 4" descr="articl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9274" y="2203704"/>
            <a:ext cx="438912" cy="43891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478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Icon role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quiet monochrome anchor.</a:t>
            </a:r>
            <a:endParaRPr lang="en-US" sz="2200" dirty="0"/>
          </a:p>
        </p:txBody>
      </p:sp>
      <p:sp>
        <p:nvSpPr>
          <p:cNvPr id="19" name="Shape 12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9FAFB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20" name="Image 5" descr="artic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35674" y="2203704"/>
            <a:ext cx="438912" cy="438912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478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Icon scale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secondary to title and body text.</a:t>
            </a:r>
            <a:endParaRPr lang="en-US" sz="2200" dirty="0"/>
          </a:p>
        </p:txBody>
      </p:sp>
      <p:sp>
        <p:nvSpPr>
          <p:cNvPr id="22" name="Shape 14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9FAFB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23" name="Image 6" descr="article icon from tabler-icons (MIT)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9274" y="4489704"/>
            <a:ext cx="438912" cy="438912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478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Placement rule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icon never fills empty space alone.</a:t>
            </a:r>
            <a:endParaRPr lang="en-US" sz="2200" dirty="0"/>
          </a:p>
        </p:txBody>
      </p:sp>
      <p:sp>
        <p:nvSpPr>
          <p:cNvPr id="25" name="Shape 16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9FAFB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26" name="Image 7" descr="table icon from tabler-icons (MIT)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35674" y="4489704"/>
            <a:ext cx="438912" cy="438912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478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Fit rule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icon and text share a stable center line.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960" y="1463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1FAE5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309360" y="1463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1FAE5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822960" y="3749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1FAE5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309360" y="3749040"/>
            <a:ext cx="5029200" cy="19202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1FAE5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5" name="Text 9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Overflow Guard</a:t>
            </a:r>
            <a:endParaRPr lang="en-US" sz="3400" dirty="0"/>
          </a:p>
        </p:txBody>
      </p:sp>
      <p:sp>
        <p:nvSpPr>
          <p:cNvPr id="16" name="Shape 10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9FAFB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17" name="Image 4" descr="verified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9274" y="2203704"/>
            <a:ext cx="438912" cy="43891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478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 fit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region bounds are validated before output.</a:t>
            </a:r>
            <a:endParaRPr lang="en-US" sz="2200" dirty="0"/>
          </a:p>
        </p:txBody>
      </p:sp>
      <p:sp>
        <p:nvSpPr>
          <p:cNvPr id="19" name="Shape 12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9FAFB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20" name="Image 5" descr="tab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35674" y="2203704"/>
            <a:ext cx="438912" cy="438912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478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cell text uses middle alignment and coherent margins.</a:t>
            </a:r>
            <a:endParaRPr lang="en-US" sz="2200" dirty="0"/>
          </a:p>
        </p:txBody>
      </p:sp>
      <p:sp>
        <p:nvSpPr>
          <p:cNvPr id="22" name="Shape 14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9FAFB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23" name="Image 6" descr="article icon from tabler-icons (MIT)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9274" y="4489704"/>
            <a:ext cx="438912" cy="438912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478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Continuation slides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dense content splits before unreadable shrink.</a:t>
            </a:r>
            <a:endParaRPr lang="en-US" sz="2200" dirty="0"/>
          </a:p>
        </p:txBody>
      </p:sp>
      <p:sp>
        <p:nvSpPr>
          <p:cNvPr id="25" name="Shape 16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9FAFB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26" name="Image 7" descr="article icon from tabler-icons (MIT)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35674" y="4489704"/>
            <a:ext cx="438912" cy="438912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478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Cleanup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decorative-only bullets and empty artifacts are removed.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A7F3D0">
              <a:alpha val="80000"/>
            </a:srgbClr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A7F3D0"/>
          </a:solidFill>
          <a:ln w="12700">
            <a:solidFill>
              <a:srgbClr val="A7F3D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1FAE5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1FAE5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1FAE5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3" name="Text 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Actions Output Review</a:t>
            </a:r>
            <a:endParaRPr lang="en-US" sz="3400" dirty="0"/>
          </a:p>
        </p:txBody>
      </p:sp>
      <p:sp>
        <p:nvSpPr>
          <p:cNvPr id="14" name="Shape 9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9FAFB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15" name="Image 3" descr="flow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699321" y="195754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478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Workflow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Theme Preview builds this source across decoration styles.</a:t>
            </a:r>
            <a:endParaRPr lang="en-US" sz="2200" dirty="0"/>
          </a:p>
        </p:txBody>
      </p:sp>
      <p:sp>
        <p:nvSpPr>
          <p:cNvPr id="17" name="Shape 11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9FAFB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18" name="Image 4" descr="verified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699321" y="328342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478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Gallery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Pages shows each styled deck and object-check slide.</a:t>
            </a:r>
            <a:endParaRPr lang="en-US" sz="2200" dirty="0"/>
          </a:p>
        </p:txBody>
      </p:sp>
      <p:sp>
        <p:nvSpPr>
          <p:cNvPr id="20" name="Shape 13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9FAFB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21" name="Image 5" descr="spark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699321" y="4600164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4785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Ownership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MDPR owns rendering; mdpr-skill may prepare hints.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11827"/>
      </a:dk1>
      <a:lt1>
        <a:srgbClr val="F9FAFB"/>
      </a:lt1>
      <a:dk2>
        <a:srgbClr val="374151"/>
      </a:dk2>
      <a:lt2>
        <a:srgbClr val="FFFFFF"/>
      </a:lt2>
      <a:accent1>
        <a:srgbClr val="047857"/>
      </a:accent1>
      <a:accent2>
        <a:srgbClr val="A7F3D0"/>
      </a:accent2>
      <a:accent3>
        <a:srgbClr val="047857"/>
      </a:accent3>
      <a:accent4>
        <a:srgbClr val="374151"/>
      </a:accent4>
      <a:accent5>
        <a:srgbClr val="D1FAE5"/>
      </a:accent5>
      <a:accent6>
        <a:srgbClr val="111827"/>
      </a:accent6>
      <a:hlink>
        <a:srgbClr val="047857"/>
      </a:hlink>
      <a:folHlink>
        <a:srgbClr val="A7F3D0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mdpresent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MDPR Composition Grammar QA</dc:title>
  <dc:subject>Generated from Markdown through Presentation IR and Layout IR</dc:subject>
  <dc:creator>mdpresent</dc:creator>
  <cp:lastModifiedBy>mdpresent</cp:lastModifiedBy>
  <cp:revision>1</cp:revision>
  <dcterms:created xsi:type="dcterms:W3CDTF">2026-06-20T14:35:18Z</dcterms:created>
  <dcterms:modified xsi:type="dcterms:W3CDTF">2026-06-20T14:35:18Z</dcterms:modified>
</cp:coreProperties>
</file>