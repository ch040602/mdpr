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C7D2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AEB7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E8E8E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E8E8E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</c:v>
                  </c:pt>
                  <c:pt idx="1">
                    <c:v>Plan</c:v>
                  </c:pt>
                  <c:pt idx="2">
                    <c:v>Render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86</c:v>
                </c:pt>
                <c:pt idx="2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AEB7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E8E8E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2.xml"/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8" Type="http://schemas.openxmlformats.org/officeDocument/2006/relationships/image" Target="../media/image-24-7.png"/><Relationship Id="rId9" Type="http://schemas.openxmlformats.org/officeDocument/2006/relationships/image" Target="../media/image-24-8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7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mdpr:mdpr-design-grammar-b3a462:title:__title:mdpr-design-grammar-b3a46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Design Grammar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AEB7C4">
              <a:alpha val="9000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9" name="mdpr:1-2-0772f8:title:__title:1-2-0772f8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30" name="mdpr:1-2-0772f8:toc-item-1:toc-item-1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Teaser Summary</a:t>
            </a:r>
            <a:endParaRPr lang="en-US" sz="1800" dirty="0"/>
          </a:p>
        </p:txBody>
      </p:sp>
      <p:sp>
        <p:nvSpPr>
          <p:cNvPr id="31" name="mdpr:1-2-0772f8:toc-item-2:toc-item-2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32" name="mdpr:1-2-0772f8:toc-item-3:toc-item-3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Pruned Style Families</a:t>
            </a:r>
            <a:endParaRPr lang="en-US" sz="1800" dirty="0"/>
          </a:p>
        </p:txBody>
      </p:sp>
      <p:sp>
        <p:nvSpPr>
          <p:cNvPr id="33" name="mdpr:1-2-0772f8:toc-item-4:toc-item-4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34" name="mdpr:1-2-0772f8:toc-item-5:toc-item-5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35" name="mdpr:1-2-0772f8:toc-item-6:toc-item-6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Pattern Catalog</a:t>
            </a:r>
            <a:endParaRPr lang="en-US" sz="1800" dirty="0"/>
          </a:p>
        </p:txBody>
      </p:sp>
      <p:sp>
        <p:nvSpPr>
          <p:cNvPr id="36" name="mdpr:1-2-0772f8:toc-item-7:toc-item-7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Table Coherence</a:t>
            </a:r>
            <a:endParaRPr lang="en-US" sz="1800" dirty="0"/>
          </a:p>
        </p:txBody>
      </p:sp>
      <p:sp>
        <p:nvSpPr>
          <p:cNvPr id="37" name="mdpr:1-2-0772f8:toc-item-8:toc-item-8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Chart and Table Pair</a:t>
            </a:r>
            <a:endParaRPr lang="en-US" sz="1800" dirty="0"/>
          </a:p>
        </p:txBody>
      </p:sp>
      <p:sp>
        <p:nvSpPr>
          <p:cNvPr id="38" name="mdpr:1-2-0772f8:toc-item-9:toc-item-9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Editable Proof Objects</a:t>
            </a:r>
            <a:endParaRPr lang="en-US" sz="1800" dirty="0"/>
          </a:p>
        </p:txBody>
      </p:sp>
      <p:sp>
        <p:nvSpPr>
          <p:cNvPr id="39" name="mdpr:1-2-0772f8:toc-item-10:toc-item-10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Object Shape Grammar</a:t>
            </a:r>
            <a:endParaRPr lang="en-US" sz="1800" dirty="0"/>
          </a:p>
        </p:txBody>
      </p:sp>
      <p:sp>
        <p:nvSpPr>
          <p:cNvPr id="40" name="mdpr:1-2-0772f8:toc-item-11:toc-item-11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Icon and Text Aside</a:t>
            </a:r>
            <a:endParaRPr lang="en-US" sz="1800" dirty="0"/>
          </a:p>
        </p:txBody>
      </p:sp>
      <p:sp>
        <p:nvSpPr>
          <p:cNvPr id="41" name="mdpr:1-2-0772f8:toc-item-12:toc-item-12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Overflow Guard</a:t>
            </a:r>
            <a:endParaRPr lang="en-US" sz="1800" dirty="0"/>
          </a:p>
        </p:txBody>
      </p:sp>
      <p:sp>
        <p:nvSpPr>
          <p:cNvPr id="42" name="mdpr:1-2-0772f8:toc-item-13:toc-item-13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Image Safe Frame</a:t>
            </a:r>
            <a:endParaRPr lang="en-US" sz="1800" dirty="0"/>
          </a:p>
        </p:txBody>
      </p:sp>
      <p:sp>
        <p:nvSpPr>
          <p:cNvPr id="43" name="mdpr:1-2-0772f8:toc-item-14:toc-item-14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Mixed Object Packing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099816"/>
            <a:ext cx="10515600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288536"/>
            <a:ext cx="2011680" cy="4572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5" name="mdpr:2-2-7bfb60:title:__title:2-2-7bfb60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(Cont. 2/2)</a:t>
            </a:r>
            <a:endParaRPr lang="en-US" sz="3800" dirty="0"/>
          </a:p>
        </p:txBody>
      </p:sp>
      <p:sp>
        <p:nvSpPr>
          <p:cNvPr id="16" name="mdpr:2-2-7bfb60:toc-item-1:toc-item-15"/>
          <p:cNvSpPr txBox="1"/>
          <p:nvPr/>
        </p:nvSpPr>
        <p:spPr>
          <a:xfrm>
            <a:off x="1042416" y="3392424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Actions Output Review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6" name="mdpr:teaser-summary-7731dc:title:__title:teaser-summary-7731d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Summary</a:t>
            </a:r>
            <a:endParaRPr lang="en-US" sz="3400" dirty="0"/>
          </a:p>
        </p:txBody>
      </p:sp>
      <p:sp>
        <p:nvSpPr>
          <p:cNvPr id="17" name="mdpr:teaser-summary-7731dc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slides should show design range without sacrificing coherence.</a:t>
            </a:r>
            <a:endParaRPr lang="en-US" sz="2200" dirty="0"/>
          </a:p>
        </p:txBody>
      </p:sp>
      <p:sp>
        <p:nvSpPr>
          <p:cNvPr id="18" name="mdpr:teaser-summary-7731dc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Preview styles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9 distinct decoration grammars, not palette-only swaps.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Pattern range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36+ decoration and layout patterns selected by content role.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Object support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native tables, charts, proof objects, diagrams, images, and icon slots.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Validation contract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 text, bounded objects, aligned connectors, and editable PPTX output.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C7D2FE">
              <a:alpha val="80000"/>
            </a:srgbClr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2" name="mdpr:1-2-32ac08:title:__title:1-2-32ac0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23" name="mdpr:1-2-32ac08:item-1:block-6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24" name="mdpr:1-2-32ac08:item-2:block-6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25" name="mdpr:1-2-32ac08:item-3:block-6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mdpr:2-2-14f8eb:title:__title:2-2-14f8e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15" name="mdpr:2-2-14f8eb:left:block-6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16" name="mdpr:2-2-14f8eb:right:block-6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C7D2FE">
              <a:alpha val="80000"/>
            </a:srgbClr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2" name="mdpr:1-2-dfa474:title:__title:1-2-dfa47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</a:t>
            </a:r>
            <a:endParaRPr lang="en-US" sz="3400" dirty="0"/>
          </a:p>
        </p:txBody>
      </p:sp>
      <p:sp>
        <p:nvSpPr>
          <p:cNvPr id="23" name="mdpr:1-2-dfa474:item-1:block-8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Skeuomorphism / claymorphism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tactile depth, bevels, or puffy surfaces.</a:t>
            </a:r>
            <a:endParaRPr lang="en-US" sz="2200" dirty="0"/>
          </a:p>
        </p:txBody>
      </p:sp>
      <p:sp>
        <p:nvSpPr>
          <p:cNvPr id="24" name="mdpr:1-2-dfa474:item-2:block-8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Neomorphism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soft raised surfaces.</a:t>
            </a:r>
            <a:endParaRPr lang="en-US" sz="2200" dirty="0"/>
          </a:p>
        </p:txBody>
      </p:sp>
      <p:sp>
        <p:nvSpPr>
          <p:cNvPr id="25" name="mdpr:1-2-dfa474:item-3:block-8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Glassmorphism / liquid-glass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translucent panels and refractive highlights.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mdpr:2-2-149bde:title:__title:2-2-149bd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 (Cont. 2/2)</a:t>
            </a:r>
            <a:endParaRPr lang="en-US" sz="3400" dirty="0"/>
          </a:p>
        </p:txBody>
      </p:sp>
      <p:sp>
        <p:nvSpPr>
          <p:cNvPr id="15" name="mdpr:2-2-149bde:left:block-8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brutalism / bentogrid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rules, hard contrast, or tiled information rhythm.</a:t>
            </a:r>
            <a:endParaRPr lang="en-US" sz="2200" dirty="0"/>
          </a:p>
        </p:txBody>
      </p:sp>
      <p:sp>
        <p:nvSpPr>
          <p:cNvPr id="16" name="mdpr:2-2-149bde:right:block-8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Pruning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preview excludes styles that only change palette or background.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mdpr:1-2-5a84f1:title:__title:1-2-5a84f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15" name="mdpr:1-2-5a84f1:left:block-10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16" name="mdpr:1-2-5a84f1:right:block-10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mdpr:2-2-a9df10:title:__title:2-2-a9df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 (Cont. 2/2)</a:t>
            </a:r>
            <a:endParaRPr lang="en-US" sz="3400" dirty="0"/>
          </a:p>
        </p:txBody>
      </p:sp>
      <p:sp>
        <p:nvSpPr>
          <p:cNvPr id="15" name="mdpr:2-2-a9df10:left:block-10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16" name="mdpr:2-2-a9df10:right:block-1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2" name="mdpr:pipeline-diagram-51792c:title:__title:pipeline-diagram-51792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18" name="Shape 16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DFDFE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DFDFE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DFDFE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DFDFE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DFDFE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DFDFE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389888"/>
            <a:ext cx="49377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389888"/>
            <a:ext cx="49377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mdpr:1-2-e3669a:title:__title:1-2-e3669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</a:t>
            </a:r>
            <a:endParaRPr lang="en-US" sz="3400" dirty="0"/>
          </a:p>
        </p:txBody>
      </p:sp>
      <p:sp>
        <p:nvSpPr>
          <p:cNvPr id="15" name="mdpr:1-2-e3669a:left:block-15-chunk-1-block-15-chunk-1"/>
          <p:cNvSpPr txBox="1"/>
          <p:nvPr/>
        </p:nvSpPr>
        <p:spPr>
          <a:xfrm>
            <a:off x="896112" y="1499616"/>
            <a:ext cx="4791456" cy="43982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Surfaces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rounded-card, two-corner-card, flag-drop, ticket-panel, notched-panel, circle-vine.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Layouts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toc-strips, two-column-compare, three-card-grid, six-tile-grid, timeline-rail, pipeline-chain.</a:t>
            </a:r>
            <a:endParaRPr lang="en-US" sz="1800" dirty="0"/>
          </a:p>
        </p:txBody>
      </p:sp>
      <p:sp>
        <p:nvSpPr>
          <p:cNvPr id="16" name="mdpr:1-2-e3669a:right:block-15-chunk-1-block-15-chunk-1"/>
          <p:cNvSpPr txBox="1"/>
          <p:nvPr/>
        </p:nvSpPr>
        <p:spPr>
          <a:xfrm>
            <a:off x="6473952" y="1499616"/>
            <a:ext cx="4791456" cy="43982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Evidence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chart-table-pair, metric-proof, arc-ring-proof, gauge-proof, connected-strip, mixed-object-pack.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Connectors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straight-arrow, elbow-arrow, boundary-attach, overlap-joint, parallel-flow, contrast-flow.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mdpr:2-2-c23e9b:title:__title:2-2-c23e9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 (Cont. 2/2)</a:t>
            </a:r>
            <a:endParaRPr lang="en-US" sz="3400" dirty="0"/>
          </a:p>
        </p:txBody>
      </p:sp>
      <p:sp>
        <p:nvSpPr>
          <p:cNvPr id="15" name="mdpr:2-2-c23e9b:left:block-15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Icons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number-badge, mono-icon-slot, letter-disc, quiet-aside, image-safe-frame, brand-glyph.</a:t>
            </a:r>
            <a:endParaRPr lang="en-US" sz="2200" dirty="0"/>
          </a:p>
        </p:txBody>
      </p:sp>
      <p:sp>
        <p:nvSpPr>
          <p:cNvPr id="16" name="mdpr:2-2-c23e9b:right:block-15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Page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skeuomorphic-bevel, glassmorphism-surface, newmorphic-panel, clay-blob, bento-tile, liquid-lens.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mdpr:table-coherence-2f9a7b:title:__title:table-coherence-2f9a7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5" name="mdpr:table-coherence-2f9a7b:table:block-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5" name="mdpr:1-2-2ff3f0:title:__title:1-2-2ff3f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16" name="mdpr:1-2-2ff3f0:body:block-19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mdpr:2-2-542095:title:__title:2-2-54209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7" name="mdpr:2-2-542095:table:block-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mdpr:1-2-b8955f:title:__title:1-2-b8955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15" name="Shape 12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AEB7C4">
              <a:alpha val="8200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C7D2FE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E8E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E8E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AEB7C4">
              <a:alpha val="8500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F4F6F8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AEB7C4">
                <a:alpha val="9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AEB7C4">
                <a:alpha val="9500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33" name="Text 30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8E8E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E8E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E8E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mdpr:2-2-4dc4c1:title:__title:2-2-4dc4c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15" name="Shape 12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DFDFE"/>
          </a:solidFill>
          <a:ln w="12700">
            <a:solidFill>
              <a:srgbClr val="AEB7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DFDFE"/>
          </a:solidFill>
          <a:ln w="12700">
            <a:solidFill>
              <a:srgbClr val="AEB7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7D2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DFDFE"/>
          </a:solidFill>
          <a:ln w="12700">
            <a:solidFill>
              <a:srgbClr val="AEB7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27" name="Shape 24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DFDFE"/>
          </a:solidFill>
          <a:ln w="12700">
            <a:solidFill>
              <a:srgbClr val="AEB7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31" name="Shape 28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C7D2FE">
              <a:alpha val="80000"/>
            </a:srgbClr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2" name="mdpr:1-2-ea42c8:title:__title:1-2-ea42c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23" name="mdpr:1-2-ea42c8:item-1:block-27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</p:txBody>
      </p:sp>
      <p:sp>
        <p:nvSpPr>
          <p:cNvPr id="24" name="mdpr:1-2-ea42c8:item-2:block-27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Ticket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</p:txBody>
      </p:sp>
      <p:sp>
        <p:nvSpPr>
          <p:cNvPr id="25" name="mdpr:1-2-ea42c8:item-3:block-27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Two-corner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mdpr:2-2-4f71ba:title:__title:2-2-4f71b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15" name="mdpr:2-2-4f71ba:left:block-2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16" name="mdpr:2-2-4f71ba:right:block-2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4" name="mdpr:icon-and-text-aside-8429fc:title:__title:icon-and-text-aside-8429f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25" name="mdpr:icon-and-text-aside-8429fc:item-1:block-29"/>
          <p:cNvSpPr txBox="1"/>
          <p:nvPr/>
        </p:nvSpPr>
        <p:spPr>
          <a:xfrm>
            <a:off x="10424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26" name="mdpr:icon-and-text-aside-8429fc:item-2:block-29"/>
          <p:cNvSpPr txBox="1"/>
          <p:nvPr/>
        </p:nvSpPr>
        <p:spPr>
          <a:xfrm>
            <a:off x="65288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27" name="mdpr:icon-and-text-aside-8429fc:item-3:block-29"/>
          <p:cNvSpPr txBox="1"/>
          <p:nvPr/>
        </p:nvSpPr>
        <p:spPr>
          <a:xfrm>
            <a:off x="10424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28" name="mdpr:icon-and-text-aside-8429fc:item-4:block-29"/>
          <p:cNvSpPr txBox="1"/>
          <p:nvPr/>
        </p:nvSpPr>
        <p:spPr>
          <a:xfrm>
            <a:off x="65288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4" name="mdpr:overflow-guard-f8d03e:title:__title:overflow-guard-f8d03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25" name="mdpr:overflow-guard-f8d03e:item-1:block-31"/>
          <p:cNvSpPr txBox="1"/>
          <p:nvPr/>
        </p:nvSpPr>
        <p:spPr>
          <a:xfrm>
            <a:off x="10424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26" name="mdpr:overflow-guard-f8d03e:item-2:block-31"/>
          <p:cNvSpPr txBox="1"/>
          <p:nvPr/>
        </p:nvSpPr>
        <p:spPr>
          <a:xfrm>
            <a:off x="65288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27" name="mdpr:overflow-guard-f8d03e:item-3:block-31"/>
          <p:cNvSpPr txBox="1"/>
          <p:nvPr/>
        </p:nvSpPr>
        <p:spPr>
          <a:xfrm>
            <a:off x="10424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28" name="mdpr:overflow-guard-f8d03e:item-4:block-31"/>
          <p:cNvSpPr txBox="1"/>
          <p:nvPr/>
        </p:nvSpPr>
        <p:spPr>
          <a:xfrm>
            <a:off x="65288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2280" y="1463040"/>
            <a:ext cx="4434840" cy="45262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812280" y="1463040"/>
            <a:ext cx="4434840" cy="452628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1463040"/>
            <a:ext cx="562356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5" name="mdpr:image-safe-frame-d4d6a4:title:__title:image-safe-frame-d4d6a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Safe Frame</a:t>
            </a:r>
            <a:endParaRPr lang="en-US" sz="3400" dirty="0"/>
          </a:p>
        </p:txBody>
      </p:sp>
      <p:sp>
        <p:nvSpPr>
          <p:cNvPr id="16" name="mdpr:image-safe-frame-d4d6a4:body:block-33-block-33-block-33"/>
          <p:cNvSpPr txBox="1"/>
          <p:nvPr/>
        </p:nvSpPr>
        <p:spPr>
          <a:xfrm>
            <a:off x="896112" y="1572768"/>
            <a:ext cx="5477256" cy="43068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picture content uses an internal safe frame.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background decoration stays outside the picture bounds.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child images never exceed their owning image region.</a:t>
            </a:r>
            <a:endParaRPr lang="en-US" sz="2200" dirty="0"/>
          </a:p>
        </p:txBody>
      </p:sp>
      <p:pic>
        <p:nvPicPr>
          <p:cNvPr id="17" name="mdpr:image-safe-frame-d4d6a4:image-1:block-34" descr="{&quot;mdpr&quot;:{&quot;slideId&quot;:&quot;image-safe-frame-d4d6a4&quot;,&quot;layoutSlideId&quot;:&quot;layout-image-safe-frame-d4d6a4&quot;,&quot;regionId&quot;:&quot;image-1&quot;,&quot;blockIds&quot;:[&quot;block-34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0296" y="1591056"/>
            <a:ext cx="4178808" cy="42702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444752"/>
            <a:ext cx="4617720" cy="235915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49808" y="1444752"/>
            <a:ext cx="4617720" cy="2359152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7840" y="1481328"/>
            <a:ext cx="5532120" cy="221284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577840" y="1481328"/>
            <a:ext cx="5532120" cy="2212848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840" y="3913632"/>
            <a:ext cx="5532120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577840" y="3913632"/>
            <a:ext cx="5532120" cy="2011680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1248" y="4041648"/>
            <a:ext cx="457200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9" name="mdpr:mixed-object-packing-438299:title:__title:mixed-object-packing-43829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Mixed Object Packing</a:t>
            </a:r>
            <a:endParaRPr lang="en-US" sz="3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77824" y="1591056"/>
          <a:ext cx="4361688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5" name="mdpr:mixed-object-packing-438299:table:block-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81328"/>
          <a:ext cx="5532120" cy="2212848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</a:tblGrid>
              <a:tr h="737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trend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2" name="mdpr:mixed-object-packing-438299:body:block-36"/>
          <p:cNvSpPr txBox="1"/>
          <p:nvPr/>
        </p:nvSpPr>
        <p:spPr>
          <a:xfrm>
            <a:off x="914400" y="4151376"/>
            <a:ext cx="4425696" cy="149961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Reading order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remain the primary evidence.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visual evidence stays bounded in a separate safe frame.</a:t>
            </a:r>
            <a:endParaRPr lang="en-US" sz="1800" dirty="0"/>
          </a:p>
        </p:txBody>
      </p:sp>
      <p:pic>
        <p:nvPicPr>
          <p:cNvPr id="23" name="mdpr:mixed-object-packing-438299:image-1:block-39" descr="{&quot;mdpr&quot;:{&quot;slideId&quot;:&quot;mixed-object-packing-438299&quot;,&quot;layoutSlideId&quot;:&quot;layout-mixed-object-packing-438299&quot;,&quot;regionId&quot;:&quot;image-1&quot;,&quot;blockIds&quot;:[&quot;block-39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8249" y="3984041"/>
            <a:ext cx="5391302" cy="18708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1277295" cy="6053328"/>
          </a:xfrm>
          <a:prstGeom prst="roundRect">
            <a:avLst>
              <a:gd name="adj" fmla="val 2115"/>
            </a:avLst>
          </a:prstGeom>
          <a:solidFill>
            <a:srgbClr val="E6EAF0"/>
          </a:solidFill>
          <a:ln w="12700">
            <a:solidFill>
              <a:srgbClr val="8793A3">
                <a:alpha val="8400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475569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457200"/>
            <a:ext cx="11130991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EB7C4">
                <a:alpha val="92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64748B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621792"/>
            <a:ext cx="1087495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0"/>
            <a:ext cx="10874959" cy="0"/>
          </a:xfrm>
          <a:prstGeom prst="line">
            <a:avLst/>
          </a:prstGeom>
          <a:noFill/>
          <a:ln w="12700">
            <a:solidFill>
              <a:srgbClr val="94A3B8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0639" y="51206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D7DDE6">
              <a:alpha val="9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59007" y="658368"/>
            <a:ext cx="146304" cy="146304"/>
          </a:xfrm>
          <a:prstGeom prst="ellipse">
            <a:avLst/>
          </a:prstGeom>
          <a:solidFill>
            <a:srgbClr val="CBD5E1">
              <a:alpha val="92000"/>
            </a:srgbClr>
          </a:solidFill>
          <a:ln w="12700">
            <a:solidFill>
              <a:srgbClr val="64748B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DFDFE">
              <a:alpha val="0"/>
            </a:srgbClr>
          </a:solidFill>
          <a:ln w="12700">
            <a:solidFill>
              <a:srgbClr val="AEB7C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C7D2FE">
              <a:alpha val="80000"/>
            </a:srgbClr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2" name="mdpr:actions-output-review-326e07:title:__title:actions-output-review-326e0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23" name="mdpr:actions-output-review-326e07:item-1:block-4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24" name="mdpr:actions-output-review-326e07:item-2:block-4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25" name="mdpr:actions-output-review-326e07:item-3:block-4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111"/>
      </a:dk1>
      <a:lt1>
        <a:srgbClr val="F4F6F8"/>
      </a:lt1>
      <a:dk2>
        <a:srgbClr val="8E8E8E"/>
      </a:dk2>
      <a:lt2>
        <a:srgbClr val="FDFDFE"/>
      </a:lt2>
      <a:accent1>
        <a:srgbClr val="6B7280"/>
      </a:accent1>
      <a:accent2>
        <a:srgbClr val="C7D2FE"/>
      </a:accent2>
      <a:accent3>
        <a:srgbClr val="6B7280"/>
      </a:accent3>
      <a:accent4>
        <a:srgbClr val="8E8E8E"/>
      </a:accent4>
      <a:accent5>
        <a:srgbClr val="AEB7C4"/>
      </a:accent5>
      <a:accent6>
        <a:srgbClr val="111111"/>
      </a:accent6>
      <a:hlink>
        <a:srgbClr val="6B7280"/>
      </a:hlink>
      <a:folHlink>
        <a:srgbClr val="C7D2FE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Design Grammar</dc:title>
  <dc:subject>Generated from Markdown through Presentation IR and Layout IR</dc:subject>
  <dc:creator>mdpresent</dc:creator>
  <cp:lastModifiedBy>mdpresent</cp:lastModifiedBy>
  <cp:revision>1</cp:revision>
  <dcterms:created xsi:type="dcterms:W3CDTF">2026-07-10T06:43:38Z</dcterms:created>
  <dcterms:modified xsi:type="dcterms:W3CDTF">2026-07-10T06:43:38Z</dcterms:modified>
</cp:coreProperties>
</file>