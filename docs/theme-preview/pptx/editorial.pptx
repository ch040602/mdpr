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3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4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</c:v>
                </c:pt>
              </c:strCache>
            </c:strRef>
          </c:tx>
          <c:spPr>
            <a:solidFill>
              <a:srgbClr val="B4530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Parser</c:v>
                  </c:pt>
                  <c:pt idx="1">
                    <c:v>Layout</c:v>
                  </c:pt>
                  <c:pt idx="2">
                    <c:v>PPTX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92</c:v>
                </c:pt>
                <c:pt idx="1">
                  <c:v>88</c:v>
                </c:pt>
                <c:pt idx="2">
                  <c:v>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Defects</c:v>
                </c:pt>
              </c:strCache>
            </c:strRef>
          </c:tx>
          <c:spPr>
            <a:solidFill>
              <a:srgbClr val="FCD3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Parser</c:v>
                  </c:pt>
                  <c:pt idx="1">
                    <c:v>Layout</c:v>
                  </c:pt>
                  <c:pt idx="2">
                    <c:v>PPTX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</c:v>
                </c:pt>
                <c:pt idx="1">
                  <c:v>5</c:v>
                </c:pt>
                <c:pt idx="2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7D8C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7534E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7534E"/>
              </a:solidFill>
              <a:latin typeface="Pretendard"/>
              <a:cs typeface="Pretendard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B4530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Parse</c:v>
                  </c:pt>
                  <c:pt idx="1">
                    <c:v>Plan</c:v>
                  </c:pt>
                  <c:pt idx="2">
                    <c:v>Render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78</c:v>
                </c:pt>
                <c:pt idx="1">
                  <c:v>86</c:v>
                </c:pt>
                <c:pt idx="2">
                  <c:v>93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7D8C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7534E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image" Target="../media/image-9-13.png"/><Relationship Id="rId14" Type="http://schemas.openxmlformats.org/officeDocument/2006/relationships/image" Target="../media/image-9-14.svg"/><Relationship Id="rId15" Type="http://schemas.openxmlformats.org/officeDocument/2006/relationships/image" Target="../media/image-9-15.png"/><Relationship Id="rId16" Type="http://schemas.openxmlformats.org/officeDocument/2006/relationships/image" Target="../media/image-9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3.xml"/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image" Target="../media/image-20-3.png"/><Relationship Id="rId4" Type="http://schemas.openxmlformats.org/officeDocument/2006/relationships/image" Target="../media/image-20-4.svg"/><Relationship Id="rId5" Type="http://schemas.openxmlformats.org/officeDocument/2006/relationships/image" Target="../media/image-20-5.png"/><Relationship Id="rId6" Type="http://schemas.openxmlformats.org/officeDocument/2006/relationships/image" Target="../media/image-20-6.svg"/><Relationship Id="rId7" Type="http://schemas.openxmlformats.org/officeDocument/2006/relationships/image" Target="../media/image-20-7.png"/><Relationship Id="rId8" Type="http://schemas.openxmlformats.org/officeDocument/2006/relationships/image" Target="../media/image-20-8.svg"/><Relationship Id="rId9" Type="http://schemas.openxmlformats.org/officeDocument/2006/relationships/image" Target="../media/image-20-9.png"/><Relationship Id="rId10" Type="http://schemas.openxmlformats.org/officeDocument/2006/relationships/image" Target="../media/image-20-10.svg"/><Relationship Id="rId11" Type="http://schemas.openxmlformats.org/officeDocument/2006/relationships/image" Target="../media/image-20-11.png"/><Relationship Id="rId12" Type="http://schemas.openxmlformats.org/officeDocument/2006/relationships/image" Target="../media/image-20-12.svg"/><Relationship Id="rId13" Type="http://schemas.openxmlformats.org/officeDocument/2006/relationships/image" Target="../media/image-20-13.png"/><Relationship Id="rId14" Type="http://schemas.openxmlformats.org/officeDocument/2006/relationships/image" Target="../media/image-20-14.svg"/><Relationship Id="rId15" Type="http://schemas.openxmlformats.org/officeDocument/2006/relationships/image" Target="../media/image-20-15.png"/><Relationship Id="rId16" Type="http://schemas.openxmlformats.org/officeDocument/2006/relationships/image" Target="../media/image-20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svg"/><Relationship Id="rId3" Type="http://schemas.openxmlformats.org/officeDocument/2006/relationships/image" Target="../media/image-21-3.png"/><Relationship Id="rId4" Type="http://schemas.openxmlformats.org/officeDocument/2006/relationships/image" Target="../media/image-21-4.svg"/><Relationship Id="rId5" Type="http://schemas.openxmlformats.org/officeDocument/2006/relationships/image" Target="../media/image-21-5.png"/><Relationship Id="rId6" Type="http://schemas.openxmlformats.org/officeDocument/2006/relationships/image" Target="../media/image-21-6.svg"/><Relationship Id="rId7" Type="http://schemas.openxmlformats.org/officeDocument/2006/relationships/image" Target="../media/image-21-7.png"/><Relationship Id="rId8" Type="http://schemas.openxmlformats.org/officeDocument/2006/relationships/image" Target="../media/image-21-8.svg"/><Relationship Id="rId9" Type="http://schemas.openxmlformats.org/officeDocument/2006/relationships/image" Target="../media/image-21-9.png"/><Relationship Id="rId10" Type="http://schemas.openxmlformats.org/officeDocument/2006/relationships/image" Target="../media/image-21-10.svg"/><Relationship Id="rId11" Type="http://schemas.openxmlformats.org/officeDocument/2006/relationships/image" Target="../media/image-21-11.png"/><Relationship Id="rId12" Type="http://schemas.openxmlformats.org/officeDocument/2006/relationships/image" Target="../media/image-21-12.svg"/><Relationship Id="rId13" Type="http://schemas.openxmlformats.org/officeDocument/2006/relationships/image" Target="../media/image-21-13.png"/><Relationship Id="rId14" Type="http://schemas.openxmlformats.org/officeDocument/2006/relationships/image" Target="../media/image-21-14.svg"/><Relationship Id="rId15" Type="http://schemas.openxmlformats.org/officeDocument/2006/relationships/image" Target="../media/image-21-15.png"/><Relationship Id="rId16" Type="http://schemas.openxmlformats.org/officeDocument/2006/relationships/image" Target="../media/image-21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svg"/><Relationship Id="rId3" Type="http://schemas.openxmlformats.org/officeDocument/2006/relationships/image" Target="../media/image-22-3.png"/><Relationship Id="rId4" Type="http://schemas.openxmlformats.org/officeDocument/2006/relationships/image" Target="../media/image-22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chart" Target="/ppt/charts/chart4.xml"/><Relationship Id="rId1" Type="http://schemas.openxmlformats.org/officeDocument/2006/relationships/image" Target="../media/image-23-1.png"/><Relationship Id="rId2" Type="http://schemas.openxmlformats.org/officeDocument/2006/relationships/image" Target="../media/image-23-2.svg"/><Relationship Id="rId3" Type="http://schemas.openxmlformats.org/officeDocument/2006/relationships/image" Target="../media/image-23-3.png"/><Relationship Id="rId4" Type="http://schemas.openxmlformats.org/officeDocument/2006/relationships/image" Target="../media/image-23-4.svg"/><Relationship Id="rId5" Type="http://schemas.openxmlformats.org/officeDocument/2006/relationships/image" Target="../media/image-23-5.png"/><Relationship Id="rId6" Type="http://schemas.openxmlformats.org/officeDocument/2006/relationships/image" Target="../media/image-23-6.svg"/><Relationship Id="rId8" Type="http://schemas.openxmlformats.org/officeDocument/2006/relationships/image" Target="../media/image-23-7.png"/><Relationship Id="rId9" Type="http://schemas.openxmlformats.org/officeDocument/2006/relationships/image" Target="../media/image-23-8.sv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svg"/><Relationship Id="rId3" Type="http://schemas.openxmlformats.org/officeDocument/2006/relationships/image" Target="../media/image-24-3.png"/><Relationship Id="rId4" Type="http://schemas.openxmlformats.org/officeDocument/2006/relationships/image" Target="../media/image-24-4.svg"/><Relationship Id="rId5" Type="http://schemas.openxmlformats.org/officeDocument/2006/relationships/image" Target="../media/image-24-5.png"/><Relationship Id="rId6" Type="http://schemas.openxmlformats.org/officeDocument/2006/relationships/image" Target="../media/image-24-6.svg"/><Relationship Id="rId7" Type="http://schemas.openxmlformats.org/officeDocument/2006/relationships/image" Target="../media/image-24-7.png"/><Relationship Id="rId8" Type="http://schemas.openxmlformats.org/officeDocument/2006/relationships/image" Target="../media/image-24-8.svg"/><Relationship Id="rId9" Type="http://schemas.openxmlformats.org/officeDocument/2006/relationships/image" Target="../media/image-24-9.png"/><Relationship Id="rId10" Type="http://schemas.openxmlformats.org/officeDocument/2006/relationships/image" Target="../media/image-24-10.svg"/><Relationship Id="rId11" Type="http://schemas.openxmlformats.org/officeDocument/2006/relationships/image" Target="../media/image-24-11.png"/><Relationship Id="rId12" Type="http://schemas.openxmlformats.org/officeDocument/2006/relationships/image" Target="../media/image-24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453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806440"/>
            <a:ext cx="12191695" cy="1051560"/>
          </a:xfrm>
          <a:prstGeom prst="rect">
            <a:avLst/>
          </a:prstGeom>
          <a:solidFill>
            <a:srgbClr val="FCD34D">
              <a:alpha val="92000"/>
            </a:srgbClr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5559552"/>
            <a:ext cx="3749040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05740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Design Grammar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188720"/>
            <a:ext cx="10515600" cy="457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6382512"/>
            <a:ext cx="2011680" cy="4572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80760" y="1389888"/>
            <a:ext cx="22860" cy="4846320"/>
          </a:xfrm>
          <a:prstGeom prst="rect">
            <a:avLst/>
          </a:prstGeom>
          <a:solidFill>
            <a:srgbClr val="E7D8C9">
              <a:alpha val="90000"/>
            </a:srgbClr>
          </a:solidFill>
          <a:ln w="12700">
            <a:solidFill>
              <a:srgbClr val="E7D8C9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389888"/>
            <a:ext cx="73152" cy="5669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103120"/>
            <a:ext cx="73152" cy="566928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816352"/>
            <a:ext cx="73152" cy="5669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529584"/>
            <a:ext cx="73152" cy="566928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4242816"/>
            <a:ext cx="73152" cy="5669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4956048"/>
            <a:ext cx="73152" cy="566928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5669280"/>
            <a:ext cx="73152" cy="5669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2784" y="1389888"/>
            <a:ext cx="73152" cy="566928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2784" y="2103120"/>
            <a:ext cx="73152" cy="5669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72784" y="2816352"/>
            <a:ext cx="73152" cy="566928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72784" y="3529584"/>
            <a:ext cx="73152" cy="5669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72784" y="4242816"/>
            <a:ext cx="73152" cy="566928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72784" y="4956048"/>
            <a:ext cx="73152" cy="5669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72784" y="5669280"/>
            <a:ext cx="73152" cy="566928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38404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Agenda</a:t>
            </a:r>
            <a:endParaRPr lang="en-US" sz="3800" dirty="0"/>
          </a:p>
        </p:txBody>
      </p:sp>
      <p:sp>
        <p:nvSpPr>
          <p:cNvPr id="23" name="Text 21"/>
          <p:cNvSpPr txBox="1"/>
          <p:nvPr/>
        </p:nvSpPr>
        <p:spPr>
          <a:xfrm>
            <a:off x="1042416" y="1481328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Teaser Summary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1042416" y="2194560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Composition Contract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1042416" y="2907792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Pruned Style Families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1042416" y="3621024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Semantic Blocks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042416" y="4334256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Pipeline Diagram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1042416" y="5047488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Decoration Pattern Catalog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1042416" y="5760720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Table Coherence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6492240" y="1481328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 Chart and Table Pair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6492240" y="2194560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Editable Proof Objects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6492240" y="2907792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Object Shape Grammar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6492240" y="3621024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 Icon and Text Aside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6492240" y="4334256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 Overflow Guard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6492240" y="5047488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 Image Safe Frame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6492240" y="5760720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 Mixed Object Packing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3099816"/>
            <a:ext cx="10515600" cy="457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4288536"/>
            <a:ext cx="2011680" cy="4572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300984"/>
            <a:ext cx="73152" cy="84124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38404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Agenda (Cont. 2/2)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1042416" y="3392424"/>
            <a:ext cx="10094976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Actions Output Review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3063240"/>
            <a:ext cx="10241280" cy="731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13258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14400" y="1417320"/>
            <a:ext cx="10241280" cy="1325880"/>
          </a:xfrm>
          <a:prstGeom prst="rect">
            <a:avLst/>
          </a:prstGeom>
          <a:solidFill>
            <a:srgbClr val="FFFBF5">
              <a:alpha val="0"/>
            </a:srgbClr>
          </a:solidFill>
          <a:ln w="12700">
            <a:solidFill>
              <a:srgbClr val="E7D8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046988" y="1549908"/>
            <a:ext cx="73152" cy="1060704"/>
          </a:xfrm>
          <a:prstGeom prst="roundRect">
            <a:avLst>
              <a:gd name="adj" fmla="val 25000"/>
            </a:avLst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Teaser Summary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1298448" y="1545336"/>
            <a:ext cx="963777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Generated PPTX slides should show design range without sacrificing coherence.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987552" y="3172968"/>
            <a:ext cx="10094976" cy="247802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Preview styles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8 pruned decoration grammars, not palette-only swaps.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Pattern range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36+ decoration and layout patterns selected by content role.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Object support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native tables, charts, proof objects, diagrams, images, and icon slots.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QA contract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readable text, bounded objects, aligned connectors, and editable PPTX output.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FCD34D">
              <a:alpha val="80000"/>
            </a:srgbClr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FFFBF5">
              <a:alpha val="0"/>
            </a:srgbClr>
          </a:solidFill>
          <a:ln w="12700">
            <a:solidFill>
              <a:srgbClr val="E7D8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FFFBF5">
              <a:alpha val="0"/>
            </a:srgbClr>
          </a:solidFill>
          <a:ln w="12700">
            <a:solidFill>
              <a:srgbClr val="E7D8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FFFBF5">
              <a:alpha val="0"/>
            </a:srgbClr>
          </a:solidFill>
          <a:ln w="12700">
            <a:solidFill>
              <a:srgbClr val="E7D8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5" name="Text 10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Composition Contract</a:t>
            </a:r>
            <a:endParaRPr lang="en-US" sz="3400" dirty="0"/>
          </a:p>
        </p:txBody>
      </p:sp>
      <p:sp>
        <p:nvSpPr>
          <p:cNvPr id="16" name="Shape 11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7F3EF"/>
          </a:solidFill>
          <a:ln w="12700">
            <a:solidFill>
              <a:srgbClr val="E7D8C9"/>
            </a:solidFill>
            <a:prstDash val="solid"/>
          </a:ln>
        </p:spPr>
      </p:sp>
      <p:pic>
        <p:nvPicPr>
          <p:cNvPr id="17" name="Image 3" descr="article icon from tabler-icons (MIT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699321" y="1987296"/>
            <a:ext cx="9255191" cy="7802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Cover signal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title scale and first-viewport identity.</a:t>
            </a:r>
            <a:endParaRPr lang="en-US" sz="2200" dirty="0"/>
          </a:p>
        </p:txBody>
      </p:sp>
      <p:sp>
        <p:nvSpPr>
          <p:cNvPr id="19" name="Shape 13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7F3EF"/>
          </a:solidFill>
          <a:ln w="12700">
            <a:solidFill>
              <a:srgbClr val="E7D8C9"/>
            </a:solidFill>
            <a:prstDash val="solid"/>
          </a:ln>
        </p:spPr>
      </p:sp>
      <p:pic>
        <p:nvPicPr>
          <p:cNvPr id="20" name="Image 4" descr="chart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699321" y="3313176"/>
            <a:ext cx="9255191" cy="7802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Evidence rhythm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chart, table, and proof objects stay connected.</a:t>
            </a:r>
            <a:endParaRPr lang="en-US" sz="2200" dirty="0"/>
          </a:p>
        </p:txBody>
      </p:sp>
      <p:sp>
        <p:nvSpPr>
          <p:cNvPr id="22" name="Shape 15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7F3EF"/>
          </a:solidFill>
          <a:ln w="12700">
            <a:solidFill>
              <a:srgbClr val="E7D8C9"/>
            </a:solidFill>
            <a:prstDash val="solid"/>
          </a:ln>
        </p:spPr>
      </p:sp>
      <p:pic>
        <p:nvPicPr>
          <p:cNvPr id="23" name="Image 5" descr="artic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699321" y="4629912"/>
            <a:ext cx="9255191" cy="7802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grammar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cards, tickets, flags, and panels vary coherently.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Composition Contract (Cont. 2/2)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Connector clarity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arrows attach to object boundaries.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Bounds discipline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no region exceeds the slide.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FCD34D">
              <a:alpha val="80000"/>
            </a:srgbClr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FFFBF5">
              <a:alpha val="0"/>
            </a:srgbClr>
          </a:solidFill>
          <a:ln w="12700">
            <a:solidFill>
              <a:srgbClr val="E7D8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FFFBF5">
              <a:alpha val="0"/>
            </a:srgbClr>
          </a:solidFill>
          <a:ln w="12700">
            <a:solidFill>
              <a:srgbClr val="E7D8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FFFBF5">
              <a:alpha val="0"/>
            </a:srgbClr>
          </a:solidFill>
          <a:ln w="12700">
            <a:solidFill>
              <a:srgbClr val="E7D8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5" name="Text 10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Pruned Style Families</a:t>
            </a:r>
            <a:endParaRPr lang="en-US" sz="3400" dirty="0"/>
          </a:p>
        </p:txBody>
      </p:sp>
      <p:sp>
        <p:nvSpPr>
          <p:cNvPr id="16" name="Shape 11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7F3EF"/>
          </a:solidFill>
          <a:ln w="12700">
            <a:solidFill>
              <a:srgbClr val="E7D8C9"/>
            </a:solidFill>
            <a:prstDash val="solid"/>
          </a:ln>
        </p:spPr>
      </p:sp>
      <p:pic>
        <p:nvPicPr>
          <p:cNvPr id="17" name="Image 3" descr="article icon from tabler-icons (MIT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699321" y="1987296"/>
            <a:ext cx="9255191" cy="7802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Clean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restrained default structure.</a:t>
            </a:r>
            <a:endParaRPr lang="en-US" sz="2200" dirty="0"/>
          </a:p>
        </p:txBody>
      </p:sp>
      <p:sp>
        <p:nvSpPr>
          <p:cNvPr id="19" name="Shape 13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7F3EF"/>
          </a:solidFill>
          <a:ln w="12700">
            <a:solidFill>
              <a:srgbClr val="E7D8C9"/>
            </a:solidFill>
            <a:prstDash val="solid"/>
          </a:ln>
        </p:spPr>
      </p:sp>
      <p:pic>
        <p:nvPicPr>
          <p:cNvPr id="20" name="Image 4" descr="chart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699321" y="3313176"/>
            <a:ext cx="9255191" cy="7802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Editorial / magazine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asymmetric rhythm and publication-like accents.</a:t>
            </a:r>
            <a:endParaRPr lang="en-US" sz="2200" dirty="0"/>
          </a:p>
        </p:txBody>
      </p:sp>
      <p:sp>
        <p:nvSpPr>
          <p:cNvPr id="22" name="Shape 15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7F3EF"/>
          </a:solidFill>
          <a:ln w="12700">
            <a:solidFill>
              <a:srgbClr val="E7D8C9"/>
            </a:solidFill>
            <a:prstDash val="solid"/>
          </a:ln>
        </p:spPr>
      </p:sp>
      <p:pic>
        <p:nvPicPr>
          <p:cNvPr id="23" name="Image 5" descr="artic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699321" y="4629912"/>
            <a:ext cx="9255191" cy="7802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Minimalism / newmorphism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sparse rules or soft raised surfaces.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Pruned Style Families (Cont. 2/2)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Glass / grid / data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translucent surfaces, construction lines, or metric rails.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Pruning rule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preview excludes styles that only change palette or background.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63040"/>
            <a:ext cx="5029200" cy="19202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22960" y="1463040"/>
            <a:ext cx="5029200" cy="1920240"/>
          </a:xfrm>
          <a:prstGeom prst="rect">
            <a:avLst/>
          </a:prstGeom>
          <a:solidFill>
            <a:srgbClr val="FFFBF5">
              <a:alpha val="0"/>
            </a:srgbClr>
          </a:solidFill>
          <a:ln w="12700">
            <a:solidFill>
              <a:srgbClr val="E7D8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463040"/>
            <a:ext cx="5029200" cy="19202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309360" y="1463040"/>
            <a:ext cx="5029200" cy="1920240"/>
          </a:xfrm>
          <a:prstGeom prst="rect">
            <a:avLst/>
          </a:prstGeom>
          <a:solidFill>
            <a:srgbClr val="FFFBF5">
              <a:alpha val="0"/>
            </a:srgbClr>
          </a:solidFill>
          <a:ln w="12700">
            <a:solidFill>
              <a:srgbClr val="E7D8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3749040"/>
            <a:ext cx="5029200" cy="192024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822960" y="3749040"/>
            <a:ext cx="5029200" cy="1920240"/>
          </a:xfrm>
          <a:prstGeom prst="rect">
            <a:avLst/>
          </a:prstGeom>
          <a:solidFill>
            <a:srgbClr val="FFFBF5">
              <a:alpha val="0"/>
            </a:srgbClr>
          </a:solidFill>
          <a:ln w="12700">
            <a:solidFill>
              <a:srgbClr val="E7D8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9360" y="3749040"/>
            <a:ext cx="5029200" cy="192024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309360" y="3749040"/>
            <a:ext cx="5029200" cy="1920240"/>
          </a:xfrm>
          <a:prstGeom prst="rect">
            <a:avLst/>
          </a:prstGeom>
          <a:solidFill>
            <a:srgbClr val="FFFBF5">
              <a:alpha val="0"/>
            </a:srgbClr>
          </a:solidFill>
          <a:ln w="12700">
            <a:solidFill>
              <a:srgbClr val="E7D8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7" name="Text 1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Semantic Blocks</a:t>
            </a:r>
            <a:endParaRPr lang="en-US" sz="3400" dirty="0"/>
          </a:p>
        </p:txBody>
      </p:sp>
      <p:sp>
        <p:nvSpPr>
          <p:cNvPr id="18" name="Shape 12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7F3EF"/>
          </a:solidFill>
          <a:ln w="12700">
            <a:solidFill>
              <a:srgbClr val="E7D8C9"/>
            </a:solidFill>
            <a:prstDash val="solid"/>
          </a:ln>
        </p:spPr>
      </p:sp>
      <p:pic>
        <p:nvPicPr>
          <p:cNvPr id="19" name="Image 4" descr="table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9274" y="2203704"/>
            <a:ext cx="438912" cy="438912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689354" y="2033016"/>
            <a:ext cx="3961638" cy="7802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Headings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stable slide boundaries.</a:t>
            </a:r>
            <a:endParaRPr lang="en-US" sz="2200" dirty="0"/>
          </a:p>
        </p:txBody>
      </p:sp>
      <p:sp>
        <p:nvSpPr>
          <p:cNvPr id="21" name="Shape 14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7F3EF"/>
          </a:solidFill>
          <a:ln w="12700">
            <a:solidFill>
              <a:srgbClr val="E7D8C9"/>
            </a:solidFill>
            <a:prstDash val="solid"/>
          </a:ln>
        </p:spPr>
      </p:sp>
      <p:pic>
        <p:nvPicPr>
          <p:cNvPr id="22" name="Image 5" descr="artic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35674" y="2203704"/>
            <a:ext cx="438912" cy="438912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7175754" y="1865376"/>
            <a:ext cx="3961638" cy="11155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Lists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ordered and unordered structure.</a:t>
            </a:r>
            <a:endParaRPr lang="en-US" sz="2200" dirty="0"/>
          </a:p>
        </p:txBody>
      </p:sp>
      <p:sp>
        <p:nvSpPr>
          <p:cNvPr id="24" name="Shape 16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7F3EF"/>
          </a:solidFill>
          <a:ln w="12700">
            <a:solidFill>
              <a:srgbClr val="E7D8C9"/>
            </a:solidFill>
            <a:prstDash val="solid"/>
          </a:ln>
        </p:spPr>
      </p:sp>
      <p:pic>
        <p:nvPicPr>
          <p:cNvPr id="25" name="Image 6" descr="article icon from tabler-icons (MIT)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9274" y="4489704"/>
            <a:ext cx="438912" cy="438912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1689354" y="4151376"/>
            <a:ext cx="3961638" cy="11155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Constraint: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Indented description lines stay under the bold label.</a:t>
            </a:r>
            <a:endParaRPr lang="en-US" sz="2200" dirty="0"/>
          </a:p>
        </p:txBody>
      </p:sp>
      <p:sp>
        <p:nvSpPr>
          <p:cNvPr id="27" name="Shape 18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7F3EF"/>
          </a:solidFill>
          <a:ln w="12700">
            <a:solidFill>
              <a:srgbClr val="E7D8C9"/>
            </a:solidFill>
            <a:prstDash val="solid"/>
          </a:ln>
        </p:spPr>
      </p:sp>
      <p:pic>
        <p:nvPicPr>
          <p:cNvPr id="28" name="Image 7" descr="table icon from tabler-icons (MIT)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35674" y="4489704"/>
            <a:ext cx="438912" cy="438912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7175754" y="4151376"/>
            <a:ext cx="3961638" cy="11155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Emphasis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bold and italic remain editable.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Pipeline Diagram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002024" y="3095244"/>
            <a:ext cx="457200" cy="0"/>
          </a:xfrm>
          <a:prstGeom prst="line">
            <a:avLst/>
          </a:prstGeom>
          <a:noFill/>
          <a:ln w="1270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748016" y="3095244"/>
            <a:ext cx="457200" cy="0"/>
          </a:xfrm>
          <a:prstGeom prst="line">
            <a:avLst/>
          </a:prstGeom>
          <a:noFill/>
          <a:ln w="1270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849612" y="3627791"/>
            <a:ext cx="0" cy="416235"/>
          </a:xfrm>
          <a:prstGeom prst="line">
            <a:avLst/>
          </a:prstGeom>
          <a:noFill/>
          <a:ln w="1270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748016" y="4576572"/>
            <a:ext cx="457200" cy="0"/>
          </a:xfrm>
          <a:prstGeom prst="line">
            <a:avLst/>
          </a:prstGeom>
          <a:noFill/>
          <a:ln w="12700">
            <a:solidFill>
              <a:srgbClr val="B45309"/>
            </a:solidFill>
            <a:prstDash val="solid"/>
            <a:headEnd type="triangle"/>
          </a:ln>
        </p:spPr>
      </p:sp>
      <p:sp>
        <p:nvSpPr>
          <p:cNvPr id="10" name="Shape 8"/>
          <p:cNvSpPr/>
          <p:nvPr/>
        </p:nvSpPr>
        <p:spPr>
          <a:xfrm>
            <a:off x="4002024" y="4576572"/>
            <a:ext cx="457200" cy="0"/>
          </a:xfrm>
          <a:prstGeom prst="line">
            <a:avLst/>
          </a:prstGeom>
          <a:noFill/>
          <a:ln w="12700">
            <a:solidFill>
              <a:srgbClr val="B45309"/>
            </a:solidFill>
            <a:prstDash val="solid"/>
            <a:headEnd type="triangle"/>
          </a:ln>
        </p:spPr>
      </p:sp>
      <p:sp>
        <p:nvSpPr>
          <p:cNvPr id="11" name="Shape 9"/>
          <p:cNvSpPr/>
          <p:nvPr/>
        </p:nvSpPr>
        <p:spPr>
          <a:xfrm>
            <a:off x="640080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BF5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510028"/>
            <a:ext cx="3435096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" y="2907975"/>
            <a:ext cx="374538" cy="37453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7F3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25514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Markdown source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386072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BF5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86072" y="2510028"/>
            <a:ext cx="3435096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50664" y="2907975"/>
            <a:ext cx="374538" cy="37453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50664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7F3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071506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Parse blocks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32064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BF5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132064" y="2510028"/>
            <a:ext cx="3435096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96656" y="2907975"/>
            <a:ext cx="374538" cy="37453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96656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7F3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817498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Split slides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132064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BF5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132064" y="3991356"/>
            <a:ext cx="3435096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96656" y="4389303"/>
            <a:ext cx="374538" cy="37453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96656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7F3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8817498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Layout objects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86072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BF5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386072" y="3991356"/>
            <a:ext cx="3435096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50664" y="4389303"/>
            <a:ext cx="374538" cy="37453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550664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7F3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5071506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Validate overflow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0080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BF5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40080" y="3991356"/>
            <a:ext cx="3435096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04672" y="4389303"/>
            <a:ext cx="374538" cy="37453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04672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7F3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1325514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Render PPTX HTML PDF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463040"/>
            <a:ext cx="10241280" cy="731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Decoration Pattern Catalog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987552" y="1572768"/>
            <a:ext cx="10094976" cy="426110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Surfaces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rounded-card, two-corner-card, flag-drop, ticket-panel, notched-panel, circle-vine.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Layouts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toc-strips, two-column-compare, three-card-grid, six-tile-grid, timeline-rail, pipeline-chain.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Evidence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chart-table-pair, metric-proof, arc-ring-proof, gauge-proof, connected-strip, mixed-object-pack.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Connectors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straight-arrow, elbow-arrow, boundary-attach, overlap-joint, parallel-flow, contrast-flow.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Decoration Pattern Catalog (Cont. 2/2)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Icons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number-badge, mono-icon-slot, letter-disc, quiet-aside, image-safe-frame, brand-glyph.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Page grammar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magazine-rail, grid-baseline, glass-surface, newmorphic-panel, data-rail, minimal-rule.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526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4400" y="1417320"/>
            <a:ext cx="10241280" cy="4526280"/>
          </a:xfrm>
          <a:prstGeom prst="rect">
            <a:avLst/>
          </a:prstGeom>
          <a:solidFill>
            <a:srgbClr val="FFFBF5">
              <a:alpha val="0"/>
            </a:srgbClr>
          </a:solidFill>
          <a:ln w="12700">
            <a:solidFill>
              <a:srgbClr val="E7D8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Table Coherence</a:t>
            </a:r>
            <a:endParaRPr lang="en-US" sz="3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17320"/>
          <a:ext cx="10241280" cy="4526280"/>
        </p:xfrm>
        <a:graphic>
          <a:graphicData uri="http://schemas.openxmlformats.org/drawingml/2006/table">
            <a:tbl>
              <a:tblPr/>
              <a:tblGrid>
                <a:gridCol w="3413760"/>
                <a:gridCol w="3413760"/>
                <a:gridCol w="3413760"/>
              </a:tblGrid>
              <a:tr h="9052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Object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Renderer expectation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QA signal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Text box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editable, middle aligned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readable minimum size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Table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native table object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header fill and cell padding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>
                        <a:alpha val="80000"/>
                      </a:srgbClr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Diagram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nodes and connectors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 clipped labels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Chart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theme-colored data object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contrast and value clarity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517904"/>
            <a:ext cx="3822192" cy="731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6048" y="1426464"/>
            <a:ext cx="6199632" cy="440740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956048" y="1426464"/>
            <a:ext cx="6199632" cy="4407408"/>
          </a:xfrm>
          <a:prstGeom prst="rect">
            <a:avLst/>
          </a:prstGeom>
          <a:solidFill>
            <a:srgbClr val="FFFBF5">
              <a:alpha val="0"/>
            </a:srgbClr>
          </a:solidFill>
          <a:ln w="12700">
            <a:solidFill>
              <a:srgbClr val="E7D8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Chart and Table Pair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1627632"/>
            <a:ext cx="3675888" cy="400507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Numeric evidence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chart and table stay side by side.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Data density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values remain readable without shrinking below floor.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Comparison goal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coverage and defects are visible together.</a:t>
            </a:r>
            <a:endParaRPr lang="en-US" sz="22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5084064" y="1572768"/>
          <a:ext cx="59436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526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4400" y="1417320"/>
            <a:ext cx="10241280" cy="4526280"/>
          </a:xfrm>
          <a:prstGeom prst="rect">
            <a:avLst/>
          </a:prstGeom>
          <a:solidFill>
            <a:srgbClr val="FFFBF5">
              <a:alpha val="0"/>
            </a:srgbClr>
          </a:solidFill>
          <a:ln w="12700">
            <a:solidFill>
              <a:srgbClr val="E7D8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Chart and Table Pair (Cont. 2/2)</a:t>
            </a:r>
            <a:endParaRPr lang="en-US" sz="3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17320"/>
          <a:ext cx="10241280" cy="4526280"/>
        </p:xfrm>
        <a:graphic>
          <a:graphicData uri="http://schemas.openxmlformats.org/drawingml/2006/table">
            <a:tbl>
              <a:tblPr/>
              <a:tblGrid>
                <a:gridCol w="3413760"/>
                <a:gridCol w="3413760"/>
                <a:gridCol w="3413760"/>
              </a:tblGrid>
              <a:tr h="11315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Stage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Coverage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Defects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Parser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92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Layout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88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>
                        <a:alpha val="80000"/>
                      </a:srgbClr>
                    </a:solidFill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PPTX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95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343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4400" y="1417320"/>
            <a:ext cx="10241280" cy="4343400"/>
          </a:xfrm>
          <a:prstGeom prst="rect">
            <a:avLst/>
          </a:prstGeom>
          <a:solidFill>
            <a:srgbClr val="FFFBF5">
              <a:alpha val="0"/>
            </a:srgbClr>
          </a:solidFill>
          <a:ln w="12700">
            <a:solidFill>
              <a:srgbClr val="E7D8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Editable Proof Objects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1309713" y="2551322"/>
            <a:ext cx="2075395" cy="2075395"/>
          </a:xfrm>
          <a:prstGeom prst="blockArc">
            <a:avLst>
              <a:gd name="adj1" fmla="val 0"/>
              <a:gd name="adj2" fmla="val 21540000"/>
              <a:gd name="adj3" fmla="val 12000"/>
            </a:avLst>
          </a:prstGeom>
          <a:solidFill>
            <a:srgbClr val="E7D8C9">
              <a:alpha val="82000"/>
            </a:srgbClr>
          </a:solidFill>
          <a:ln w="12700">
            <a:solidFill>
              <a:srgbClr val="E7D8C9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309713" y="2551322"/>
            <a:ext cx="2075395" cy="2075395"/>
          </a:xfrm>
          <a:prstGeom prst="blockArc">
            <a:avLst>
              <a:gd name="adj1" fmla="val 16200000"/>
              <a:gd name="adj2" fmla="val 21540000"/>
              <a:gd name="adj3" fmla="val 12000"/>
            </a:avLst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309713" y="2551322"/>
            <a:ext cx="2075395" cy="2075395"/>
          </a:xfrm>
          <a:prstGeom prst="blockArc">
            <a:avLst>
              <a:gd name="adj1" fmla="val 0"/>
              <a:gd name="adj2" fmla="val 12780000"/>
              <a:gd name="adj3" fmla="val 12000"/>
            </a:avLst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514348" y="3049296"/>
            <a:ext cx="145278" cy="145278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7F3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04039" y="2945647"/>
            <a:ext cx="1286745" cy="1286745"/>
          </a:xfrm>
          <a:prstGeom prst="ellipse">
            <a:avLst/>
          </a:prstGeom>
          <a:solidFill>
            <a:srgbClr val="F7F3EF"/>
          </a:solidFill>
          <a:ln w="12700">
            <a:solidFill>
              <a:srgbClr val="F7F3EF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766300" y="3236203"/>
            <a:ext cx="1162221" cy="4980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84%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1683285" y="3755052"/>
            <a:ext cx="1328253" cy="373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753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Coverage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796589" y="2567178"/>
            <a:ext cx="137160" cy="13716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025189" y="241630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Validated 84%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796589" y="3006090"/>
            <a:ext cx="137160" cy="137160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025189" y="2855214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753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Remaining 16%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658990" y="3835908"/>
            <a:ext cx="4051962" cy="256032"/>
          </a:xfrm>
          <a:prstGeom prst="roundRect">
            <a:avLst>
              <a:gd name="adj" fmla="val 28571"/>
            </a:avLst>
          </a:prstGeom>
          <a:solidFill>
            <a:srgbClr val="E7D8C9">
              <a:alpha val="85000"/>
            </a:srgbClr>
          </a:solidFill>
          <a:ln w="12700">
            <a:solidFill>
              <a:srgbClr val="E7D8C9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658990" y="3835908"/>
            <a:ext cx="3687286" cy="256032"/>
          </a:xfrm>
          <a:prstGeom prst="roundRect">
            <a:avLst>
              <a:gd name="adj" fmla="val 28571"/>
            </a:avLst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346276" y="3433572"/>
            <a:ext cx="0" cy="96926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0199972" y="3817620"/>
            <a:ext cx="292608" cy="292608"/>
          </a:xfrm>
          <a:prstGeom prst="ellipse">
            <a:avLst/>
          </a:prstGeom>
          <a:solidFill>
            <a:srgbClr val="F7F3EF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658990" y="3744468"/>
            <a:ext cx="0" cy="438912"/>
          </a:xfrm>
          <a:prstGeom prst="line">
            <a:avLst/>
          </a:prstGeom>
          <a:noFill/>
          <a:ln w="12700">
            <a:solidFill>
              <a:srgbClr val="E7D8C9">
                <a:alpha val="95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0710952" y="3744468"/>
            <a:ext cx="0" cy="438912"/>
          </a:xfrm>
          <a:prstGeom prst="line">
            <a:avLst/>
          </a:prstGeom>
          <a:noFill/>
          <a:ln w="12700">
            <a:solidFill>
              <a:srgbClr val="E7D8C9">
                <a:alpha val="95000"/>
              </a:srgbClr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955618" y="2217420"/>
            <a:ext cx="14587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91%</a:t>
            </a:r>
            <a:endParaRPr lang="en-US" sz="3200" dirty="0"/>
          </a:p>
        </p:txBody>
      </p:sp>
      <p:sp>
        <p:nvSpPr>
          <p:cNvPr id="26" name="Text 23"/>
          <p:cNvSpPr txBox="1"/>
          <p:nvPr/>
        </p:nvSpPr>
        <p:spPr>
          <a:xfrm>
            <a:off x="6658990" y="4530852"/>
            <a:ext cx="40519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5753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Score · Readiness</a:t>
            </a:r>
            <a:endParaRPr lang="en-US" sz="1700" dirty="0"/>
          </a:p>
        </p:txBody>
      </p:sp>
      <p:sp>
        <p:nvSpPr>
          <p:cNvPr id="27" name="Text 24"/>
          <p:cNvSpPr txBox="1"/>
          <p:nvPr/>
        </p:nvSpPr>
        <p:spPr>
          <a:xfrm>
            <a:off x="6658990" y="413766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753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10162312" y="413766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753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343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4400" y="1417320"/>
            <a:ext cx="10241280" cy="4343400"/>
          </a:xfrm>
          <a:prstGeom prst="rect">
            <a:avLst/>
          </a:prstGeom>
          <a:solidFill>
            <a:srgbClr val="FFFBF5">
              <a:alpha val="0"/>
            </a:srgbClr>
          </a:solidFill>
          <a:ln w="12700">
            <a:solidFill>
              <a:srgbClr val="E7D8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Editable Proof Objects (Cont. 2/2)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1078992" y="2446020"/>
            <a:ext cx="2262957" cy="2286000"/>
          </a:xfrm>
          <a:prstGeom prst="roundRect">
            <a:avLst>
              <a:gd name="adj" fmla="val 2020"/>
            </a:avLst>
          </a:prstGeom>
          <a:solidFill>
            <a:srgbClr val="FFFBF5"/>
          </a:solidFill>
          <a:ln w="12700">
            <a:solidFill>
              <a:srgbClr val="E7D8C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80160" y="4347972"/>
            <a:ext cx="593815" cy="12801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261872" y="2574036"/>
            <a:ext cx="1897197" cy="914400"/>
          </a:xfrm>
          <a:prstGeom prst="rect">
            <a:avLst/>
          </a:prstGeom>
          <a:noFill/>
          <a:ln/>
        </p:spPr>
        <p:txBody>
          <a:bodyPr wrap="square" lIns="381" tIns="508" rIns="508" bIns="381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Parse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261872" y="3543300"/>
            <a:ext cx="18971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30%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3628705" y="2446020"/>
            <a:ext cx="2262957" cy="2286000"/>
          </a:xfrm>
          <a:prstGeom prst="roundRect">
            <a:avLst>
              <a:gd name="adj" fmla="val 2020"/>
            </a:avLst>
          </a:prstGeom>
          <a:solidFill>
            <a:srgbClr val="FFFBF5"/>
          </a:solidFill>
          <a:ln w="12700">
            <a:solidFill>
              <a:srgbClr val="E7D8C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829873" y="4347972"/>
            <a:ext cx="1227218" cy="128016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811585" y="2574036"/>
            <a:ext cx="1897197" cy="914400"/>
          </a:xfrm>
          <a:prstGeom prst="rect">
            <a:avLst/>
          </a:prstGeom>
          <a:noFill/>
          <a:ln/>
        </p:spPr>
        <p:txBody>
          <a:bodyPr wrap="square" lIns="381" tIns="508" rIns="508" bIns="381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Plan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3811585" y="3543300"/>
            <a:ext cx="18971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CD3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62%</a:t>
            </a:r>
            <a:endParaRPr lang="en-US" sz="2800" dirty="0"/>
          </a:p>
        </p:txBody>
      </p:sp>
      <p:sp>
        <p:nvSpPr>
          <p:cNvPr id="16" name="Shape 13"/>
          <p:cNvSpPr/>
          <p:nvPr/>
        </p:nvSpPr>
        <p:spPr>
          <a:xfrm>
            <a:off x="6178418" y="2446020"/>
            <a:ext cx="2262957" cy="2286000"/>
          </a:xfrm>
          <a:prstGeom prst="roundRect">
            <a:avLst>
              <a:gd name="adj" fmla="val 2020"/>
            </a:avLst>
          </a:prstGeom>
          <a:solidFill>
            <a:srgbClr val="FFFBF5"/>
          </a:solidFill>
          <a:ln w="12700">
            <a:solidFill>
              <a:srgbClr val="E7D8C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379586" y="4347972"/>
            <a:ext cx="1702270" cy="12801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361298" y="2574036"/>
            <a:ext cx="1897197" cy="914400"/>
          </a:xfrm>
          <a:prstGeom prst="rect">
            <a:avLst/>
          </a:prstGeom>
          <a:noFill/>
          <a:ln/>
        </p:spPr>
        <p:txBody>
          <a:bodyPr wrap="square" lIns="381" tIns="508" rIns="508" bIns="381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Render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6361298" y="3543300"/>
            <a:ext cx="18971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86%</a:t>
            </a:r>
            <a:endParaRPr lang="en-US" sz="2800" dirty="0"/>
          </a:p>
        </p:txBody>
      </p:sp>
      <p:sp>
        <p:nvSpPr>
          <p:cNvPr id="20" name="Shape 17"/>
          <p:cNvSpPr/>
          <p:nvPr/>
        </p:nvSpPr>
        <p:spPr>
          <a:xfrm>
            <a:off x="8728131" y="2446020"/>
            <a:ext cx="2262957" cy="2286000"/>
          </a:xfrm>
          <a:prstGeom prst="roundRect">
            <a:avLst>
              <a:gd name="adj" fmla="val 2020"/>
            </a:avLst>
          </a:prstGeom>
          <a:solidFill>
            <a:srgbClr val="FFFBF5"/>
          </a:solidFill>
          <a:ln w="12700">
            <a:solidFill>
              <a:srgbClr val="E7D8C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929299" y="4347972"/>
            <a:ext cx="1860621" cy="12801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911011" y="2574036"/>
            <a:ext cx="1897197" cy="914400"/>
          </a:xfrm>
          <a:prstGeom prst="rect">
            <a:avLst/>
          </a:prstGeom>
          <a:noFill/>
          <a:ln/>
        </p:spPr>
        <p:txBody>
          <a:bodyPr wrap="square" lIns="381" tIns="508" rIns="508" bIns="381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Review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8911011" y="3543300"/>
            <a:ext cx="18971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94%</a:t>
            </a:r>
            <a:endParaRPr lang="en-US" sz="2800" dirty="0"/>
          </a:p>
        </p:txBody>
      </p:sp>
      <p:sp>
        <p:nvSpPr>
          <p:cNvPr id="24" name="Shape 21"/>
          <p:cNvSpPr/>
          <p:nvPr/>
        </p:nvSpPr>
        <p:spPr>
          <a:xfrm>
            <a:off x="3285375" y="3589020"/>
            <a:ext cx="399904" cy="0"/>
          </a:xfrm>
          <a:prstGeom prst="line">
            <a:avLst/>
          </a:prstGeom>
          <a:noFill/>
          <a:ln w="1270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5835088" y="3589020"/>
            <a:ext cx="399904" cy="0"/>
          </a:xfrm>
          <a:prstGeom prst="line">
            <a:avLst/>
          </a:prstGeom>
          <a:noFill/>
          <a:ln w="1270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8384801" y="3589020"/>
            <a:ext cx="399904" cy="0"/>
          </a:xfrm>
          <a:prstGeom prst="line">
            <a:avLst/>
          </a:prstGeom>
          <a:noFill/>
          <a:ln w="12700">
            <a:solidFill>
              <a:srgbClr val="B45309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463040"/>
            <a:ext cx="10241280" cy="731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Shape Grammar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987552" y="1572768"/>
            <a:ext cx="10094976" cy="426110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Method flag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short high-level step.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Ticket panel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document-like evidence.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Two-corner panel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linear grouping.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Shape Grammar (Cont. 2/2)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Notched panel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technical constraint or code-like object.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Rounded panel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neutral fallback surface.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63040"/>
            <a:ext cx="5029200" cy="19202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22960" y="1463040"/>
            <a:ext cx="5029200" cy="1920240"/>
          </a:xfrm>
          <a:prstGeom prst="rect">
            <a:avLst/>
          </a:prstGeom>
          <a:solidFill>
            <a:srgbClr val="FFFBF5">
              <a:alpha val="0"/>
            </a:srgbClr>
          </a:solidFill>
          <a:ln w="12700">
            <a:solidFill>
              <a:srgbClr val="E7D8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463040"/>
            <a:ext cx="5029200" cy="19202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309360" y="1463040"/>
            <a:ext cx="5029200" cy="1920240"/>
          </a:xfrm>
          <a:prstGeom prst="rect">
            <a:avLst/>
          </a:prstGeom>
          <a:solidFill>
            <a:srgbClr val="FFFBF5">
              <a:alpha val="0"/>
            </a:srgbClr>
          </a:solidFill>
          <a:ln w="12700">
            <a:solidFill>
              <a:srgbClr val="E7D8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3749040"/>
            <a:ext cx="5029200" cy="192024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822960" y="3749040"/>
            <a:ext cx="5029200" cy="1920240"/>
          </a:xfrm>
          <a:prstGeom prst="rect">
            <a:avLst/>
          </a:prstGeom>
          <a:solidFill>
            <a:srgbClr val="FFFBF5">
              <a:alpha val="0"/>
            </a:srgbClr>
          </a:solidFill>
          <a:ln w="12700">
            <a:solidFill>
              <a:srgbClr val="E7D8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9360" y="3749040"/>
            <a:ext cx="5029200" cy="192024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309360" y="3749040"/>
            <a:ext cx="5029200" cy="1920240"/>
          </a:xfrm>
          <a:prstGeom prst="rect">
            <a:avLst/>
          </a:prstGeom>
          <a:solidFill>
            <a:srgbClr val="FFFBF5">
              <a:alpha val="0"/>
            </a:srgbClr>
          </a:solidFill>
          <a:ln w="12700">
            <a:solidFill>
              <a:srgbClr val="E7D8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7" name="Text 1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Icon and Text Aside</a:t>
            </a:r>
            <a:endParaRPr lang="en-US" sz="3400" dirty="0"/>
          </a:p>
        </p:txBody>
      </p:sp>
      <p:sp>
        <p:nvSpPr>
          <p:cNvPr id="18" name="Shape 12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7F3EF"/>
          </a:solidFill>
          <a:ln w="12700">
            <a:solidFill>
              <a:srgbClr val="E7D8C9"/>
            </a:solidFill>
            <a:prstDash val="solid"/>
          </a:ln>
        </p:spPr>
      </p:sp>
      <p:pic>
        <p:nvPicPr>
          <p:cNvPr id="19" name="Image 4" descr="article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9274" y="2203704"/>
            <a:ext cx="438912" cy="438912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689354" y="2033016"/>
            <a:ext cx="3961638" cy="7802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Icon role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quiet monochrome anchor.</a:t>
            </a:r>
            <a:endParaRPr lang="en-US" sz="2200" dirty="0"/>
          </a:p>
        </p:txBody>
      </p:sp>
      <p:sp>
        <p:nvSpPr>
          <p:cNvPr id="21" name="Shape 14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7F3EF"/>
          </a:solidFill>
          <a:ln w="12700">
            <a:solidFill>
              <a:srgbClr val="E7D8C9"/>
            </a:solidFill>
            <a:prstDash val="solid"/>
          </a:ln>
        </p:spPr>
      </p:sp>
      <p:pic>
        <p:nvPicPr>
          <p:cNvPr id="22" name="Image 5" descr="artic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35674" y="2203704"/>
            <a:ext cx="438912" cy="438912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7175754" y="1865376"/>
            <a:ext cx="3961638" cy="11155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Icon scale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secondary to title and body text.</a:t>
            </a:r>
            <a:endParaRPr lang="en-US" sz="2200" dirty="0"/>
          </a:p>
        </p:txBody>
      </p:sp>
      <p:sp>
        <p:nvSpPr>
          <p:cNvPr id="24" name="Shape 16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7F3EF"/>
          </a:solidFill>
          <a:ln w="12700">
            <a:solidFill>
              <a:srgbClr val="E7D8C9"/>
            </a:solidFill>
            <a:prstDash val="solid"/>
          </a:ln>
        </p:spPr>
      </p:sp>
      <p:pic>
        <p:nvPicPr>
          <p:cNvPr id="25" name="Image 6" descr="article icon from tabler-icons (MIT)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9274" y="4489704"/>
            <a:ext cx="438912" cy="438912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1689354" y="4151376"/>
            <a:ext cx="3961638" cy="11155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Placement rule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icon never fills empty space alone.</a:t>
            </a:r>
            <a:endParaRPr lang="en-US" sz="2200" dirty="0"/>
          </a:p>
        </p:txBody>
      </p:sp>
      <p:sp>
        <p:nvSpPr>
          <p:cNvPr id="27" name="Shape 18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7F3EF"/>
          </a:solidFill>
          <a:ln w="12700">
            <a:solidFill>
              <a:srgbClr val="E7D8C9"/>
            </a:solidFill>
            <a:prstDash val="solid"/>
          </a:ln>
        </p:spPr>
      </p:sp>
      <p:pic>
        <p:nvPicPr>
          <p:cNvPr id="28" name="Image 7" descr="table icon from tabler-icons (MIT)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35674" y="4489704"/>
            <a:ext cx="438912" cy="438912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7175754" y="4151376"/>
            <a:ext cx="3961638" cy="11155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Fit rule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icon and text share a stable center line.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63040"/>
            <a:ext cx="5029200" cy="19202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22960" y="1463040"/>
            <a:ext cx="5029200" cy="1920240"/>
          </a:xfrm>
          <a:prstGeom prst="rect">
            <a:avLst/>
          </a:prstGeom>
          <a:solidFill>
            <a:srgbClr val="FFFBF5">
              <a:alpha val="0"/>
            </a:srgbClr>
          </a:solidFill>
          <a:ln w="12700">
            <a:solidFill>
              <a:srgbClr val="E7D8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463040"/>
            <a:ext cx="5029200" cy="19202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309360" y="1463040"/>
            <a:ext cx="5029200" cy="1920240"/>
          </a:xfrm>
          <a:prstGeom prst="rect">
            <a:avLst/>
          </a:prstGeom>
          <a:solidFill>
            <a:srgbClr val="FFFBF5">
              <a:alpha val="0"/>
            </a:srgbClr>
          </a:solidFill>
          <a:ln w="12700">
            <a:solidFill>
              <a:srgbClr val="E7D8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3749040"/>
            <a:ext cx="5029200" cy="192024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822960" y="3749040"/>
            <a:ext cx="5029200" cy="1920240"/>
          </a:xfrm>
          <a:prstGeom prst="rect">
            <a:avLst/>
          </a:prstGeom>
          <a:solidFill>
            <a:srgbClr val="FFFBF5">
              <a:alpha val="0"/>
            </a:srgbClr>
          </a:solidFill>
          <a:ln w="12700">
            <a:solidFill>
              <a:srgbClr val="E7D8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9360" y="3749040"/>
            <a:ext cx="5029200" cy="192024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309360" y="3749040"/>
            <a:ext cx="5029200" cy="1920240"/>
          </a:xfrm>
          <a:prstGeom prst="rect">
            <a:avLst/>
          </a:prstGeom>
          <a:solidFill>
            <a:srgbClr val="FFFBF5">
              <a:alpha val="0"/>
            </a:srgbClr>
          </a:solidFill>
          <a:ln w="12700">
            <a:solidFill>
              <a:srgbClr val="E7D8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7" name="Text 1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Overflow Guard</a:t>
            </a:r>
            <a:endParaRPr lang="en-US" sz="3400" dirty="0"/>
          </a:p>
        </p:txBody>
      </p:sp>
      <p:sp>
        <p:nvSpPr>
          <p:cNvPr id="18" name="Shape 12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7F3EF"/>
          </a:solidFill>
          <a:ln w="12700">
            <a:solidFill>
              <a:srgbClr val="E7D8C9"/>
            </a:solidFill>
            <a:prstDash val="solid"/>
          </a:ln>
        </p:spPr>
      </p:sp>
      <p:pic>
        <p:nvPicPr>
          <p:cNvPr id="19" name="Image 4" descr="verified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9274" y="2203704"/>
            <a:ext cx="438912" cy="438912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689354" y="1865376"/>
            <a:ext cx="3961638" cy="11155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Text fit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region bounds are validated before output.</a:t>
            </a:r>
            <a:endParaRPr lang="en-US" sz="2200" dirty="0"/>
          </a:p>
        </p:txBody>
      </p:sp>
      <p:sp>
        <p:nvSpPr>
          <p:cNvPr id="21" name="Shape 14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7F3EF"/>
          </a:solidFill>
          <a:ln w="12700">
            <a:solidFill>
              <a:srgbClr val="E7D8C9"/>
            </a:solidFill>
            <a:prstDash val="solid"/>
          </a:ln>
        </p:spPr>
      </p:sp>
      <p:pic>
        <p:nvPicPr>
          <p:cNvPr id="22" name="Image 5" descr="tab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35674" y="2203704"/>
            <a:ext cx="438912" cy="438912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7175754" y="1697736"/>
            <a:ext cx="3961638" cy="14508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Tables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cell text uses middle alignment and coherent margins.</a:t>
            </a:r>
            <a:endParaRPr lang="en-US" sz="2200" dirty="0"/>
          </a:p>
        </p:txBody>
      </p:sp>
      <p:sp>
        <p:nvSpPr>
          <p:cNvPr id="24" name="Shape 16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7F3EF"/>
          </a:solidFill>
          <a:ln w="12700">
            <a:solidFill>
              <a:srgbClr val="E7D8C9"/>
            </a:solidFill>
            <a:prstDash val="solid"/>
          </a:ln>
        </p:spPr>
      </p:sp>
      <p:pic>
        <p:nvPicPr>
          <p:cNvPr id="25" name="Image 6" descr="article icon from tabler-icons (MIT)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9274" y="4489704"/>
            <a:ext cx="438912" cy="438912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1689354" y="4151376"/>
            <a:ext cx="3961638" cy="11155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Continuation slides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dense content splits before unreadable shrink.</a:t>
            </a:r>
            <a:endParaRPr lang="en-US" sz="2200" dirty="0"/>
          </a:p>
        </p:txBody>
      </p:sp>
      <p:sp>
        <p:nvSpPr>
          <p:cNvPr id="27" name="Shape 18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7F3EF"/>
          </a:solidFill>
          <a:ln w="12700">
            <a:solidFill>
              <a:srgbClr val="E7D8C9"/>
            </a:solidFill>
            <a:prstDash val="solid"/>
          </a:ln>
        </p:spPr>
      </p:sp>
      <p:pic>
        <p:nvPicPr>
          <p:cNvPr id="28" name="Image 7" descr="article icon from tabler-icons (MIT)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35674" y="4489704"/>
            <a:ext cx="438912" cy="438912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7175754" y="4151376"/>
            <a:ext cx="3961638" cy="11155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Cleanup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decorative-only bullets and empty artifacts are removed.</a:t>
            </a:r>
            <a:endParaRPr lang="en-US" sz="2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63040"/>
            <a:ext cx="5623560" cy="731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12280" y="1463040"/>
            <a:ext cx="4434840" cy="4526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12280" y="1463040"/>
            <a:ext cx="4434840" cy="4526280"/>
          </a:xfrm>
          <a:prstGeom prst="rect">
            <a:avLst/>
          </a:prstGeom>
          <a:solidFill>
            <a:srgbClr val="FFFBF5">
              <a:alpha val="0"/>
            </a:srgbClr>
          </a:solidFill>
          <a:ln w="12700">
            <a:solidFill>
              <a:srgbClr val="E7D8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Image Safe Frame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896112" y="1572768"/>
            <a:ext cx="5477256" cy="430682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Image role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picture content uses an internal safe frame.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Surface rule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background decoration stays outside the picture bounds.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Bounds rule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child images never exceed their owning image region.</a:t>
            </a:r>
            <a:endParaRPr lang="en-US" sz="2200" dirty="0"/>
          </a:p>
        </p:txBody>
      </p:sp>
      <p:pic>
        <p:nvPicPr>
          <p:cNvPr id="10" name="Image 1" descr="Safe frame diagram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40296" y="1591056"/>
            <a:ext cx="4178808" cy="427024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4041648"/>
            <a:ext cx="4572000" cy="731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9808" y="1444752"/>
            <a:ext cx="4617720" cy="23591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" y="1444752"/>
            <a:ext cx="4617720" cy="2359152"/>
          </a:xfrm>
          <a:prstGeom prst="rect">
            <a:avLst/>
          </a:prstGeom>
          <a:solidFill>
            <a:srgbClr val="FFFBF5">
              <a:alpha val="0"/>
            </a:srgbClr>
          </a:solidFill>
          <a:ln w="12700">
            <a:solidFill>
              <a:srgbClr val="E7D8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77840" y="1481328"/>
            <a:ext cx="5532120" cy="221284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577840" y="1481328"/>
            <a:ext cx="5532120" cy="2212848"/>
          </a:xfrm>
          <a:prstGeom prst="rect">
            <a:avLst/>
          </a:prstGeom>
          <a:solidFill>
            <a:srgbClr val="FFFBF5">
              <a:alpha val="0"/>
            </a:srgbClr>
          </a:solidFill>
          <a:ln w="12700">
            <a:solidFill>
              <a:srgbClr val="E7D8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77840" y="3913632"/>
            <a:ext cx="5532120" cy="201168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5577840" y="3913632"/>
            <a:ext cx="5532120" cy="2011680"/>
          </a:xfrm>
          <a:prstGeom prst="rect">
            <a:avLst/>
          </a:prstGeom>
          <a:solidFill>
            <a:srgbClr val="FFFBF5">
              <a:alpha val="0"/>
            </a:srgbClr>
          </a:solidFill>
          <a:ln w="12700">
            <a:solidFill>
              <a:srgbClr val="E7D8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2" name="Text 7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Mixed Object Packing</a:t>
            </a:r>
            <a:endParaRPr lang="en-US" sz="34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877824" y="1591056"/>
          <a:ext cx="4361688" cy="20665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481328"/>
          <a:ext cx="5532120" cy="2212848"/>
        </p:xfrm>
        <a:graphic>
          <a:graphicData uri="http://schemas.openxmlformats.org/drawingml/2006/table">
            <a:tbl>
              <a:tblPr/>
              <a:tblGrid>
                <a:gridCol w="2766060"/>
                <a:gridCol w="2766060"/>
              </a:tblGrid>
              <a:tr h="737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Object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Signal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</a:tr>
              <a:tr h="737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Chart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trend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7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Image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bounded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8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5" name="Text 8"/>
          <p:cNvSpPr txBox="1"/>
          <p:nvPr/>
        </p:nvSpPr>
        <p:spPr>
          <a:xfrm>
            <a:off x="914400" y="4151376"/>
            <a:ext cx="4425696" cy="149961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Reading order</a:t>
            </a:r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chart and table remain the primary evidence.</a:t>
            </a:r>
            <a:endParaRPr lang="en-US" sz="1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Image role</a:t>
            </a:r>
            <a:endParaRPr lang="en-US" sz="1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visual evidence stays bounded in a separate safe frame.</a:t>
            </a:r>
            <a:endParaRPr lang="en-US" sz="1800" dirty="0"/>
          </a:p>
        </p:txBody>
      </p:sp>
      <p:pic>
        <p:nvPicPr>
          <p:cNvPr id="16" name="Image 3" descr="Safe frame diagram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48249" y="3984041"/>
            <a:ext cx="5391302" cy="187086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FCD34D">
              <a:alpha val="80000"/>
            </a:srgbClr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FFFBF5">
              <a:alpha val="0"/>
            </a:srgbClr>
          </a:solidFill>
          <a:ln w="12700">
            <a:solidFill>
              <a:srgbClr val="E7D8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FFFBF5">
              <a:alpha val="0"/>
            </a:srgbClr>
          </a:solidFill>
          <a:ln w="12700">
            <a:solidFill>
              <a:srgbClr val="E7D8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FFFBF5">
              <a:alpha val="0"/>
            </a:srgbClr>
          </a:solidFill>
          <a:ln w="12700">
            <a:solidFill>
              <a:srgbClr val="E7D8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5" name="Text 10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Actions Output Review</a:t>
            </a:r>
            <a:endParaRPr lang="en-US" sz="3400" dirty="0"/>
          </a:p>
        </p:txBody>
      </p:sp>
      <p:sp>
        <p:nvSpPr>
          <p:cNvPr id="16" name="Shape 11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7F3EF"/>
          </a:solidFill>
          <a:ln w="12700">
            <a:solidFill>
              <a:srgbClr val="E7D8C9"/>
            </a:solidFill>
            <a:prstDash val="solid"/>
          </a:ln>
        </p:spPr>
      </p:sp>
      <p:pic>
        <p:nvPicPr>
          <p:cNvPr id="17" name="Image 3" descr="flow icon from tabler-icons (MIT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699321" y="1987296"/>
            <a:ext cx="9255191" cy="7802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Workflow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Theme Preview builds this source across decoration styles.</a:t>
            </a:r>
            <a:endParaRPr lang="en-US" sz="2200" dirty="0"/>
          </a:p>
        </p:txBody>
      </p:sp>
      <p:sp>
        <p:nvSpPr>
          <p:cNvPr id="19" name="Shape 13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7F3EF"/>
          </a:solidFill>
          <a:ln w="12700">
            <a:solidFill>
              <a:srgbClr val="E7D8C9"/>
            </a:solidFill>
            <a:prstDash val="solid"/>
          </a:ln>
        </p:spPr>
      </p:sp>
      <p:pic>
        <p:nvPicPr>
          <p:cNvPr id="20" name="Image 4" descr="verified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699321" y="3313176"/>
            <a:ext cx="9255191" cy="7802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Gallery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Pages shows each styled deck and object-check slide.</a:t>
            </a:r>
            <a:endParaRPr lang="en-US" sz="2200" dirty="0"/>
          </a:p>
        </p:txBody>
      </p:sp>
      <p:sp>
        <p:nvSpPr>
          <p:cNvPr id="22" name="Shape 15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7F3EF"/>
          </a:solidFill>
          <a:ln w="12700">
            <a:solidFill>
              <a:srgbClr val="E7D8C9"/>
            </a:solidFill>
            <a:prstDash val="solid"/>
          </a:ln>
        </p:spPr>
      </p:sp>
      <p:pic>
        <p:nvPicPr>
          <p:cNvPr id="23" name="Image 5" descr="spark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699321" y="4629912"/>
            <a:ext cx="9255191" cy="7802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Ownership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MDPR owns rendering; mdpr-skill may prepare hints.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F2937"/>
      </a:dk1>
      <a:lt1>
        <a:srgbClr val="F7F3EF"/>
      </a:lt1>
      <a:dk2>
        <a:srgbClr val="57534E"/>
      </a:dk2>
      <a:lt2>
        <a:srgbClr val="FFFBF5"/>
      </a:lt2>
      <a:accent1>
        <a:srgbClr val="B45309"/>
      </a:accent1>
      <a:accent2>
        <a:srgbClr val="FCD34D"/>
      </a:accent2>
      <a:accent3>
        <a:srgbClr val="B45309"/>
      </a:accent3>
      <a:accent4>
        <a:srgbClr val="57534E"/>
      </a:accent4>
      <a:accent5>
        <a:srgbClr val="E7D8C9"/>
      </a:accent5>
      <a:accent6>
        <a:srgbClr val="1F2937"/>
      </a:accent6>
      <a:hlink>
        <a:srgbClr val="B45309"/>
      </a:hlink>
      <a:folHlink>
        <a:srgbClr val="FCD34D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mdpresent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MDPR Design Grammar</dc:title>
  <dc:subject>Generated from Markdown through Presentation IR and Layout IR</dc:subject>
  <dc:creator>mdpresent</dc:creator>
  <cp:lastModifiedBy>mdpresent</cp:lastModifiedBy>
  <cp:revision>1</cp:revision>
  <dcterms:created xsi:type="dcterms:W3CDTF">2026-06-20T17:50:30Z</dcterms:created>
  <dcterms:modified xsi:type="dcterms:W3CDTF">2026-06-20T17:50:30Z</dcterms:modified>
</cp:coreProperties>
</file>