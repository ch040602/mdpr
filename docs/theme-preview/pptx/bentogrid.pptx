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8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F0AA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1919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9191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</c:v>
                  </c:pt>
                  <c:pt idx="1">
                    <c:v>Plan</c:v>
                  </c:pt>
                  <c:pt idx="2">
                    <c:v>Render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86</c:v>
                </c:pt>
                <c:pt idx="2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1919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7.xm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sv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sv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8.xml"/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8" Type="http://schemas.openxmlformats.org/officeDocument/2006/relationships/image" Target="../media/image-24-7.png"/><Relationship Id="rId9" Type="http://schemas.openxmlformats.org/officeDocument/2006/relationships/image" Target="../media/image-24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mdpr:mdpr-design-grammar-b3a462:title:__title:mdpr-design-grammar-b3a46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Design Grammar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52" name="mdpr:1-2-0772f8:title:__title:1-2-0772f8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53" name="mdpr:1-2-0772f8:toc-item-1:toc-item-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Teaser Summary</a:t>
            </a:r>
            <a:endParaRPr lang="en-US" sz="1800" dirty="0"/>
          </a:p>
        </p:txBody>
      </p:sp>
      <p:sp>
        <p:nvSpPr>
          <p:cNvPr id="54" name="mdpr:1-2-0772f8:toc-item-2:toc-item-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55" name="mdpr:1-2-0772f8:toc-item-3:toc-item-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Pruned Style Families</a:t>
            </a:r>
            <a:endParaRPr lang="en-US" sz="1800" dirty="0"/>
          </a:p>
        </p:txBody>
      </p:sp>
      <p:sp>
        <p:nvSpPr>
          <p:cNvPr id="56" name="mdpr:1-2-0772f8:toc-item-4:toc-item-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57" name="mdpr:1-2-0772f8:toc-item-5:toc-item-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58" name="mdpr:1-2-0772f8:toc-item-6:toc-item-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Pattern Catalog</a:t>
            </a:r>
            <a:endParaRPr lang="en-US" sz="1800" dirty="0"/>
          </a:p>
        </p:txBody>
      </p:sp>
      <p:sp>
        <p:nvSpPr>
          <p:cNvPr id="59" name="mdpr:1-2-0772f8:toc-item-7:toc-item-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Table Coherence</a:t>
            </a:r>
            <a:endParaRPr lang="en-US" sz="1800" dirty="0"/>
          </a:p>
        </p:txBody>
      </p:sp>
      <p:sp>
        <p:nvSpPr>
          <p:cNvPr id="60" name="mdpr:1-2-0772f8:toc-item-8:toc-item-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Chart and Table Pair</a:t>
            </a:r>
            <a:endParaRPr lang="en-US" sz="1800" dirty="0"/>
          </a:p>
        </p:txBody>
      </p:sp>
      <p:sp>
        <p:nvSpPr>
          <p:cNvPr id="61" name="mdpr:1-2-0772f8:toc-item-9:toc-item-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Editable Proof Objects</a:t>
            </a:r>
            <a:endParaRPr lang="en-US" sz="1800" dirty="0"/>
          </a:p>
        </p:txBody>
      </p:sp>
      <p:sp>
        <p:nvSpPr>
          <p:cNvPr id="62" name="mdpr:1-2-0772f8:toc-item-10:toc-item-1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Object Shape Grammar</a:t>
            </a:r>
            <a:endParaRPr lang="en-US" sz="1800" dirty="0"/>
          </a:p>
        </p:txBody>
      </p:sp>
      <p:sp>
        <p:nvSpPr>
          <p:cNvPr id="63" name="mdpr:1-2-0772f8:toc-item-11:toc-item-1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Icon and Text Aside</a:t>
            </a:r>
            <a:endParaRPr lang="en-US" sz="1800" dirty="0"/>
          </a:p>
        </p:txBody>
      </p:sp>
      <p:sp>
        <p:nvSpPr>
          <p:cNvPr id="64" name="mdpr:1-2-0772f8:toc-item-12:toc-item-1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Overflow Guard</a:t>
            </a:r>
            <a:endParaRPr lang="en-US" sz="1800" dirty="0"/>
          </a:p>
        </p:txBody>
      </p:sp>
      <p:sp>
        <p:nvSpPr>
          <p:cNvPr id="65" name="mdpr:1-2-0772f8:toc-item-13:toc-item-1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Image Safe Frame</a:t>
            </a:r>
            <a:endParaRPr lang="en-US" sz="1800" dirty="0"/>
          </a:p>
        </p:txBody>
      </p:sp>
      <p:sp>
        <p:nvSpPr>
          <p:cNvPr id="66" name="mdpr:1-2-0772f8:toc-item-14:toc-item-1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Mixed Object Packing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3099816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4288536"/>
            <a:ext cx="2011680" cy="45720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mdpr:2-2-7bfb60:title:__title:2-2-7bfb6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2/2)</a:t>
            </a:r>
            <a:endParaRPr lang="en-US" sz="3800" dirty="0"/>
          </a:p>
        </p:txBody>
      </p:sp>
      <p:sp>
        <p:nvSpPr>
          <p:cNvPr id="39" name="mdpr:2-2-7bfb60:toc-item-1:toc-item-15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9" name="mdpr:teaser-summary-7731dc:title:__title:teaser-summary-7731d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Summary</a:t>
            </a:r>
            <a:endParaRPr lang="en-US" sz="3400" dirty="0"/>
          </a:p>
        </p:txBody>
      </p:sp>
      <p:sp>
        <p:nvSpPr>
          <p:cNvPr id="40" name="mdpr:teaser-summary-7731dc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slides should show design range without sacrificing coherence.</a:t>
            </a:r>
            <a:endParaRPr lang="en-US" sz="2200" dirty="0"/>
          </a:p>
        </p:txBody>
      </p:sp>
      <p:sp>
        <p:nvSpPr>
          <p:cNvPr id="41" name="mdpr:teaser-summary-7731dc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Preview styles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distinct decoration grammars, not palette-only swaps.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Pattern range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36+ decoration and layout patterns selected by content role.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 support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native tables, charts, proof objects, diagrams, images, and icon slots.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Validation contract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 text, bounded objects, aligned connectors, and editable PPTX output.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F0AA11">
              <a:alpha val="80000"/>
            </a:srgbClr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5" name="mdpr:1-2-32ac08:title:__title:1-2-32ac0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46" name="Shape 4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7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48" name="mdpr:1-2-32ac08:item-1:block-6-chunk-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49" name="Shape 4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0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51" name="mdpr:1-2-32ac08:item-2:block-6-chunk-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52" name="Shape 4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3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54" name="mdpr:1-2-32ac08:item-3:block-6-chunk-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mdpr:2-2-14f8eb:title:__title:2-2-14f8e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38" name="mdpr:2-2-14f8eb:left:block-6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39" name="mdpr:2-2-14f8eb:right:block-6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F0AA11">
              <a:alpha val="80000"/>
            </a:srgbClr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5" name="mdpr:1-2-dfa474:title:__title:1-2-dfa47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</a:t>
            </a:r>
            <a:endParaRPr lang="en-US" sz="3400" dirty="0"/>
          </a:p>
        </p:txBody>
      </p:sp>
      <p:sp>
        <p:nvSpPr>
          <p:cNvPr id="46" name="Shape 4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7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48" name="mdpr:1-2-dfa474:item-1:block-8-chunk-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Skeuomorphism / claymorphism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tactile depth, bevels, or puffy surfaces.</a:t>
            </a:r>
            <a:endParaRPr lang="en-US" sz="2200" dirty="0"/>
          </a:p>
        </p:txBody>
      </p:sp>
      <p:sp>
        <p:nvSpPr>
          <p:cNvPr id="49" name="Shape 4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0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51" name="mdpr:1-2-dfa474:item-2:block-8-chunk-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Neomorphism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soft raised surfaces.</a:t>
            </a:r>
            <a:endParaRPr lang="en-US" sz="2200" dirty="0"/>
          </a:p>
        </p:txBody>
      </p:sp>
      <p:sp>
        <p:nvSpPr>
          <p:cNvPr id="52" name="Shape 4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3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54" name="mdpr:1-2-dfa474:item-3:block-8-chunk-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Glassmorphism / liquid-glass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translucent panels and refractive highlights.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mdpr:2-2-149bde:title:__title:2-2-149bd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 (Cont. 2/2)</a:t>
            </a:r>
            <a:endParaRPr lang="en-US" sz="3400" dirty="0"/>
          </a:p>
        </p:txBody>
      </p:sp>
      <p:sp>
        <p:nvSpPr>
          <p:cNvPr id="38" name="mdpr:2-2-149bde:left:block-8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brutalism / bentogrid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rules, hard contrast, or tiled information rhythm.</a:t>
            </a:r>
            <a:endParaRPr lang="en-US" sz="2200" dirty="0"/>
          </a:p>
        </p:txBody>
      </p:sp>
      <p:sp>
        <p:nvSpPr>
          <p:cNvPr id="39" name="mdpr:2-2-149bde:right:block-8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Pruning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preview excludes styles that only change palette or background.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mdpr:1-2-5a84f1:title:__title:1-2-5a84f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38" name="mdpr:1-2-5a84f1:left:block-1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39" name="mdpr:1-2-5a84f1:right:block-1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mdpr:2-2-a9df10:title:__title:2-2-a9df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 (Cont. 2/2)</a:t>
            </a:r>
            <a:endParaRPr lang="en-US" sz="3400" dirty="0"/>
          </a:p>
        </p:txBody>
      </p:sp>
      <p:sp>
        <p:nvSpPr>
          <p:cNvPr id="38" name="mdpr:2-2-a9df10:left:block-10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39" name="mdpr:2-2-a9df10:right:block-1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mdpr:pipeline-diagram-51792c:title:__title:pipeline-diagram-51792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36" name="Shape 34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70" name="Text 68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7" name="mdpr:1-2-e3669a:title:__title:1-2-e3669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</a:t>
            </a:r>
            <a:endParaRPr lang="en-US" sz="3400" dirty="0"/>
          </a:p>
        </p:txBody>
      </p:sp>
      <p:sp>
        <p:nvSpPr>
          <p:cNvPr id="48" name="Shape 4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9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50" name="mdpr:1-2-e3669a:item-1:block-15-chunk-1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rounded-card, two-corner-card, flag-drop, ticket-panel, notched-panel, circle-vine.</a:t>
            </a:r>
            <a:endParaRPr lang="en-US" sz="2200" dirty="0"/>
          </a:p>
        </p:txBody>
      </p:sp>
      <p:sp>
        <p:nvSpPr>
          <p:cNvPr id="51" name="Shape 4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2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53" name="mdpr:1-2-e3669a:item-2:block-15-chunk-1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toc-strips, two-column-compare, three-card-grid, six-tile-grid, timeline-rail, pipeline-chain.</a:t>
            </a:r>
            <a:endParaRPr lang="en-US" sz="2200" dirty="0"/>
          </a:p>
        </p:txBody>
      </p:sp>
      <p:sp>
        <p:nvSpPr>
          <p:cNvPr id="54" name="Shape 4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5" name="Image 6" descr="chart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56" name="mdpr:1-2-e3669a:item-3:block-15-chunk-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chart-table-pair, metric-proof, arc-ring-proof, gauge-proof, connected-strip, mixed-object-pack.</a:t>
            </a:r>
            <a:endParaRPr lang="en-US" sz="2200" dirty="0"/>
          </a:p>
        </p:txBody>
      </p:sp>
      <p:sp>
        <p:nvSpPr>
          <p:cNvPr id="57" name="Shape 4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8" name="Image 7" descr="flow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59" name="mdpr:1-2-e3669a:item-4:block-15-chunk-1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Connectors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straight-arrow, elbow-arrow, boundary-attach, overlap-joint, parallel-flow, contrast-flow.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mdpr:2-2-c23e9b:title:__title:2-2-c23e9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 (Cont. 2/2)</a:t>
            </a:r>
            <a:endParaRPr lang="en-US" sz="3400" dirty="0"/>
          </a:p>
        </p:txBody>
      </p:sp>
      <p:sp>
        <p:nvSpPr>
          <p:cNvPr id="38" name="mdpr:2-2-c23e9b:left:block-15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Icons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number-badge, mono-icon-slot, letter-disc, quiet-aside, image-safe-frame, brand-glyph.</a:t>
            </a:r>
            <a:endParaRPr lang="en-US" sz="2200" dirty="0"/>
          </a:p>
        </p:txBody>
      </p:sp>
      <p:sp>
        <p:nvSpPr>
          <p:cNvPr id="39" name="mdpr:2-2-c23e9b:right:block-15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Page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skeuomorphic-bevel, glassmorphism-surface, newmorphic-panel, clay-blob, bento-tile, liquid-lens.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7" name="mdpr:table-coherence-2f9a7b:title:__title:table-coherence-2f9a7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5" name="mdpr:table-coherence-2f9a7b:table:block-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mdpr:1-2-2ff3f0:title:__title:1-2-2ff3f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39" name="mdpr:1-2-2ff3f0:body:block-19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7" name="mdpr:2-2-542095:title:__title:2-2-54209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7" name="mdpr:2-2-542095:table:block-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7" name="mdpr:1-2-b8955f:title:__title:1-2-b8955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38" name="Shape 35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CBD5E1">
              <a:alpha val="82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F0AA11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44" name="Text 41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CBD5E1">
              <a:alpha val="85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CBD5E1">
                <a:alpha val="95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CBD5E1">
                <a:alpha val="95000"/>
              </a:srgbClr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56" name="Text 53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57" name="Text 54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7" name="mdpr:2-2-4dc4c1:title:__title:2-2-4dc4c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38" name="Shape 35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42" name="Shape 39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0AA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46" name="Shape 43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50" name="Shape 47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53" name="Text 50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54" name="Shape 51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F0AA11">
              <a:alpha val="80000"/>
            </a:srgbClr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5" name="mdpr:1-2-ea42c8:title:__title:1-2-ea42c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46" name="Shape 4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7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48" name="mdpr:1-2-ea42c8:item-1:block-27-chunk-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</p:txBody>
      </p:sp>
      <p:sp>
        <p:nvSpPr>
          <p:cNvPr id="49" name="Shape 4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0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51" name="mdpr:1-2-ea42c8:item-2:block-27-chunk-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Ticket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</p:txBody>
      </p:sp>
      <p:sp>
        <p:nvSpPr>
          <p:cNvPr id="52" name="Shape 4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3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54" name="mdpr:1-2-ea42c8:item-3:block-27-chunk-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Two-corner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mdpr:2-2-4f71ba:title:__title:2-2-4f71b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38" name="mdpr:2-2-4f71ba:left:block-2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39" name="mdpr:2-2-4f71ba:right:block-2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7" name="mdpr:icon-and-text-aside-8429fc:title:__title:icon-and-text-aside-8429f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48" name="Shape 4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9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50" name="mdpr:icon-and-text-aside-8429fc:item-1:block-29"/>
          <p:cNvSpPr txBox="1"/>
          <p:nvPr/>
        </p:nvSpPr>
        <p:spPr>
          <a:xfrm>
            <a:off x="1689354" y="2033016"/>
            <a:ext cx="3961638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51" name="Shape 4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2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53" name="mdpr:icon-and-text-aside-8429fc:item-2:block-29"/>
          <p:cNvSpPr txBox="1"/>
          <p:nvPr/>
        </p:nvSpPr>
        <p:spPr>
          <a:xfrm>
            <a:off x="7175754" y="1865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54" name="Shape 4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5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56" name="mdpr:icon-and-text-aside-8429fc:item-3:block-29"/>
          <p:cNvSpPr txBox="1"/>
          <p:nvPr/>
        </p:nvSpPr>
        <p:spPr>
          <a:xfrm>
            <a:off x="16893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57" name="Shape 4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8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59" name="mdpr:icon-and-text-aside-8429fc:item-4:block-29"/>
          <p:cNvSpPr txBox="1"/>
          <p:nvPr/>
        </p:nvSpPr>
        <p:spPr>
          <a:xfrm>
            <a:off x="71757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7" name="mdpr:overflow-guard-f8d03e:title:__title:overflow-guard-f8d03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48" name="Shape 4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9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50" name="mdpr:overflow-guard-f8d03e:item-1:block-31"/>
          <p:cNvSpPr txBox="1"/>
          <p:nvPr/>
        </p:nvSpPr>
        <p:spPr>
          <a:xfrm>
            <a:off x="1689354" y="1865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51" name="Shape 4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2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53" name="mdpr:overflow-guard-f8d03e:item-2:block-31"/>
          <p:cNvSpPr txBox="1"/>
          <p:nvPr/>
        </p:nvSpPr>
        <p:spPr>
          <a:xfrm>
            <a:off x="7175754" y="1697736"/>
            <a:ext cx="3961638" cy="14508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54" name="Shape 4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5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56" name="mdpr:overflow-guard-f8d03e:item-3:block-31"/>
          <p:cNvSpPr txBox="1"/>
          <p:nvPr/>
        </p:nvSpPr>
        <p:spPr>
          <a:xfrm>
            <a:off x="16893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57" name="Shape 4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8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59" name="mdpr:overflow-guard-f8d03e:item-4:block-31"/>
          <p:cNvSpPr txBox="1"/>
          <p:nvPr/>
        </p:nvSpPr>
        <p:spPr>
          <a:xfrm>
            <a:off x="71757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2280" y="1463040"/>
            <a:ext cx="4434840" cy="452628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6812280" y="1463040"/>
            <a:ext cx="443484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2960" y="1463040"/>
            <a:ext cx="56235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mdpr:image-safe-frame-d4d6a4:title:__title:image-safe-frame-d4d6a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Safe Frame</a:t>
            </a:r>
            <a:endParaRPr lang="en-US" sz="3400" dirty="0"/>
          </a:p>
        </p:txBody>
      </p:sp>
      <p:sp>
        <p:nvSpPr>
          <p:cNvPr id="39" name="mdpr:image-safe-frame-d4d6a4:body:block-33-block-33-block-33"/>
          <p:cNvSpPr txBox="1"/>
          <p:nvPr/>
        </p:nvSpPr>
        <p:spPr>
          <a:xfrm>
            <a:off x="896112" y="1572768"/>
            <a:ext cx="5477256" cy="43068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picture content uses an internal safe frame.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background decoration stays outside the picture bounds.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child images never exceed their owning image region.</a:t>
            </a:r>
            <a:endParaRPr lang="en-US" sz="2200" dirty="0"/>
          </a:p>
        </p:txBody>
      </p:sp>
      <p:pic>
        <p:nvPicPr>
          <p:cNvPr id="40" name="mdpr:image-safe-frame-d4d6a4:image-1:block-34" descr="{&quot;mdpr&quot;:{&quot;slideId&quot;:&quot;image-safe-frame-d4d6a4&quot;,&quot;layoutSlideId&quot;:&quot;layout-image-safe-frame-d4d6a4&quot;,&quot;regionId&quot;:&quot;image-1&quot;,&quot;blockIds&quot;:[&quot;block-34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0296" y="1591056"/>
            <a:ext cx="4178808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444752"/>
            <a:ext cx="4617720" cy="2359152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49808" y="1444752"/>
            <a:ext cx="4617720" cy="23591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840" y="1481328"/>
            <a:ext cx="5532120" cy="2212848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577840" y="1481328"/>
            <a:ext cx="5532120" cy="22128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840" y="3913632"/>
            <a:ext cx="5532120" cy="2011680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5577840" y="3913632"/>
            <a:ext cx="55321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841248" y="4041648"/>
            <a:ext cx="45720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2" name="mdpr:mixed-object-packing-438299:title:__title:mixed-object-packing-43829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Mixed Object Packing</a:t>
            </a:r>
            <a:endParaRPr lang="en-US" sz="3400" dirty="0"/>
          </a:p>
        </p:txBody>
      </p:sp>
      <p:graphicFrame>
        <p:nvGraphicFramePr>
          <p:cNvPr id="43" name="Chart 0" descr=""/>
          <p:cNvGraphicFramePr/>
          <p:nvPr/>
        </p:nvGraphicFramePr>
        <p:xfrm>
          <a:off x="877824" y="1591056"/>
          <a:ext cx="4361688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5" name="mdpr:mixed-object-packing-438299:table:block-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81328"/>
          <a:ext cx="5532120" cy="2212848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</a:tblGrid>
              <a:tr h="737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trend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5" name="mdpr:mixed-object-packing-438299:body:block-36"/>
          <p:cNvSpPr txBox="1"/>
          <p:nvPr/>
        </p:nvSpPr>
        <p:spPr>
          <a:xfrm>
            <a:off x="914400" y="4151376"/>
            <a:ext cx="4425696" cy="14996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Reading order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remain the primary evidence.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visual evidence stays bounded in a separate safe frame.</a:t>
            </a:r>
            <a:endParaRPr lang="en-US" sz="1800" dirty="0"/>
          </a:p>
        </p:txBody>
      </p:sp>
      <p:pic>
        <p:nvPicPr>
          <p:cNvPr id="46" name="mdpr:mixed-object-packing-438299:image-1:block-39" descr="{&quot;mdpr&quot;:{&quot;slideId&quot;:&quot;mixed-object-packing-438299&quot;,&quot;layoutSlideId&quot;:&quot;layout-mixed-object-packing-438299&quot;,&quot;regionId&quot;:&quot;image-1&quot;,&quot;blockIds&quot;:[&quot;block-39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8249" y="3984041"/>
            <a:ext cx="5391302" cy="18708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9514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207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592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978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056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442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36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65992" y="530352"/>
            <a:ext cx="0" cy="5797296"/>
          </a:xfrm>
          <a:prstGeom prst="line">
            <a:avLst/>
          </a:prstGeom>
          <a:noFill/>
          <a:ln w="12700">
            <a:solidFill>
              <a:srgbClr val="CBD5E1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3035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09728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166420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23113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9806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6499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498848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065776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632704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6199632"/>
            <a:ext cx="11002975" cy="0"/>
          </a:xfrm>
          <a:prstGeom prst="line">
            <a:avLst/>
          </a:prstGeom>
          <a:noFill/>
          <a:ln w="12700">
            <a:solidFill>
              <a:srgbClr val="CBD5E1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0639" y="4572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F0AA11">
              <a:alpha val="80000"/>
            </a:srgbClr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F0AA11"/>
          </a:solidFill>
          <a:ln w="12700">
            <a:solidFill>
              <a:srgbClr val="F0AA11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5" name="mdpr:actions-output-review-326e07:title:__title:actions-output-review-326e0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46" name="Shape 4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7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48" name="mdpr:actions-output-review-326e07:item-1:block-4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49" name="Shape 4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0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51" name="mdpr:actions-output-review-326e07:item-2:block-4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52" name="Shape 4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3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54" name="mdpr:actions-output-review-326e07:item-3:block-4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1"/>
      </a:dk1>
      <a:lt1>
        <a:srgbClr val="F8FAFC"/>
      </a:lt1>
      <a:dk2>
        <a:srgbClr val="919191"/>
      </a:dk2>
      <a:lt2>
        <a:srgbClr val="FFFFFF"/>
      </a:lt2>
      <a:accent1>
        <a:srgbClr val="0F766E"/>
      </a:accent1>
      <a:accent2>
        <a:srgbClr val="F0AA11"/>
      </a:accent2>
      <a:accent3>
        <a:srgbClr val="0F766E"/>
      </a:accent3>
      <a:accent4>
        <a:srgbClr val="919191"/>
      </a:accent4>
      <a:accent5>
        <a:srgbClr val="CBD5E1"/>
      </a:accent5>
      <a:accent6>
        <a:srgbClr val="111111"/>
      </a:accent6>
      <a:hlink>
        <a:srgbClr val="0F766E"/>
      </a:hlink>
      <a:folHlink>
        <a:srgbClr val="F0AA11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Design Grammar</dc:title>
  <dc:subject>Generated from Markdown through Presentation IR and Layout IR</dc:subject>
  <dc:creator>mdpresent</dc:creator>
  <cp:lastModifiedBy>mdpresent</cp:lastModifiedBy>
  <cp:revision>1</cp:revision>
  <dcterms:created xsi:type="dcterms:W3CDTF">2026-07-06T04:52:37Z</dcterms:created>
  <dcterms:modified xsi:type="dcterms:W3CDTF">2026-07-06T04:52:37Z</dcterms:modified>
</cp:coreProperties>
</file>