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5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Coverage</c:v>
                </c:pt>
              </c:strCache>
            </c:strRef>
          </c:tx>
          <c:spPr>
            <a:solidFill>
              <a:srgbClr val="1118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</c:v>
                </c:pt>
                <c:pt idx="1">
                  <c:v>88</c:v>
                </c:pt>
                <c:pt idx="2">
                  <c:v>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Defects</c:v>
                </c:pt>
              </c:strCache>
            </c:strRef>
          </c:tx>
          <c:spPr>
            <a:solidFill>
              <a:srgbClr val="E5E7E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Parser</c:v>
                  </c:pt>
                  <c:pt idx="1">
                    <c:v>Layout</c:v>
                  </c:pt>
                  <c:pt idx="2">
                    <c:v>PPTX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5</c:v>
                </c:pt>
                <c:pt idx="2">
                  <c:v>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11827"/>
                </a:solidFill>
                <a:latin typeface="Pretendard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B5563"/>
                </a:solidFill>
                <a:latin typeface="Pretendard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4B5563"/>
              </a:solidFill>
              <a:latin typeface="Pretendard"/>
              <a:cs typeface="Pretendard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image" Target="../media/image-4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image" Target="../media/image-6-9.png"/><Relationship Id="rId10" Type="http://schemas.openxmlformats.org/officeDocument/2006/relationships/image" Target="../media/image-6-10.svg"/><Relationship Id="rId11" Type="http://schemas.openxmlformats.org/officeDocument/2006/relationships/image" Target="../media/image-6-11.png"/><Relationship Id="rId12" Type="http://schemas.openxmlformats.org/officeDocument/2006/relationships/image" Target="../media/image-6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image" Target="../media/image-8-11.png"/><Relationship Id="rId12" Type="http://schemas.openxmlformats.org/officeDocument/2006/relationships/image" Target="../media/image-8-12.svg"/><Relationship Id="rId13" Type="http://schemas.openxmlformats.org/officeDocument/2006/relationships/image" Target="../media/image-8-13.png"/><Relationship Id="rId14" Type="http://schemas.openxmlformats.org/officeDocument/2006/relationships/image" Target="../media/image-8-14.svg"/><Relationship Id="rId15" Type="http://schemas.openxmlformats.org/officeDocument/2006/relationships/image" Target="../media/image-8-15.png"/><Relationship Id="rId16" Type="http://schemas.openxmlformats.org/officeDocument/2006/relationships/image" Target="../media/image-8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5.xml"/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image" Target="../media/image-17-7.png"/><Relationship Id="rId8" Type="http://schemas.openxmlformats.org/officeDocument/2006/relationships/image" Target="../media/image-17-8.svg"/><Relationship Id="rId9" Type="http://schemas.openxmlformats.org/officeDocument/2006/relationships/image" Target="../media/image-17-9.png"/><Relationship Id="rId10" Type="http://schemas.openxmlformats.org/officeDocument/2006/relationships/image" Target="../media/image-17-10.svg"/><Relationship Id="rId11" Type="http://schemas.openxmlformats.org/officeDocument/2006/relationships/image" Target="../media/image-17-11.png"/><Relationship Id="rId12" Type="http://schemas.openxmlformats.org/officeDocument/2006/relationships/image" Target="../media/image-17-12.svg"/><Relationship Id="rId13" Type="http://schemas.openxmlformats.org/officeDocument/2006/relationships/image" Target="../media/image-17-13.png"/><Relationship Id="rId14" Type="http://schemas.openxmlformats.org/officeDocument/2006/relationships/image" Target="../media/image-17-14.svg"/><Relationship Id="rId15" Type="http://schemas.openxmlformats.org/officeDocument/2006/relationships/image" Target="../media/image-17-15.png"/><Relationship Id="rId16" Type="http://schemas.openxmlformats.org/officeDocument/2006/relationships/image" Target="../media/image-17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image" Target="../media/image-18-5.png"/><Relationship Id="rId6" Type="http://schemas.openxmlformats.org/officeDocument/2006/relationships/image" Target="../media/image-18-6.svg"/><Relationship Id="rId7" Type="http://schemas.openxmlformats.org/officeDocument/2006/relationships/image" Target="../media/image-18-7.png"/><Relationship Id="rId8" Type="http://schemas.openxmlformats.org/officeDocument/2006/relationships/image" Target="../media/image-18-8.svg"/><Relationship Id="rId9" Type="http://schemas.openxmlformats.org/officeDocument/2006/relationships/image" Target="../media/image-18-9.png"/><Relationship Id="rId10" Type="http://schemas.openxmlformats.org/officeDocument/2006/relationships/image" Target="../media/image-18-10.svg"/><Relationship Id="rId11" Type="http://schemas.openxmlformats.org/officeDocument/2006/relationships/image" Target="../media/image-18-11.png"/><Relationship Id="rId12" Type="http://schemas.openxmlformats.org/officeDocument/2006/relationships/image" Target="../media/image-18-12.svg"/><Relationship Id="rId13" Type="http://schemas.openxmlformats.org/officeDocument/2006/relationships/image" Target="../media/image-18-13.png"/><Relationship Id="rId14" Type="http://schemas.openxmlformats.org/officeDocument/2006/relationships/image" Target="../media/image-18-14.svg"/><Relationship Id="rId15" Type="http://schemas.openxmlformats.org/officeDocument/2006/relationships/image" Target="../media/image-18-15.png"/><Relationship Id="rId16" Type="http://schemas.openxmlformats.org/officeDocument/2006/relationships/image" Target="../media/image-18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svg"/><Relationship Id="rId5" Type="http://schemas.openxmlformats.org/officeDocument/2006/relationships/image" Target="../media/image-19-5.png"/><Relationship Id="rId6" Type="http://schemas.openxmlformats.org/officeDocument/2006/relationships/image" Target="../media/image-19-6.svg"/><Relationship Id="rId7" Type="http://schemas.openxmlformats.org/officeDocument/2006/relationships/image" Target="../media/image-19-7.png"/><Relationship Id="rId8" Type="http://schemas.openxmlformats.org/officeDocument/2006/relationships/image" Target="../media/image-19-8.svg"/><Relationship Id="rId9" Type="http://schemas.openxmlformats.org/officeDocument/2006/relationships/image" Target="../media/image-19-9.png"/><Relationship Id="rId10" Type="http://schemas.openxmlformats.org/officeDocument/2006/relationships/image" Target="../media/image-19-10.svg"/><Relationship Id="rId11" Type="http://schemas.openxmlformats.org/officeDocument/2006/relationships/image" Target="../media/image-19-11.png"/><Relationship Id="rId12" Type="http://schemas.openxmlformats.org/officeDocument/2006/relationships/image" Target="../media/image-19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" y="713232"/>
            <a:ext cx="2194505" cy="0"/>
          </a:xfrm>
          <a:prstGeom prst="line">
            <a:avLst/>
          </a:prstGeom>
          <a:noFill/>
          <a:ln w="12700">
            <a:solidFill>
              <a:srgbClr val="111827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38767" y="6199632"/>
            <a:ext cx="2103120" cy="0"/>
          </a:xfrm>
          <a:prstGeom prst="line">
            <a:avLst/>
          </a:prstGeom>
          <a:noFill/>
          <a:ln w="12700">
            <a:solidFill>
              <a:srgbClr val="E5E7EB">
                <a:alpha val="82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2057400"/>
            <a:ext cx="10332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4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MDPR Composition Grammar QA</a:t>
            </a:r>
            <a:endParaRPr lang="en-US" sz="4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" y="713232"/>
            <a:ext cx="2194505" cy="0"/>
          </a:xfrm>
          <a:prstGeom prst="line">
            <a:avLst/>
          </a:prstGeom>
          <a:noFill/>
          <a:ln w="12700">
            <a:solidFill>
              <a:srgbClr val="111827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38767" y="6199632"/>
            <a:ext cx="2103120" cy="0"/>
          </a:xfrm>
          <a:prstGeom prst="line">
            <a:avLst/>
          </a:prstGeom>
          <a:noFill/>
          <a:ln w="12700">
            <a:solidFill>
              <a:srgbClr val="E5E7EB">
                <a:alpha val="8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188720"/>
            <a:ext cx="10515600" cy="4572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6199632"/>
            <a:ext cx="2011680" cy="4572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080760" y="1389888"/>
            <a:ext cx="22860" cy="4663440"/>
          </a:xfrm>
          <a:prstGeom prst="rect">
            <a:avLst/>
          </a:prstGeom>
          <a:solidFill>
            <a:srgbClr val="E5E7EB">
              <a:alpha val="90000"/>
            </a:srgbClr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389888"/>
            <a:ext cx="73152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22960" y="2194560"/>
            <a:ext cx="73152" cy="6583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22960" y="2990088"/>
            <a:ext cx="73152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3794760"/>
            <a:ext cx="73152" cy="6583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2960" y="4599432"/>
            <a:ext cx="73152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22960" y="5394960"/>
            <a:ext cx="73152" cy="6583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72784" y="1389888"/>
            <a:ext cx="73152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72784" y="2194560"/>
            <a:ext cx="73152" cy="6583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72784" y="2990088"/>
            <a:ext cx="73152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272784" y="3794760"/>
            <a:ext cx="73152" cy="6583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72784" y="4599432"/>
            <a:ext cx="73152" cy="65836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72784" y="5394960"/>
            <a:ext cx="73152" cy="65836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384048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Agenda</a:t>
            </a:r>
            <a:endParaRPr lang="en-US" sz="3800" dirty="0"/>
          </a:p>
        </p:txBody>
      </p:sp>
      <p:sp>
        <p:nvSpPr>
          <p:cNvPr id="20" name="Text 18"/>
          <p:cNvSpPr txBox="1"/>
          <p:nvPr/>
        </p:nvSpPr>
        <p:spPr>
          <a:xfrm>
            <a:off x="1042416" y="1481328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01  Preview Purpose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042416" y="2286000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02  Composition Contract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042416" y="3081528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03  Style Families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1042416" y="3886200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04  Semantic Blocks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1042416" y="4690872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05  Pipeline Diagram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1042416" y="5486400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06  Table Coherence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1481328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07  Chart and Table Pair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2286000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08  Editable Proof Objects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492240" y="3081528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09  Object Shape Grammar</a:t>
            </a:r>
            <a:endParaRPr lang="en-US" sz="1800" dirty="0"/>
          </a:p>
        </p:txBody>
      </p:sp>
      <p:sp>
        <p:nvSpPr>
          <p:cNvPr id="29" name="Text 27"/>
          <p:cNvSpPr txBox="1"/>
          <p:nvPr/>
        </p:nvSpPr>
        <p:spPr>
          <a:xfrm>
            <a:off x="6492240" y="3886200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 Icon and Text Aside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6492240" y="4690872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 Overflow Guard</a:t>
            </a:r>
            <a:endParaRPr lang="en-US" sz="1800" dirty="0"/>
          </a:p>
        </p:txBody>
      </p:sp>
      <p:sp>
        <p:nvSpPr>
          <p:cNvPr id="31" name="Text 29"/>
          <p:cNvSpPr txBox="1"/>
          <p:nvPr/>
        </p:nvSpPr>
        <p:spPr>
          <a:xfrm>
            <a:off x="6492240" y="5486400"/>
            <a:ext cx="4645152" cy="475488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 Actions Output Review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" y="713232"/>
            <a:ext cx="2194505" cy="0"/>
          </a:xfrm>
          <a:prstGeom prst="line">
            <a:avLst/>
          </a:prstGeom>
          <a:noFill/>
          <a:ln w="12700">
            <a:solidFill>
              <a:srgbClr val="111827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38767" y="6199632"/>
            <a:ext cx="2103120" cy="0"/>
          </a:xfrm>
          <a:prstGeom prst="line">
            <a:avLst/>
          </a:prstGeom>
          <a:noFill/>
          <a:ln w="12700">
            <a:solidFill>
              <a:srgbClr val="E5E7EB">
                <a:alpha val="8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3063240"/>
            <a:ext cx="10241280" cy="7315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1325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046988" y="1549908"/>
            <a:ext cx="73152" cy="1060704"/>
          </a:xfrm>
          <a:prstGeom prst="roundRect">
            <a:avLst>
              <a:gd name="adj" fmla="val 25000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Preview Purpose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1298448" y="1545336"/>
            <a:ext cx="9637776" cy="10698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Generated decks must prove hierarchy, evidence, and object grammar before decoration.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987552" y="3172968"/>
            <a:ext cx="10094976" cy="247802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Fixture type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Actions theme preview source.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Source shape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short bullets, bounded tables, and one-slide diagrams.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Review target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readable, coherent, composition-aware output.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" y="713232"/>
            <a:ext cx="2194505" cy="0"/>
          </a:xfrm>
          <a:prstGeom prst="line">
            <a:avLst/>
          </a:prstGeom>
          <a:noFill/>
          <a:ln w="12700">
            <a:solidFill>
              <a:srgbClr val="111827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38767" y="6199632"/>
            <a:ext cx="2103120" cy="0"/>
          </a:xfrm>
          <a:prstGeom prst="line">
            <a:avLst/>
          </a:prstGeom>
          <a:noFill/>
          <a:ln w="12700">
            <a:solidFill>
              <a:srgbClr val="E5E7EB">
                <a:alpha val="8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E5E7EB">
              <a:alpha val="80000"/>
            </a:srgbClr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Composition Contract</a:t>
            </a:r>
            <a:endParaRPr lang="en-US" sz="3400" dirty="0"/>
          </a:p>
        </p:txBody>
      </p:sp>
      <p:sp>
        <p:nvSpPr>
          <p:cNvPr id="12" name="Shape 7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3" name="Image 3" descr="article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699321" y="195754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 signal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title scale and first-viewport identity.</a:t>
            </a:r>
            <a:endParaRPr lang="en-US" sz="2200" dirty="0"/>
          </a:p>
        </p:txBody>
      </p:sp>
      <p:sp>
        <p:nvSpPr>
          <p:cNvPr id="15" name="Shape 9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6" name="Image 4" descr="chart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699321" y="328342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Evidence rhythm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chart, table, and proof objects stay connected.</a:t>
            </a:r>
            <a:endParaRPr lang="en-US" sz="2200" dirty="0"/>
          </a:p>
        </p:txBody>
      </p:sp>
      <p:sp>
        <p:nvSpPr>
          <p:cNvPr id="18" name="Shape 11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9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699321" y="4600164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grammar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cards, tickets, flags, and panels vary coherently.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" y="713232"/>
            <a:ext cx="2194505" cy="0"/>
          </a:xfrm>
          <a:prstGeom prst="line">
            <a:avLst/>
          </a:prstGeom>
          <a:noFill/>
          <a:ln w="12700">
            <a:solidFill>
              <a:srgbClr val="111827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38767" y="6199632"/>
            <a:ext cx="2103120" cy="0"/>
          </a:xfrm>
          <a:prstGeom prst="line">
            <a:avLst/>
          </a:prstGeom>
          <a:noFill/>
          <a:ln w="12700">
            <a:solidFill>
              <a:srgbClr val="E5E7EB">
                <a:alpha val="8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Composition Contract (Cont. 2/2)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Connector clarity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arrows attach to object boundaries.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Bounds discipline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no region exceeds the slide.</a:t>
            </a:r>
            <a:endParaRPr lang="en-US" sz="2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" y="713232"/>
            <a:ext cx="2194505" cy="0"/>
          </a:xfrm>
          <a:prstGeom prst="line">
            <a:avLst/>
          </a:prstGeom>
          <a:noFill/>
          <a:ln w="12700">
            <a:solidFill>
              <a:srgbClr val="111827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38767" y="6199632"/>
            <a:ext cx="2103120" cy="0"/>
          </a:xfrm>
          <a:prstGeom prst="line">
            <a:avLst/>
          </a:prstGeom>
          <a:noFill/>
          <a:ln w="12700">
            <a:solidFill>
              <a:srgbClr val="E5E7EB">
                <a:alpha val="8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E5E7EB">
              <a:alpha val="80000"/>
            </a:srgbClr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Style Families</a:t>
            </a:r>
            <a:endParaRPr lang="en-US" sz="3400" dirty="0"/>
          </a:p>
        </p:txBody>
      </p:sp>
      <p:sp>
        <p:nvSpPr>
          <p:cNvPr id="12" name="Shape 7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3" name="Image 3" descr="article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699321" y="195754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 / minimalism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restrained structural baselines.</a:t>
            </a:r>
            <a:endParaRPr lang="en-US" sz="2200" dirty="0"/>
          </a:p>
        </p:txBody>
      </p:sp>
      <p:sp>
        <p:nvSpPr>
          <p:cNvPr id="15" name="Shape 9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6" name="Image 4" descr="artic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699321" y="328342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Executive / technical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structured operational hierarchy.</a:t>
            </a:r>
            <a:endParaRPr lang="en-US" sz="2200" dirty="0"/>
          </a:p>
        </p:txBody>
      </p:sp>
      <p:sp>
        <p:nvSpPr>
          <p:cNvPr id="18" name="Shape 11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9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699321" y="4600164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Editorial / magazine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warmer page rhythm.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" y="713232"/>
            <a:ext cx="2194505" cy="0"/>
          </a:xfrm>
          <a:prstGeom prst="line">
            <a:avLst/>
          </a:prstGeom>
          <a:noFill/>
          <a:ln w="12700">
            <a:solidFill>
              <a:srgbClr val="111827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38767" y="6199632"/>
            <a:ext cx="2103120" cy="0"/>
          </a:xfrm>
          <a:prstGeom prst="line">
            <a:avLst/>
          </a:prstGeom>
          <a:noFill/>
          <a:ln w="12700">
            <a:solidFill>
              <a:srgbClr val="E5E7EB">
                <a:alpha val="8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Style Families (Cont. 2/2)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Minimalism / newmorphism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sparse or softly raised surfaces.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Glass / grid / data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distinct surface and background grammar.</a:t>
            </a:r>
            <a:endParaRPr lang="en-US" sz="2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" y="713232"/>
            <a:ext cx="2194505" cy="0"/>
          </a:xfrm>
          <a:prstGeom prst="line">
            <a:avLst/>
          </a:prstGeom>
          <a:noFill/>
          <a:ln w="12700">
            <a:solidFill>
              <a:srgbClr val="111827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38767" y="6199632"/>
            <a:ext cx="2103120" cy="0"/>
          </a:xfrm>
          <a:prstGeom prst="line">
            <a:avLst/>
          </a:prstGeom>
          <a:noFill/>
          <a:ln w="12700">
            <a:solidFill>
              <a:srgbClr val="E5E7EB">
                <a:alpha val="8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Semantic Blocks</a:t>
            </a:r>
            <a:endParaRPr lang="en-US" sz="3400" dirty="0"/>
          </a:p>
        </p:txBody>
      </p:sp>
      <p:sp>
        <p:nvSpPr>
          <p:cNvPr id="13" name="Shape 7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4" name="Image 4" descr="tab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Headings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stable slide boundaries.</a:t>
            </a:r>
            <a:endParaRPr lang="en-US" sz="2200" dirty="0"/>
          </a:p>
        </p:txBody>
      </p:sp>
      <p:sp>
        <p:nvSpPr>
          <p:cNvPr id="16" name="Shape 9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7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Lists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ordered and unordered structure.</a:t>
            </a:r>
            <a:endParaRPr lang="en-US" sz="2200" dirty="0"/>
          </a:p>
        </p:txBody>
      </p:sp>
      <p:sp>
        <p:nvSpPr>
          <p:cNvPr id="19" name="Shape 11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0" name="Image 6" descr="article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Constraint: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Indented description lines stay under the bold label.</a:t>
            </a:r>
            <a:endParaRPr lang="en-US" sz="2200" dirty="0"/>
          </a:p>
        </p:txBody>
      </p:sp>
      <p:sp>
        <p:nvSpPr>
          <p:cNvPr id="22" name="Shape 13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3" name="Image 7" descr="table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Emphasis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bold and italic remain editable.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" y="713232"/>
            <a:ext cx="2194505" cy="0"/>
          </a:xfrm>
          <a:prstGeom prst="line">
            <a:avLst/>
          </a:prstGeom>
          <a:noFill/>
          <a:ln w="12700">
            <a:solidFill>
              <a:srgbClr val="111827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38767" y="6199632"/>
            <a:ext cx="2103120" cy="0"/>
          </a:xfrm>
          <a:prstGeom prst="line">
            <a:avLst/>
          </a:prstGeom>
          <a:noFill/>
          <a:ln w="12700">
            <a:solidFill>
              <a:srgbClr val="E5E7EB">
                <a:alpha val="8200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Pipeline Diagram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4002024" y="3095244"/>
            <a:ext cx="457200" cy="0"/>
          </a:xfrm>
          <a:prstGeom prst="line">
            <a:avLst/>
          </a:prstGeom>
          <a:noFill/>
          <a:ln w="12700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6" name="Shape 4"/>
          <p:cNvSpPr/>
          <p:nvPr/>
        </p:nvSpPr>
        <p:spPr>
          <a:xfrm>
            <a:off x="7748016" y="3095244"/>
            <a:ext cx="457200" cy="0"/>
          </a:xfrm>
          <a:prstGeom prst="line">
            <a:avLst/>
          </a:prstGeom>
          <a:noFill/>
          <a:ln w="12700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7" name="Shape 5"/>
          <p:cNvSpPr/>
          <p:nvPr/>
        </p:nvSpPr>
        <p:spPr>
          <a:xfrm>
            <a:off x="9849612" y="3627791"/>
            <a:ext cx="0" cy="416235"/>
          </a:xfrm>
          <a:prstGeom prst="line">
            <a:avLst/>
          </a:prstGeom>
          <a:noFill/>
          <a:ln w="12700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8" name="Shape 6"/>
          <p:cNvSpPr/>
          <p:nvPr/>
        </p:nvSpPr>
        <p:spPr>
          <a:xfrm>
            <a:off x="7748016" y="4576572"/>
            <a:ext cx="457200" cy="0"/>
          </a:xfrm>
          <a:prstGeom prst="line">
            <a:avLst/>
          </a:prstGeom>
          <a:noFill/>
          <a:ln w="12700">
            <a:solidFill>
              <a:srgbClr val="111827"/>
            </a:solidFill>
            <a:prstDash val="solid"/>
            <a:headEnd type="triangle"/>
          </a:ln>
        </p:spPr>
      </p:sp>
      <p:sp>
        <p:nvSpPr>
          <p:cNvPr id="9" name="Shape 7"/>
          <p:cNvSpPr/>
          <p:nvPr/>
        </p:nvSpPr>
        <p:spPr>
          <a:xfrm>
            <a:off x="4002024" y="4576572"/>
            <a:ext cx="457200" cy="0"/>
          </a:xfrm>
          <a:prstGeom prst="line">
            <a:avLst/>
          </a:prstGeom>
          <a:noFill/>
          <a:ln w="12700">
            <a:solidFill>
              <a:srgbClr val="111827"/>
            </a:solidFill>
            <a:prstDash val="solid"/>
            <a:headEnd type="triangle"/>
          </a:ln>
        </p:spPr>
      </p:sp>
      <p:sp>
        <p:nvSpPr>
          <p:cNvPr id="10" name="Shape 8"/>
          <p:cNvSpPr/>
          <p:nvPr/>
        </p:nvSpPr>
        <p:spPr>
          <a:xfrm>
            <a:off x="640080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510028"/>
            <a:ext cx="3435096" cy="1097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04672" y="2907975"/>
            <a:ext cx="374538" cy="37453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04672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1325514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Markdown source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386072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386072" y="2510028"/>
            <a:ext cx="3435096" cy="1097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50664" y="2907975"/>
            <a:ext cx="374538" cy="37453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50664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071506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Parse blocks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8132064" y="2510028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132064" y="2510028"/>
            <a:ext cx="3435096" cy="1097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96656" y="2907975"/>
            <a:ext cx="374538" cy="37453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296656" y="2907975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8817498" y="2638044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Split slides</a:t>
            </a: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8132064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132064" y="3991356"/>
            <a:ext cx="3435096" cy="1097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96656" y="4389303"/>
            <a:ext cx="374538" cy="37453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296656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8817498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Layout objects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386072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386072" y="3991356"/>
            <a:ext cx="3435096" cy="1097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50664" y="4389303"/>
            <a:ext cx="374538" cy="37453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550664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5071506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 overflow</a:t>
            </a: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640080" y="3991356"/>
            <a:ext cx="3435096" cy="1170432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12700">
            <a:solidFill>
              <a:srgbClr val="111827"/>
            </a:solidFill>
            <a:prstDash val="solid"/>
          </a:ln>
          <a:effectLst>
            <a:outerShdw sx="100000" sy="100000" kx="0" ky="0" algn="bl" rotWithShape="0" blurRad="12700" dist="50800" dir="27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640080" y="3991356"/>
            <a:ext cx="3435096" cy="1097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4672" y="4389303"/>
            <a:ext cx="374538" cy="374538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04672" y="4389303"/>
            <a:ext cx="374538" cy="37453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1325514" y="4119372"/>
            <a:ext cx="2585070" cy="91440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Render PPTX HTML PDF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" y="713232"/>
            <a:ext cx="2194505" cy="0"/>
          </a:xfrm>
          <a:prstGeom prst="line">
            <a:avLst/>
          </a:prstGeom>
          <a:noFill/>
          <a:ln w="12700">
            <a:solidFill>
              <a:srgbClr val="111827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38767" y="6199632"/>
            <a:ext cx="2103120" cy="0"/>
          </a:xfrm>
          <a:prstGeom prst="line">
            <a:avLst/>
          </a:prstGeom>
          <a:noFill/>
          <a:ln w="12700">
            <a:solidFill>
              <a:srgbClr val="E5E7EB">
                <a:alpha val="8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 Coherence</a:t>
            </a:r>
            <a:endParaRPr lang="en-US" sz="3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63040"/>
          <a:ext cx="10241280" cy="448056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8961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Object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Renderer expectation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QA signal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Text box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editable, middle aligned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readable minimum size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Table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native table object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header fill and cell padding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Diagram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nodes and connectors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 clipped labels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961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Chart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theme-colored data object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contrast and value clarity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" y="713232"/>
            <a:ext cx="2194505" cy="0"/>
          </a:xfrm>
          <a:prstGeom prst="line">
            <a:avLst/>
          </a:prstGeom>
          <a:noFill/>
          <a:ln w="12700">
            <a:solidFill>
              <a:srgbClr val="111827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38767" y="6199632"/>
            <a:ext cx="2103120" cy="0"/>
          </a:xfrm>
          <a:prstGeom prst="line">
            <a:avLst/>
          </a:prstGeom>
          <a:noFill/>
          <a:ln w="12700">
            <a:solidFill>
              <a:srgbClr val="E5E7EB">
                <a:alpha val="8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41248" y="1517904"/>
            <a:ext cx="3822192" cy="7315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56048" y="1426464"/>
            <a:ext cx="6199632" cy="44074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Chart and Table Pair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914400" y="1627632"/>
            <a:ext cx="3675888" cy="4005072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Numeric evidence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chart and table stay side by side.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Data density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values remain readable without shrinking below floor.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Comparison goal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coverage and defects are visible together.</a:t>
            </a:r>
            <a:endParaRPr lang="en-US" sz="22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5084064" y="1572768"/>
          <a:ext cx="594360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" y="713232"/>
            <a:ext cx="2194505" cy="0"/>
          </a:xfrm>
          <a:prstGeom prst="line">
            <a:avLst/>
          </a:prstGeom>
          <a:noFill/>
          <a:ln w="12700">
            <a:solidFill>
              <a:srgbClr val="111827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38767" y="6199632"/>
            <a:ext cx="2103120" cy="0"/>
          </a:xfrm>
          <a:prstGeom prst="line">
            <a:avLst/>
          </a:prstGeom>
          <a:noFill/>
          <a:ln w="12700">
            <a:solidFill>
              <a:srgbClr val="E5E7EB">
                <a:alpha val="8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Chart and Table Pair (Cont. 2/2)</a:t>
            </a:r>
            <a:endParaRPr lang="en-US" sz="3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14400" y="1463040"/>
          <a:ext cx="10241280" cy="4480560"/>
        </p:xfrm>
        <a:graphic>
          <a:graphicData uri="http://schemas.openxmlformats.org/drawingml/2006/table">
            <a:tbl>
              <a:tblPr/>
              <a:tblGrid>
                <a:gridCol w="3413760"/>
                <a:gridCol w="3413760"/>
                <a:gridCol w="3413760"/>
              </a:tblGrid>
              <a:tr h="11201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Stage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Coverage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2200" b="1" dirty="0">
                          <a:solidFill>
                            <a:srgbClr val="FFFFFF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Defects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827"/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Parser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92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Layout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88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0"/>
                      </a:srgbClr>
                    </a:solidFill>
                  </a:tcPr>
                </a:tc>
              </a:tr>
              <a:tr h="11201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2200" b="1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PPTX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95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2200" dirty="0">
                          <a:solidFill>
                            <a:srgbClr val="111827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</a:t>
                      </a:r>
                      <a:endParaRPr lang="en-US" sz="22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4864" marR="54864" marT="36576" marB="36576" anchor="ctr">
                    <a:lnL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5E7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" y="713232"/>
            <a:ext cx="2194505" cy="0"/>
          </a:xfrm>
          <a:prstGeom prst="line">
            <a:avLst/>
          </a:prstGeom>
          <a:noFill/>
          <a:ln w="12700">
            <a:solidFill>
              <a:srgbClr val="111827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38767" y="6199632"/>
            <a:ext cx="2103120" cy="0"/>
          </a:xfrm>
          <a:prstGeom prst="line">
            <a:avLst/>
          </a:prstGeom>
          <a:noFill/>
          <a:ln w="12700">
            <a:solidFill>
              <a:srgbClr val="E5E7EB">
                <a:alpha val="82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343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Proof Objects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0"/>
              <a:gd name="adj2" fmla="val 21540000"/>
              <a:gd name="adj3" fmla="val 12000"/>
            </a:avLst>
          </a:prstGeom>
          <a:solidFill>
            <a:srgbClr val="E5E7EB">
              <a:alpha val="82000"/>
            </a:srgbClr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16200000"/>
              <a:gd name="adj2" fmla="val 21540000"/>
              <a:gd name="adj3" fmla="val 12000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09713" y="2551322"/>
            <a:ext cx="2075395" cy="2075395"/>
          </a:xfrm>
          <a:prstGeom prst="blockArc">
            <a:avLst>
              <a:gd name="adj1" fmla="val 0"/>
              <a:gd name="adj2" fmla="val 12780000"/>
              <a:gd name="adj3" fmla="val 12000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514348" y="3049296"/>
            <a:ext cx="145278" cy="145278"/>
          </a:xfrm>
          <a:prstGeom prst="ellipse">
            <a:avLst/>
          </a:prstGeom>
          <a:solidFill>
            <a:srgbClr val="E5E7E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704039" y="2945647"/>
            <a:ext cx="1286745" cy="128674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1766300" y="3236203"/>
            <a:ext cx="1162221" cy="4980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0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84%</a:t>
            </a:r>
            <a:endParaRPr lang="en-US" sz="3000" dirty="0"/>
          </a:p>
        </p:txBody>
      </p:sp>
      <p:sp>
        <p:nvSpPr>
          <p:cNvPr id="12" name="Text 9"/>
          <p:cNvSpPr txBox="1"/>
          <p:nvPr/>
        </p:nvSpPr>
        <p:spPr>
          <a:xfrm>
            <a:off x="1683285" y="3755052"/>
            <a:ext cx="1328253" cy="3735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Coverage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796589" y="2567178"/>
            <a:ext cx="137160" cy="137160"/>
          </a:xfrm>
          <a:prstGeom prst="ellipse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025189" y="241630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Validated 84%</a:t>
            </a: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796589" y="3006090"/>
            <a:ext cx="137160" cy="137160"/>
          </a:xfrm>
          <a:prstGeom prst="ellipse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025189" y="2855214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Remaining 16%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658990" y="3835908"/>
            <a:ext cx="4051962" cy="256032"/>
          </a:xfrm>
          <a:prstGeom prst="roundRect">
            <a:avLst>
              <a:gd name="adj" fmla="val 28571"/>
            </a:avLst>
          </a:prstGeom>
          <a:solidFill>
            <a:srgbClr val="E5E7EB">
              <a:alpha val="85000"/>
            </a:srgbClr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658990" y="3835908"/>
            <a:ext cx="3687286" cy="256032"/>
          </a:xfrm>
          <a:prstGeom prst="roundRect">
            <a:avLst>
              <a:gd name="adj" fmla="val 28571"/>
            </a:avLst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346276" y="3433572"/>
            <a:ext cx="0" cy="969264"/>
          </a:xfrm>
          <a:prstGeom prst="line">
            <a:avLst/>
          </a:prstGeom>
          <a:noFill/>
          <a:ln w="12700">
            <a:solidFill>
              <a:srgbClr val="111827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10199972" y="381762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658990" y="3744468"/>
            <a:ext cx="0" cy="438912"/>
          </a:xfrm>
          <a:prstGeom prst="line">
            <a:avLst/>
          </a:prstGeom>
          <a:noFill/>
          <a:ln w="12700">
            <a:solidFill>
              <a:srgbClr val="E5E7EB">
                <a:alpha val="95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0710952" y="3744468"/>
            <a:ext cx="0" cy="438912"/>
          </a:xfrm>
          <a:prstGeom prst="line">
            <a:avLst/>
          </a:prstGeom>
          <a:noFill/>
          <a:ln w="12700">
            <a:solidFill>
              <a:srgbClr val="E5E7EB">
                <a:alpha val="9500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955618" y="2217420"/>
            <a:ext cx="145870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91%</a:t>
            </a:r>
            <a:endParaRPr lang="en-US" sz="3200" dirty="0"/>
          </a:p>
        </p:txBody>
      </p:sp>
      <p:sp>
        <p:nvSpPr>
          <p:cNvPr id="24" name="Text 21"/>
          <p:cNvSpPr txBox="1"/>
          <p:nvPr/>
        </p:nvSpPr>
        <p:spPr>
          <a:xfrm>
            <a:off x="6658990" y="4530852"/>
            <a:ext cx="405196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7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Score · Readiness</a:t>
            </a:r>
            <a:endParaRPr lang="en-US" sz="1700" dirty="0"/>
          </a:p>
        </p:txBody>
      </p:sp>
      <p:sp>
        <p:nvSpPr>
          <p:cNvPr id="25" name="Text 22"/>
          <p:cNvSpPr txBox="1"/>
          <p:nvPr/>
        </p:nvSpPr>
        <p:spPr>
          <a:xfrm>
            <a:off x="6658990" y="413766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10162312" y="4137660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100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" y="713232"/>
            <a:ext cx="2194505" cy="0"/>
          </a:xfrm>
          <a:prstGeom prst="line">
            <a:avLst/>
          </a:prstGeom>
          <a:noFill/>
          <a:ln w="12700">
            <a:solidFill>
              <a:srgbClr val="111827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38767" y="6199632"/>
            <a:ext cx="2103120" cy="0"/>
          </a:xfrm>
          <a:prstGeom prst="line">
            <a:avLst/>
          </a:prstGeom>
          <a:noFill/>
          <a:ln w="12700">
            <a:solidFill>
              <a:srgbClr val="E5E7EB">
                <a:alpha val="82000"/>
              </a:srgbClr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417320"/>
            <a:ext cx="10241280" cy="43434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Editable Proof Objects (Cont. 2/2)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1078992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280160" y="4347972"/>
            <a:ext cx="593815" cy="12801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1261872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Parse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1261872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30%</a:t>
            </a:r>
            <a:endParaRPr lang="en-US" sz="2800" dirty="0"/>
          </a:p>
        </p:txBody>
      </p:sp>
      <p:sp>
        <p:nvSpPr>
          <p:cNvPr id="10" name="Shape 7"/>
          <p:cNvSpPr/>
          <p:nvPr/>
        </p:nvSpPr>
        <p:spPr>
          <a:xfrm>
            <a:off x="3628705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829873" y="4347972"/>
            <a:ext cx="1227218" cy="128016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811585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Plan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811585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E5E7E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62%</a:t>
            </a:r>
            <a:endParaRPr lang="en-US" sz="2800" dirty="0"/>
          </a:p>
        </p:txBody>
      </p:sp>
      <p:sp>
        <p:nvSpPr>
          <p:cNvPr id="14" name="Shape 11"/>
          <p:cNvSpPr/>
          <p:nvPr/>
        </p:nvSpPr>
        <p:spPr>
          <a:xfrm>
            <a:off x="6178418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79586" y="4347972"/>
            <a:ext cx="1702270" cy="12801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361298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Render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6361298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86%</a:t>
            </a:r>
            <a:endParaRPr lang="en-US" sz="2800" dirty="0"/>
          </a:p>
        </p:txBody>
      </p:sp>
      <p:sp>
        <p:nvSpPr>
          <p:cNvPr id="18" name="Shape 15"/>
          <p:cNvSpPr/>
          <p:nvPr/>
        </p:nvSpPr>
        <p:spPr>
          <a:xfrm>
            <a:off x="8728131" y="2446020"/>
            <a:ext cx="2262957" cy="2286000"/>
          </a:xfrm>
          <a:prstGeom prst="roundRect">
            <a:avLst>
              <a:gd name="adj" fmla="val 202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929299" y="4347972"/>
            <a:ext cx="1860621" cy="128016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911011" y="2574036"/>
            <a:ext cx="1897197" cy="914400"/>
          </a:xfrm>
          <a:prstGeom prst="rect">
            <a:avLst/>
          </a:prstGeom>
          <a:noFill/>
          <a:ln/>
        </p:spPr>
        <p:txBody>
          <a:bodyPr wrap="square" lIns="381" tIns="508" rIns="508" bIns="381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Review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8911011" y="3543300"/>
            <a:ext cx="1897197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94%</a:t>
            </a:r>
            <a:endParaRPr lang="en-US" sz="2800" dirty="0"/>
          </a:p>
        </p:txBody>
      </p:sp>
      <p:sp>
        <p:nvSpPr>
          <p:cNvPr id="22" name="Shape 19"/>
          <p:cNvSpPr/>
          <p:nvPr/>
        </p:nvSpPr>
        <p:spPr>
          <a:xfrm>
            <a:off x="3285375" y="3589020"/>
            <a:ext cx="399904" cy="0"/>
          </a:xfrm>
          <a:prstGeom prst="line">
            <a:avLst/>
          </a:prstGeom>
          <a:noFill/>
          <a:ln w="12700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23" name="Shape 20"/>
          <p:cNvSpPr/>
          <p:nvPr/>
        </p:nvSpPr>
        <p:spPr>
          <a:xfrm>
            <a:off x="5835088" y="3589020"/>
            <a:ext cx="399904" cy="0"/>
          </a:xfrm>
          <a:prstGeom prst="line">
            <a:avLst/>
          </a:prstGeom>
          <a:noFill/>
          <a:ln w="12700">
            <a:solidFill>
              <a:srgbClr val="111827"/>
            </a:solidFill>
            <a:prstDash val="solid"/>
            <a:tailEnd type="triangle"/>
          </a:ln>
        </p:spPr>
      </p:sp>
      <p:sp>
        <p:nvSpPr>
          <p:cNvPr id="24" name="Shape 21"/>
          <p:cNvSpPr/>
          <p:nvPr/>
        </p:nvSpPr>
        <p:spPr>
          <a:xfrm>
            <a:off x="8384801" y="3589020"/>
            <a:ext cx="399904" cy="0"/>
          </a:xfrm>
          <a:prstGeom prst="line">
            <a:avLst/>
          </a:prstGeom>
          <a:noFill/>
          <a:ln w="12700">
            <a:solidFill>
              <a:srgbClr val="111827"/>
            </a:solidFill>
            <a:prstDash val="solid"/>
            <a:tailEnd type="triangle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" y="713232"/>
            <a:ext cx="2194505" cy="0"/>
          </a:xfrm>
          <a:prstGeom prst="line">
            <a:avLst/>
          </a:prstGeom>
          <a:noFill/>
          <a:ln w="12700">
            <a:solidFill>
              <a:srgbClr val="111827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38767" y="6199632"/>
            <a:ext cx="2103120" cy="0"/>
          </a:xfrm>
          <a:prstGeom prst="line">
            <a:avLst/>
          </a:prstGeom>
          <a:noFill/>
          <a:ln w="12700">
            <a:solidFill>
              <a:srgbClr val="E5E7EB">
                <a:alpha val="8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" y="1463040"/>
            <a:ext cx="10241280" cy="7315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Shape Grammar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987552" y="1572768"/>
            <a:ext cx="10094976" cy="426110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Method flag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short high-level step.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Ticket panel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document-like evidence.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Two-corner panel</a:t>
            </a:r>
            <a:endParaRPr lang="en-US" sz="22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linear grouping.</a:t>
            </a:r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" y="713232"/>
            <a:ext cx="2194505" cy="0"/>
          </a:xfrm>
          <a:prstGeom prst="line">
            <a:avLst/>
          </a:prstGeom>
          <a:noFill/>
          <a:ln w="12700">
            <a:solidFill>
              <a:srgbClr val="111827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38767" y="6199632"/>
            <a:ext cx="2103120" cy="0"/>
          </a:xfrm>
          <a:prstGeom prst="line">
            <a:avLst/>
          </a:prstGeom>
          <a:noFill/>
          <a:ln w="12700">
            <a:solidFill>
              <a:srgbClr val="E5E7EB">
                <a:alpha val="8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554480"/>
            <a:ext cx="4937760" cy="7315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0" y="1554480"/>
            <a:ext cx="4937760" cy="7315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Object Shape Grammar (Cont. 2/2)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89611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Notched panel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technical constraint or code-like object.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473952" y="1664208"/>
            <a:ext cx="4791456" cy="4169664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- Rounded panel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neutral fallback surface.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" y="713232"/>
            <a:ext cx="2194505" cy="0"/>
          </a:xfrm>
          <a:prstGeom prst="line">
            <a:avLst/>
          </a:prstGeom>
          <a:noFill/>
          <a:ln w="12700">
            <a:solidFill>
              <a:srgbClr val="111827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38767" y="6199632"/>
            <a:ext cx="2103120" cy="0"/>
          </a:xfrm>
          <a:prstGeom prst="line">
            <a:avLst/>
          </a:prstGeom>
          <a:noFill/>
          <a:ln w="12700">
            <a:solidFill>
              <a:srgbClr val="E5E7EB">
                <a:alpha val="8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and Text Aside</a:t>
            </a:r>
            <a:endParaRPr lang="en-US" sz="3400" dirty="0"/>
          </a:p>
        </p:txBody>
      </p:sp>
      <p:sp>
        <p:nvSpPr>
          <p:cNvPr id="13" name="Shape 7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4" name="Image 4" descr="article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role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quiet monochrome anchor.</a:t>
            </a:r>
            <a:endParaRPr lang="en-US" sz="2200" dirty="0"/>
          </a:p>
        </p:txBody>
      </p:sp>
      <p:sp>
        <p:nvSpPr>
          <p:cNvPr id="16" name="Shape 9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7" name="Image 5" descr="artic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Icon scale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secondary to title and body text.</a:t>
            </a:r>
            <a:endParaRPr lang="en-US" sz="2200" dirty="0"/>
          </a:p>
        </p:txBody>
      </p:sp>
      <p:sp>
        <p:nvSpPr>
          <p:cNvPr id="19" name="Shape 11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0" name="Image 6" descr="article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Placement rule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icon never fills empty space alone.</a:t>
            </a:r>
            <a:endParaRPr lang="en-US" sz="2200" dirty="0"/>
          </a:p>
        </p:txBody>
      </p:sp>
      <p:sp>
        <p:nvSpPr>
          <p:cNvPr id="22" name="Shape 13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3" name="Image 7" descr="table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Fit rule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icon and text share a stable center line.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" y="713232"/>
            <a:ext cx="2194505" cy="0"/>
          </a:xfrm>
          <a:prstGeom prst="line">
            <a:avLst/>
          </a:prstGeom>
          <a:noFill/>
          <a:ln w="12700">
            <a:solidFill>
              <a:srgbClr val="111827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38767" y="6199632"/>
            <a:ext cx="2103120" cy="0"/>
          </a:xfrm>
          <a:prstGeom prst="line">
            <a:avLst/>
          </a:prstGeom>
          <a:noFill/>
          <a:ln w="12700">
            <a:solidFill>
              <a:srgbClr val="E5E7EB">
                <a:alpha val="8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463040"/>
            <a:ext cx="73152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0" y="1463040"/>
            <a:ext cx="73152" cy="19202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3749040"/>
            <a:ext cx="73152" cy="192024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09360" y="3749040"/>
            <a:ext cx="73152" cy="1920240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22960" y="1463040"/>
            <a:ext cx="5029200" cy="192024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09360" y="1463040"/>
            <a:ext cx="5029200" cy="1920240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2960" y="3749040"/>
            <a:ext cx="5029200" cy="1920240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09360" y="3749040"/>
            <a:ext cx="5029200" cy="192024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Overflow Guard</a:t>
            </a:r>
            <a:endParaRPr lang="en-US" sz="3400" dirty="0"/>
          </a:p>
        </p:txBody>
      </p:sp>
      <p:sp>
        <p:nvSpPr>
          <p:cNvPr id="13" name="Shape 7"/>
          <p:cNvSpPr/>
          <p:nvPr/>
        </p:nvSpPr>
        <p:spPr>
          <a:xfrm>
            <a:off x="9761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4" name="Image 4" descr="verified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49274" y="2203704"/>
            <a:ext cx="438912" cy="438912"/>
          </a:xfrm>
          <a:prstGeom prst="rect">
            <a:avLst/>
          </a:prstGeom>
        </p:spPr>
      </p:pic>
      <p:sp>
        <p:nvSpPr>
          <p:cNvPr id="15" name="Text 8"/>
          <p:cNvSpPr txBox="1"/>
          <p:nvPr/>
        </p:nvSpPr>
        <p:spPr>
          <a:xfrm>
            <a:off x="16893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Text fit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region bounds are validated before output.</a:t>
            </a:r>
            <a:endParaRPr lang="en-US" sz="2200" dirty="0"/>
          </a:p>
        </p:txBody>
      </p:sp>
      <p:sp>
        <p:nvSpPr>
          <p:cNvPr id="16" name="Shape 9"/>
          <p:cNvSpPr/>
          <p:nvPr/>
        </p:nvSpPr>
        <p:spPr>
          <a:xfrm>
            <a:off x="6462522" y="2130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7" name="Image 5" descr="table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535674" y="2203704"/>
            <a:ext cx="438912" cy="438912"/>
          </a:xfrm>
          <a:prstGeom prst="rect">
            <a:avLst/>
          </a:prstGeom>
        </p:spPr>
      </p:pic>
      <p:sp>
        <p:nvSpPr>
          <p:cNvPr id="18" name="Text 10"/>
          <p:cNvSpPr txBox="1"/>
          <p:nvPr/>
        </p:nvSpPr>
        <p:spPr>
          <a:xfrm>
            <a:off x="7175754" y="1627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Tables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cell text uses middle alignment and coherent margins.</a:t>
            </a:r>
            <a:endParaRPr lang="en-US" sz="2200" dirty="0"/>
          </a:p>
        </p:txBody>
      </p:sp>
      <p:sp>
        <p:nvSpPr>
          <p:cNvPr id="19" name="Shape 11"/>
          <p:cNvSpPr/>
          <p:nvPr/>
        </p:nvSpPr>
        <p:spPr>
          <a:xfrm>
            <a:off x="9761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0" name="Image 6" descr="article icon from tabler-icons (MIT)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49274" y="4489704"/>
            <a:ext cx="438912" cy="438912"/>
          </a:xfrm>
          <a:prstGeom prst="rect">
            <a:avLst/>
          </a:prstGeom>
        </p:spPr>
      </p:pic>
      <p:sp>
        <p:nvSpPr>
          <p:cNvPr id="21" name="Text 12"/>
          <p:cNvSpPr txBox="1"/>
          <p:nvPr/>
        </p:nvSpPr>
        <p:spPr>
          <a:xfrm>
            <a:off x="16893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Continuation slides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dense content splits before unreadable shrink.</a:t>
            </a:r>
            <a:endParaRPr lang="en-US" sz="2200" dirty="0"/>
          </a:p>
        </p:txBody>
      </p:sp>
      <p:sp>
        <p:nvSpPr>
          <p:cNvPr id="22" name="Shape 13"/>
          <p:cNvSpPr/>
          <p:nvPr/>
        </p:nvSpPr>
        <p:spPr>
          <a:xfrm>
            <a:off x="6462522" y="4416552"/>
            <a:ext cx="585216" cy="585216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23" name="Image 7" descr="article icon from tabler-icons (MIT)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535674" y="4489704"/>
            <a:ext cx="438912" cy="438912"/>
          </a:xfrm>
          <a:prstGeom prst="rect">
            <a:avLst/>
          </a:prstGeom>
        </p:spPr>
      </p:pic>
      <p:sp>
        <p:nvSpPr>
          <p:cNvPr id="24" name="Text 14"/>
          <p:cNvSpPr txBox="1"/>
          <p:nvPr/>
        </p:nvSpPr>
        <p:spPr>
          <a:xfrm>
            <a:off x="7175754" y="3913632"/>
            <a:ext cx="3961638" cy="1591056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Cleanup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decorative-only bullets and empty artifacts are removed.</a:t>
            </a:r>
            <a:endParaRPr lang="en-US" sz="22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" y="713232"/>
            <a:ext cx="2194505" cy="0"/>
          </a:xfrm>
          <a:prstGeom prst="line">
            <a:avLst/>
          </a:prstGeom>
          <a:noFill/>
          <a:ln w="12700">
            <a:solidFill>
              <a:srgbClr val="111827">
                <a:alpha val="8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38767" y="6199632"/>
            <a:ext cx="2103120" cy="0"/>
          </a:xfrm>
          <a:prstGeom prst="line">
            <a:avLst/>
          </a:prstGeom>
          <a:noFill/>
          <a:ln w="12700">
            <a:solidFill>
              <a:srgbClr val="E5E7EB">
                <a:alpha val="82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1956816"/>
            <a:ext cx="32004" cy="3483864"/>
          </a:xfrm>
          <a:prstGeom prst="rect">
            <a:avLst/>
          </a:prstGeom>
          <a:solidFill>
            <a:srgbClr val="E5E7EB">
              <a:alpha val="80000"/>
            </a:srgbClr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865376"/>
            <a:ext cx="73152" cy="10241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3191256"/>
            <a:ext cx="73152" cy="10241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4507992"/>
            <a:ext cx="73152" cy="1024128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1865376"/>
            <a:ext cx="10241280" cy="1024128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14400" y="3191256"/>
            <a:ext cx="10241280" cy="1024128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14400" y="4507992"/>
            <a:ext cx="10241280" cy="1024128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34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Actions Output Review</a:t>
            </a:r>
            <a:endParaRPr lang="en-US" sz="3400" dirty="0"/>
          </a:p>
        </p:txBody>
      </p:sp>
      <p:sp>
        <p:nvSpPr>
          <p:cNvPr id="12" name="Shape 7"/>
          <p:cNvSpPr/>
          <p:nvPr/>
        </p:nvSpPr>
        <p:spPr>
          <a:xfrm>
            <a:off x="1097280" y="214042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3" name="Image 3" descr="flow icon from tabler-icons (MIT)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170432" y="2213580"/>
            <a:ext cx="327721" cy="327721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699321" y="195754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Workflow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Theme Preview builds this source across decoration styles.</a:t>
            </a:r>
            <a:endParaRPr lang="en-US" sz="2200" dirty="0"/>
          </a:p>
        </p:txBody>
      </p:sp>
      <p:sp>
        <p:nvSpPr>
          <p:cNvPr id="15" name="Shape 9"/>
          <p:cNvSpPr/>
          <p:nvPr/>
        </p:nvSpPr>
        <p:spPr>
          <a:xfrm>
            <a:off x="1097280" y="3466308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6" name="Image 4" descr="verified icon from tabler-icons (MIT)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70432" y="3539460"/>
            <a:ext cx="327721" cy="327721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1699321" y="3283428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Gallery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Pages shows each styled deck and object-check slide.</a:t>
            </a:r>
            <a:endParaRPr lang="en-US" sz="2200" dirty="0"/>
          </a:p>
        </p:txBody>
      </p:sp>
      <p:sp>
        <p:nvSpPr>
          <p:cNvPr id="18" name="Shape 11"/>
          <p:cNvSpPr/>
          <p:nvPr/>
        </p:nvSpPr>
        <p:spPr>
          <a:xfrm>
            <a:off x="1097280" y="4783044"/>
            <a:ext cx="474025" cy="474025"/>
          </a:xfrm>
          <a:prstGeom prst="roundRect">
            <a:avLst>
              <a:gd name="adj" fmla="val 771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9" name="Image 5" descr="spark icon from tabler-icons (MIT)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170432" y="4856196"/>
            <a:ext cx="327721" cy="327721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1699321" y="4600164"/>
            <a:ext cx="9255191" cy="839785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00" b="1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Ownership</a:t>
            </a:r>
            <a:pPr algn="l" indent="0" marL="0">
              <a:lnSpc>
                <a:spcPct val="120000"/>
              </a:lnSpc>
              <a:buNone/>
            </a:pPr>
            <a:r>
              <a:rPr lang="en-US" sz="2200" dirty="0">
                <a:solidFill>
                  <a:srgbClr val="111827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  MDPR owns rendering; mdpr-skill may prepare hints.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11827"/>
      </a:dk1>
      <a:lt1>
        <a:srgbClr val="FFFFFF"/>
      </a:lt1>
      <a:dk2>
        <a:srgbClr val="4B5563"/>
      </a:dk2>
      <a:lt2>
        <a:srgbClr val="FFFFFF"/>
      </a:lt2>
      <a:accent1>
        <a:srgbClr val="111827"/>
      </a:accent1>
      <a:accent2>
        <a:srgbClr val="E5E7EB"/>
      </a:accent2>
      <a:accent3>
        <a:srgbClr val="111827"/>
      </a:accent3>
      <a:accent4>
        <a:srgbClr val="4B5563"/>
      </a:accent4>
      <a:accent5>
        <a:srgbClr val="E5E7EB"/>
      </a:accent5>
      <a:accent6>
        <a:srgbClr val="111827"/>
      </a:accent6>
      <a:hlink>
        <a:srgbClr val="111827"/>
      </a:hlink>
      <a:folHlink>
        <a:srgbClr val="E5E7EB"/>
      </a:folHlink>
    </a:clrScheme>
    <a:fontScheme name="Office">
      <a:majorFont>
        <a:latin typeface="Pretendar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Pretendard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mdpresent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MDPR Composition Grammar QA</dc:title>
  <dc:subject>Generated from Markdown through Presentation IR and Layout IR</dc:subject>
  <dc:creator>mdpresent</dc:creator>
  <cp:lastModifiedBy>mdpresent</cp:lastModifiedBy>
  <cp:revision>1</cp:revision>
  <dcterms:created xsi:type="dcterms:W3CDTF">2026-06-20T14:35:24Z</dcterms:created>
  <dcterms:modified xsi:type="dcterms:W3CDTF">2026-06-20T14:35:24Z</dcterms:modified>
</cp:coreProperties>
</file>