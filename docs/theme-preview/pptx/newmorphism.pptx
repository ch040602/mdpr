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5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charts/chart6.xml" ContentType="application/vnd.openxmlformats-officedocument.drawingml.chart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rgbClr val="4F6F8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</c:v>
                </c:pt>
                <c:pt idx="1">
                  <c:v>88</c:v>
                </c:pt>
                <c:pt idx="2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Defects</c:v>
                </c:pt>
              </c:strCache>
            </c:strRef>
          </c:tx>
          <c:spPr>
            <a:solidFill>
              <a:srgbClr val="CBD5E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</c:v>
                </c:pt>
                <c:pt idx="1">
                  <c:v>5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43041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D5DC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36579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36579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Score</c:v>
                </c:pt>
              </c:strCache>
            </c:strRef>
          </c:tx>
          <c:spPr>
            <a:solidFill>
              <a:srgbClr val="4F6F8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</c:v>
                  </c:pt>
                  <c:pt idx="1">
                    <c:v>Plan</c:v>
                  </c:pt>
                  <c:pt idx="2">
                    <c:v>Render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78</c:v>
                </c:pt>
                <c:pt idx="1">
                  <c:v>86</c:v>
                </c:pt>
                <c:pt idx="2">
                  <c:v>93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43041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D5DC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36579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image" Target="../media/image-5-3.png"/><Relationship Id="rId4" Type="http://schemas.openxmlformats.org/officeDocument/2006/relationships/image" Target="../media/image-5-4.svg"/><Relationship Id="rId5" Type="http://schemas.openxmlformats.org/officeDocument/2006/relationships/image" Target="../media/image-5-5.png"/><Relationship Id="rId6" Type="http://schemas.openxmlformats.org/officeDocument/2006/relationships/image" Target="../media/image-5-6.svg"/><Relationship Id="rId7" Type="http://schemas.openxmlformats.org/officeDocument/2006/relationships/image" Target="../media/image-5-7.png"/><Relationship Id="rId8" Type="http://schemas.openxmlformats.org/officeDocument/2006/relationships/image" Target="../media/image-5-8.svg"/><Relationship Id="rId9" Type="http://schemas.openxmlformats.org/officeDocument/2006/relationships/image" Target="../media/image-5-9.png"/><Relationship Id="rId10" Type="http://schemas.openxmlformats.org/officeDocument/2006/relationships/image" Target="../media/image-5-10.svg"/><Relationship Id="rId11" Type="http://schemas.openxmlformats.org/officeDocument/2006/relationships/image" Target="../media/image-5-11.png"/><Relationship Id="rId12" Type="http://schemas.openxmlformats.org/officeDocument/2006/relationships/image" Target="../media/image-5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image" Target="../media/image-7-5.png"/><Relationship Id="rId6" Type="http://schemas.openxmlformats.org/officeDocument/2006/relationships/image" Target="../media/image-7-6.svg"/><Relationship Id="rId7" Type="http://schemas.openxmlformats.org/officeDocument/2006/relationships/image" Target="../media/image-7-7.png"/><Relationship Id="rId8" Type="http://schemas.openxmlformats.org/officeDocument/2006/relationships/image" Target="../media/image-7-8.svg"/><Relationship Id="rId9" Type="http://schemas.openxmlformats.org/officeDocument/2006/relationships/image" Target="../media/image-7-9.png"/><Relationship Id="rId10" Type="http://schemas.openxmlformats.org/officeDocument/2006/relationships/image" Target="../media/image-7-10.svg"/><Relationship Id="rId11" Type="http://schemas.openxmlformats.org/officeDocument/2006/relationships/image" Target="../media/image-7-11.png"/><Relationship Id="rId12" Type="http://schemas.openxmlformats.org/officeDocument/2006/relationships/image" Target="../media/image-7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image" Target="../media/image-12-3.png"/><Relationship Id="rId4" Type="http://schemas.openxmlformats.org/officeDocument/2006/relationships/image" Target="../media/image-12-4.svg"/><Relationship Id="rId5" Type="http://schemas.openxmlformats.org/officeDocument/2006/relationships/image" Target="../media/image-12-5.png"/><Relationship Id="rId6" Type="http://schemas.openxmlformats.org/officeDocument/2006/relationships/image" Target="../media/image-12-6.svg"/><Relationship Id="rId7" Type="http://schemas.openxmlformats.org/officeDocument/2006/relationships/image" Target="../media/image-12-7.png"/><Relationship Id="rId8" Type="http://schemas.openxmlformats.org/officeDocument/2006/relationships/image" Target="../media/image-12-8.svg"/><Relationship Id="rId9" Type="http://schemas.openxmlformats.org/officeDocument/2006/relationships/image" Target="../media/image-12-9.png"/><Relationship Id="rId10" Type="http://schemas.openxmlformats.org/officeDocument/2006/relationships/image" Target="../media/image-12-10.svg"/><Relationship Id="rId11" Type="http://schemas.openxmlformats.org/officeDocument/2006/relationships/image" Target="../media/image-12-11.png"/><Relationship Id="rId12" Type="http://schemas.openxmlformats.org/officeDocument/2006/relationships/image" Target="../media/image-12-12.svg"/><Relationship Id="rId13" Type="http://schemas.openxmlformats.org/officeDocument/2006/relationships/image" Target="../media/image-12-13.png"/><Relationship Id="rId14" Type="http://schemas.openxmlformats.org/officeDocument/2006/relationships/image" Target="../media/image-12-14.svg"/><Relationship Id="rId15" Type="http://schemas.openxmlformats.org/officeDocument/2006/relationships/image" Target="../media/image-12-15.png"/><Relationship Id="rId16" Type="http://schemas.openxmlformats.org/officeDocument/2006/relationships/image" Target="../media/image-12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5.xml"/><Relationship Id="rId1" Type="http://schemas.openxmlformats.org/officeDocument/2006/relationships/image" Target="../media/image-15-1.png"/><Relationship Id="rId2" Type="http://schemas.openxmlformats.org/officeDocument/2006/relationships/image" Target="../media/image-15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image" Target="../media/image-19-7.png"/><Relationship Id="rId8" Type="http://schemas.openxmlformats.org/officeDocument/2006/relationships/image" Target="../media/image-19-8.svg"/><Relationship Id="rId9" Type="http://schemas.openxmlformats.org/officeDocument/2006/relationships/image" Target="../media/image-19-9.png"/><Relationship Id="rId10" Type="http://schemas.openxmlformats.org/officeDocument/2006/relationships/image" Target="../media/image-19-10.svg"/><Relationship Id="rId11" Type="http://schemas.openxmlformats.org/officeDocument/2006/relationships/image" Target="../media/image-19-11.png"/><Relationship Id="rId12" Type="http://schemas.openxmlformats.org/officeDocument/2006/relationships/image" Target="../media/image-19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svg"/><Relationship Id="rId3" Type="http://schemas.openxmlformats.org/officeDocument/2006/relationships/image" Target="../media/image-21-3.png"/><Relationship Id="rId4" Type="http://schemas.openxmlformats.org/officeDocument/2006/relationships/image" Target="../media/image-21-4.svg"/><Relationship Id="rId5" Type="http://schemas.openxmlformats.org/officeDocument/2006/relationships/image" Target="../media/image-21-5.png"/><Relationship Id="rId6" Type="http://schemas.openxmlformats.org/officeDocument/2006/relationships/image" Target="../media/image-21-6.svg"/><Relationship Id="rId7" Type="http://schemas.openxmlformats.org/officeDocument/2006/relationships/image" Target="../media/image-21-7.png"/><Relationship Id="rId8" Type="http://schemas.openxmlformats.org/officeDocument/2006/relationships/image" Target="../media/image-21-8.svg"/><Relationship Id="rId9" Type="http://schemas.openxmlformats.org/officeDocument/2006/relationships/image" Target="../media/image-21-9.png"/><Relationship Id="rId10" Type="http://schemas.openxmlformats.org/officeDocument/2006/relationships/image" Target="../media/image-21-10.svg"/><Relationship Id="rId11" Type="http://schemas.openxmlformats.org/officeDocument/2006/relationships/image" Target="../media/image-21-11.png"/><Relationship Id="rId12" Type="http://schemas.openxmlformats.org/officeDocument/2006/relationships/image" Target="../media/image-21-12.svg"/><Relationship Id="rId13" Type="http://schemas.openxmlformats.org/officeDocument/2006/relationships/image" Target="../media/image-21-13.png"/><Relationship Id="rId14" Type="http://schemas.openxmlformats.org/officeDocument/2006/relationships/image" Target="../media/image-21-14.svg"/><Relationship Id="rId15" Type="http://schemas.openxmlformats.org/officeDocument/2006/relationships/image" Target="../media/image-21-15.png"/><Relationship Id="rId16" Type="http://schemas.openxmlformats.org/officeDocument/2006/relationships/image" Target="../media/image-21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svg"/><Relationship Id="rId3" Type="http://schemas.openxmlformats.org/officeDocument/2006/relationships/image" Target="../media/image-22-3.png"/><Relationship Id="rId4" Type="http://schemas.openxmlformats.org/officeDocument/2006/relationships/image" Target="../media/image-22-4.svg"/><Relationship Id="rId5" Type="http://schemas.openxmlformats.org/officeDocument/2006/relationships/image" Target="../media/image-22-5.png"/><Relationship Id="rId6" Type="http://schemas.openxmlformats.org/officeDocument/2006/relationships/image" Target="../media/image-22-6.svg"/><Relationship Id="rId7" Type="http://schemas.openxmlformats.org/officeDocument/2006/relationships/image" Target="../media/image-22-7.png"/><Relationship Id="rId8" Type="http://schemas.openxmlformats.org/officeDocument/2006/relationships/image" Target="../media/image-22-8.svg"/><Relationship Id="rId9" Type="http://schemas.openxmlformats.org/officeDocument/2006/relationships/image" Target="../media/image-22-9.png"/><Relationship Id="rId10" Type="http://schemas.openxmlformats.org/officeDocument/2006/relationships/image" Target="../media/image-22-10.svg"/><Relationship Id="rId11" Type="http://schemas.openxmlformats.org/officeDocument/2006/relationships/image" Target="../media/image-22-11.png"/><Relationship Id="rId12" Type="http://schemas.openxmlformats.org/officeDocument/2006/relationships/image" Target="../media/image-22-12.svg"/><Relationship Id="rId13" Type="http://schemas.openxmlformats.org/officeDocument/2006/relationships/image" Target="../media/image-22-13.png"/><Relationship Id="rId14" Type="http://schemas.openxmlformats.org/officeDocument/2006/relationships/image" Target="../media/image-22-14.svg"/><Relationship Id="rId15" Type="http://schemas.openxmlformats.org/officeDocument/2006/relationships/image" Target="../media/image-22-15.png"/><Relationship Id="rId16" Type="http://schemas.openxmlformats.org/officeDocument/2006/relationships/image" Target="../media/image-22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svg"/><Relationship Id="rId3" Type="http://schemas.openxmlformats.org/officeDocument/2006/relationships/image" Target="../media/image-23-3.png"/><Relationship Id="rId4" Type="http://schemas.openxmlformats.org/officeDocument/2006/relationships/image" Target="../media/image-23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7" Type="http://schemas.openxmlformats.org/officeDocument/2006/relationships/chart" Target="/ppt/charts/chart6.xml"/><Relationship Id="rId1" Type="http://schemas.openxmlformats.org/officeDocument/2006/relationships/image" Target="../media/image-24-1.png"/><Relationship Id="rId2" Type="http://schemas.openxmlformats.org/officeDocument/2006/relationships/image" Target="../media/image-24-2.svg"/><Relationship Id="rId3" Type="http://schemas.openxmlformats.org/officeDocument/2006/relationships/image" Target="../media/image-24-3.png"/><Relationship Id="rId4" Type="http://schemas.openxmlformats.org/officeDocument/2006/relationships/image" Target="../media/image-24-4.svg"/><Relationship Id="rId5" Type="http://schemas.openxmlformats.org/officeDocument/2006/relationships/image" Target="../media/image-24-5.png"/><Relationship Id="rId6" Type="http://schemas.openxmlformats.org/officeDocument/2006/relationships/image" Target="../media/image-24-6.svg"/><Relationship Id="rId8" Type="http://schemas.openxmlformats.org/officeDocument/2006/relationships/image" Target="../media/image-24-7.png"/><Relationship Id="rId9" Type="http://schemas.openxmlformats.org/officeDocument/2006/relationships/image" Target="../media/image-24-8.sv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svg"/><Relationship Id="rId3" Type="http://schemas.openxmlformats.org/officeDocument/2006/relationships/image" Target="../media/image-25-3.png"/><Relationship Id="rId4" Type="http://schemas.openxmlformats.org/officeDocument/2006/relationships/image" Target="../media/image-25-4.svg"/><Relationship Id="rId5" Type="http://schemas.openxmlformats.org/officeDocument/2006/relationships/image" Target="../media/image-25-5.png"/><Relationship Id="rId6" Type="http://schemas.openxmlformats.org/officeDocument/2006/relationships/image" Target="../media/image-25-6.svg"/><Relationship Id="rId7" Type="http://schemas.openxmlformats.org/officeDocument/2006/relationships/image" Target="../media/image-25-7.png"/><Relationship Id="rId8" Type="http://schemas.openxmlformats.org/officeDocument/2006/relationships/image" Target="../media/image-25-8.svg"/><Relationship Id="rId9" Type="http://schemas.openxmlformats.org/officeDocument/2006/relationships/image" Target="../media/image-25-9.png"/><Relationship Id="rId10" Type="http://schemas.openxmlformats.org/officeDocument/2006/relationships/image" Target="../media/image-25-10.svg"/><Relationship Id="rId11" Type="http://schemas.openxmlformats.org/officeDocument/2006/relationships/image" Target="../media/image-25-11.png"/><Relationship Id="rId12" Type="http://schemas.openxmlformats.org/officeDocument/2006/relationships/image" Target="../media/image-25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Design Grammar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188720"/>
            <a:ext cx="10515600" cy="45720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6382512"/>
            <a:ext cx="2011680" cy="45720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080760" y="1389888"/>
            <a:ext cx="22860" cy="4846320"/>
          </a:xfrm>
          <a:prstGeom prst="rect">
            <a:avLst/>
          </a:prstGeom>
          <a:solidFill>
            <a:srgbClr val="D5DCE7">
              <a:alpha val="90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389888"/>
            <a:ext cx="73152" cy="5669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2103120"/>
            <a:ext cx="73152" cy="56692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2816352"/>
            <a:ext cx="73152" cy="5669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3529584"/>
            <a:ext cx="73152" cy="56692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4242816"/>
            <a:ext cx="73152" cy="5669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4956048"/>
            <a:ext cx="73152" cy="56692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5669280"/>
            <a:ext cx="73152" cy="5669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72784" y="1389888"/>
            <a:ext cx="73152" cy="56692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72784" y="2103120"/>
            <a:ext cx="73152" cy="5669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72784" y="2816352"/>
            <a:ext cx="73152" cy="56692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72784" y="3529584"/>
            <a:ext cx="73152" cy="5669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72784" y="4242816"/>
            <a:ext cx="73152" cy="56692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72784" y="4956048"/>
            <a:ext cx="73152" cy="5669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272784" y="5669280"/>
            <a:ext cx="73152" cy="56692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23" name="Text 21"/>
          <p:cNvSpPr txBox="1"/>
          <p:nvPr/>
        </p:nvSpPr>
        <p:spPr>
          <a:xfrm>
            <a:off x="1042416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Teaser Summary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1042416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Composition Contract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1042416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Pruned Style Families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1042416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Semantic Blocks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1042416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Pipeline Diagram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1042416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Decoration Pattern Catalog</a:t>
            </a:r>
            <a:endParaRPr lang="en-US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1042416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Table Coherence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6492240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Chart and Table Pair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6492240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Editable Proof Objects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6492240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Object Shape Grammar</a:t>
            </a:r>
            <a:endParaRPr lang="en-US" sz="1800" dirty="0"/>
          </a:p>
        </p:txBody>
      </p:sp>
      <p:sp>
        <p:nvSpPr>
          <p:cNvPr id="33" name="Text 31"/>
          <p:cNvSpPr txBox="1"/>
          <p:nvPr/>
        </p:nvSpPr>
        <p:spPr>
          <a:xfrm>
            <a:off x="6492240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Icon and Text Aside</a:t>
            </a:r>
            <a:endParaRPr lang="en-US" sz="1800" dirty="0"/>
          </a:p>
        </p:txBody>
      </p:sp>
      <p:sp>
        <p:nvSpPr>
          <p:cNvPr id="34" name="Text 32"/>
          <p:cNvSpPr txBox="1"/>
          <p:nvPr/>
        </p:nvSpPr>
        <p:spPr>
          <a:xfrm>
            <a:off x="6492240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Overflow Guard</a:t>
            </a:r>
            <a:endParaRPr lang="en-US" sz="1800" dirty="0"/>
          </a:p>
        </p:txBody>
      </p:sp>
      <p:sp>
        <p:nvSpPr>
          <p:cNvPr id="35" name="Text 33"/>
          <p:cNvSpPr txBox="1"/>
          <p:nvPr/>
        </p:nvSpPr>
        <p:spPr>
          <a:xfrm>
            <a:off x="6492240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Image Safe Frame</a:t>
            </a:r>
            <a:endParaRPr lang="en-US" sz="1800" dirty="0"/>
          </a:p>
        </p:txBody>
      </p:sp>
      <p:sp>
        <p:nvSpPr>
          <p:cNvPr id="36" name="Text 34"/>
          <p:cNvSpPr txBox="1"/>
          <p:nvPr/>
        </p:nvSpPr>
        <p:spPr>
          <a:xfrm>
            <a:off x="6492240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 Mixed Object Packing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3099816"/>
            <a:ext cx="10515600" cy="45720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4288536"/>
            <a:ext cx="2011680" cy="45720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300984"/>
            <a:ext cx="73152" cy="84124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 (Cont. 2/2)</a:t>
            </a:r>
            <a:endParaRPr lang="en-US" sz="3800" dirty="0"/>
          </a:p>
        </p:txBody>
      </p:sp>
      <p:sp>
        <p:nvSpPr>
          <p:cNvPr id="9" name="Text 7"/>
          <p:cNvSpPr txBox="1"/>
          <p:nvPr/>
        </p:nvSpPr>
        <p:spPr>
          <a:xfrm>
            <a:off x="1042416" y="3392424"/>
            <a:ext cx="10094976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Actions Output Review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55548" y="1467612"/>
            <a:ext cx="10241280" cy="1325880"/>
          </a:xfrm>
          <a:prstGeom prst="roundRect">
            <a:avLst>
              <a:gd name="adj" fmla="val 4138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82396" y="1385316"/>
            <a:ext cx="10241280" cy="1325880"/>
          </a:xfrm>
          <a:prstGeom prst="roundRect">
            <a:avLst>
              <a:gd name="adj" fmla="val 4138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914400" y="1417320"/>
            <a:ext cx="10241280" cy="1325880"/>
          </a:xfrm>
          <a:prstGeom prst="roundRect">
            <a:avLst>
              <a:gd name="adj" fmla="val 4138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Teaser Summary</a:t>
            </a:r>
            <a:endParaRPr lang="en-US" sz="3400" dirty="0"/>
          </a:p>
        </p:txBody>
      </p:sp>
      <p:sp>
        <p:nvSpPr>
          <p:cNvPr id="12" name="Text 9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PPTX slides should show design range without sacrificing coherence.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Preview styles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5 pruned decoration grammars, not palette-only swaps.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Pattern range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36+ decoration and layout patterns selected by content role.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Object support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native tables, charts, proof objects, diagrams, images, and icon slots.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QA contract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 text, bounded objects, aligned connectors, and editable PPTX output.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CBD5E1">
              <a:alpha val="8000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55548" y="191566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82396" y="183337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914400" y="1865376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55548" y="324154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882396" y="315925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914400" y="3191256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955548" y="4558284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82396" y="447598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914400" y="450799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3400" dirty="0"/>
          </a:p>
        </p:txBody>
      </p:sp>
      <p:sp>
        <p:nvSpPr>
          <p:cNvPr id="22" name="Shape 17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3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signal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 scale and first-viewport identity.</a:t>
            </a:r>
            <a:endParaRPr lang="en-US" sz="2200" dirty="0"/>
          </a:p>
        </p:txBody>
      </p:sp>
      <p:sp>
        <p:nvSpPr>
          <p:cNvPr id="25" name="Shape 19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6" name="Image 4" descr="chart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rhythm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chart, table, and proof objects stay connected.</a:t>
            </a:r>
            <a:endParaRPr lang="en-US" sz="2200" dirty="0"/>
          </a:p>
        </p:txBody>
      </p:sp>
      <p:sp>
        <p:nvSpPr>
          <p:cNvPr id="28" name="Shape 21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9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cards, tickets, flags, and panels vary coherently.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 (Cont. 2/2)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 clarity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arrows attach to object boundaries.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discipline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no region exceeds the slide.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CBD5E1">
              <a:alpha val="8000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55548" y="191566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82396" y="183337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914400" y="1865376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55548" y="324154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882396" y="315925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914400" y="3191256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955548" y="4558284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82396" y="447598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914400" y="450799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</a:t>
            </a:r>
            <a:endParaRPr lang="en-US" sz="3400" dirty="0"/>
          </a:p>
        </p:txBody>
      </p:sp>
      <p:sp>
        <p:nvSpPr>
          <p:cNvPr id="22" name="Shape 17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3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restrained default structure.</a:t>
            </a:r>
            <a:endParaRPr lang="en-US" sz="2200" dirty="0"/>
          </a:p>
        </p:txBody>
      </p:sp>
      <p:sp>
        <p:nvSpPr>
          <p:cNvPr id="25" name="Shape 19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6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Minimalism / newmorphism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sparse rules or soft raised surfaces.</a:t>
            </a:r>
            <a:endParaRPr lang="en-US" sz="2200" dirty="0"/>
          </a:p>
        </p:txBody>
      </p:sp>
      <p:sp>
        <p:nvSpPr>
          <p:cNvPr id="28" name="Shape 21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9" name="Image 5" descr="chart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Glass / data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translucent surfaces or metric rails.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 (Cont. 2/2)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Clean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restrained default structure for ordinary decks.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Pruning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preview excludes styles that only change palette or background.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Headings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stable slide boundaries.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Lists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and unordered structure.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 (Cont. 2/2)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Constraint: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Indented description lines stay under the bold label.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Emphasis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bold and italic remain editable.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4F6F8F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4F6F8F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4F6F8F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4F6F8F"/>
            </a:solidFill>
            <a:prstDash val="solid"/>
            <a:headEnd type="triangle"/>
          </a:ln>
        </p:spPr>
      </p:sp>
      <p:sp>
        <p:nvSpPr>
          <p:cNvPr id="10" name="Shape 8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4F6F8F"/>
            </a:solidFill>
            <a:prstDash val="solid"/>
            <a:headEnd type="triangle"/>
          </a:ln>
        </p:spPr>
      </p:sp>
      <p:sp>
        <p:nvSpPr>
          <p:cNvPr id="11" name="Shape 9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E9EEF5"/>
          </a:solidFill>
          <a:ln w="12700">
            <a:solidFill>
              <a:srgbClr val="4F6F8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9EE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source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E9EEF5"/>
          </a:solidFill>
          <a:ln w="12700">
            <a:solidFill>
              <a:srgbClr val="4F6F8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9EE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blocks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E9EEF5"/>
          </a:solidFill>
          <a:ln w="12700">
            <a:solidFill>
              <a:srgbClr val="4F6F8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9EE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slides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E9EEF5"/>
          </a:solidFill>
          <a:ln w="12700">
            <a:solidFill>
              <a:srgbClr val="4F6F8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9EE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objects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E9EEF5"/>
          </a:solidFill>
          <a:ln w="12700">
            <a:solidFill>
              <a:srgbClr val="4F6F8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9EE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 overflow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E9EEF5"/>
          </a:solidFill>
          <a:ln w="12700">
            <a:solidFill>
              <a:srgbClr val="4F6F8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9EE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PPTX HTML PDF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64108" y="1513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90956" y="1431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6350508" y="1513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277356" y="1431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864108" y="3799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790956" y="3717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21" name="Shape 16"/>
          <p:cNvSpPr/>
          <p:nvPr/>
        </p:nvSpPr>
        <p:spPr>
          <a:xfrm>
            <a:off x="6350508" y="3799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6277356" y="3717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</a:t>
            </a:r>
            <a:endParaRPr lang="en-US" sz="3400" dirty="0"/>
          </a:p>
        </p:txBody>
      </p:sp>
      <p:sp>
        <p:nvSpPr>
          <p:cNvPr id="26" name="Shape 20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7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Surfaces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rounded-card, two-corner-card, flag-drop, ticket-panel, notched-panel, circle-vine.</a:t>
            </a:r>
            <a:endParaRPr lang="en-US" sz="2200" dirty="0"/>
          </a:p>
        </p:txBody>
      </p:sp>
      <p:sp>
        <p:nvSpPr>
          <p:cNvPr id="29" name="Shape 22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30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toc-strips, two-column-compare, three-card-grid, six-tile-grid, timeline-rail, pipeline-chain.</a:t>
            </a:r>
            <a:endParaRPr lang="en-US" sz="2200" dirty="0"/>
          </a:p>
        </p:txBody>
      </p:sp>
      <p:sp>
        <p:nvSpPr>
          <p:cNvPr id="32" name="Shape 2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33" name="Image 6" descr="chart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4" name="Text 25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chart-table-pair, metric-proof, arc-ring-proof, gauge-proof, connected-strip, mixed-object-pack.</a:t>
            </a:r>
            <a:endParaRPr lang="en-US" sz="2200" dirty="0"/>
          </a:p>
        </p:txBody>
      </p:sp>
      <p:sp>
        <p:nvSpPr>
          <p:cNvPr id="35" name="Shape 26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36" name="Image 7" descr="flow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7" name="Text 27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Connectors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straight-arrow, elbow-arrow, boundary-attach, overlap-joint, parallel-flow, contrast-flow.</a:t>
            </a:r>
            <a:endParaRPr lang="en-US" sz="2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 (Cont. 2/2)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Icons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number-badge, mono-icon-slot, letter-disc, quiet-aside, image-safe-frame, brand-glyph.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Page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clean-card, glass-surface, newmorphic-panel, data-rail, minimal-rule.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5548" y="1467612"/>
            <a:ext cx="10241280" cy="4526280"/>
          </a:xfrm>
          <a:prstGeom prst="roundRect">
            <a:avLst>
              <a:gd name="adj" fmla="val 1212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82396" y="1385316"/>
            <a:ext cx="10241280" cy="4526280"/>
          </a:xfrm>
          <a:prstGeom prst="roundRect">
            <a:avLst>
              <a:gd name="adj" fmla="val 1212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1417320"/>
            <a:ext cx="10241280" cy="4526280"/>
          </a:xfrm>
          <a:prstGeom prst="roundRect">
            <a:avLst>
              <a:gd name="adj" fmla="val 1212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34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6F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Renderer expectation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6F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QA 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6F8F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 box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editable, middle aligned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minimum size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native table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fill and cell padding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Diagram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nodes and connectors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clipped labels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theme-colored data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contrast and value clarity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997196" y="1476756"/>
            <a:ext cx="6199632" cy="4407408"/>
          </a:xfrm>
          <a:prstGeom prst="roundRect">
            <a:avLst>
              <a:gd name="adj" fmla="val 1245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924044" y="1394460"/>
            <a:ext cx="6199632" cy="4407408"/>
          </a:xfrm>
          <a:prstGeom prst="roundRect">
            <a:avLst>
              <a:gd name="adj" fmla="val 1245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956048" y="1426464"/>
            <a:ext cx="6199632" cy="4407408"/>
          </a:xfrm>
          <a:prstGeom prst="roundRect">
            <a:avLst>
              <a:gd name="adj" fmla="val 1245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3400" dirty="0"/>
          </a:p>
        </p:txBody>
      </p:sp>
      <p:sp>
        <p:nvSpPr>
          <p:cNvPr id="11" name="Text 8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Numeric 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stay side by side.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Data density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values remain readable without shrinking below floor.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 goal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coverage and defects are visible together.</a:t>
            </a:r>
            <a:endParaRPr lang="en-US" sz="2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5548" y="1467612"/>
            <a:ext cx="10241280" cy="4526280"/>
          </a:xfrm>
          <a:prstGeom prst="roundRect">
            <a:avLst>
              <a:gd name="adj" fmla="val 1212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82396" y="1385316"/>
            <a:ext cx="10241280" cy="4526280"/>
          </a:xfrm>
          <a:prstGeom prst="roundRect">
            <a:avLst>
              <a:gd name="adj" fmla="val 1212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1417320"/>
            <a:ext cx="10241280" cy="4526280"/>
          </a:xfrm>
          <a:prstGeom prst="roundRect">
            <a:avLst>
              <a:gd name="adj" fmla="val 1212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 (Cont. 2/2)</a:t>
            </a:r>
            <a:endParaRPr lang="en-US" sz="34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113157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6F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Coverage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6F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Defects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6F8F"/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PPTX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5548" y="1467612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82396" y="1385316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1417320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3400" dirty="0"/>
          </a:p>
        </p:txBody>
      </p:sp>
      <p:sp>
        <p:nvSpPr>
          <p:cNvPr id="10" name="Shape 7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21540000"/>
              <a:gd name="adj3" fmla="val 12000"/>
            </a:avLst>
          </a:prstGeom>
          <a:solidFill>
            <a:srgbClr val="D5DCE7">
              <a:alpha val="82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16200000"/>
              <a:gd name="adj2" fmla="val 21540000"/>
              <a:gd name="adj3" fmla="val 12000"/>
            </a:avLst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12780000"/>
              <a:gd name="adj3" fmla="val 12000"/>
            </a:avLst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514348" y="3049296"/>
            <a:ext cx="145278" cy="145278"/>
          </a:xfrm>
          <a:prstGeom prst="ellipse">
            <a:avLst/>
          </a:prstGeom>
          <a:solidFill>
            <a:srgbClr val="CBD5E1"/>
          </a:solidFill>
          <a:ln w="12700">
            <a:solidFill>
              <a:srgbClr val="E9EEF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704039" y="2945647"/>
            <a:ext cx="1286745" cy="1286745"/>
          </a:xfrm>
          <a:prstGeom prst="ellipse">
            <a:avLst/>
          </a:prstGeom>
          <a:solidFill>
            <a:srgbClr val="E9EEF5"/>
          </a:solidFill>
          <a:ln w="12700">
            <a:solidFill>
              <a:srgbClr val="E9EEF5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766300" y="3236203"/>
            <a:ext cx="1162221" cy="4980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84%</a:t>
            </a:r>
            <a:endParaRPr lang="en-US" sz="3000" dirty="0"/>
          </a:p>
        </p:txBody>
      </p:sp>
      <p:sp>
        <p:nvSpPr>
          <p:cNvPr id="16" name="Text 13"/>
          <p:cNvSpPr txBox="1"/>
          <p:nvPr/>
        </p:nvSpPr>
        <p:spPr>
          <a:xfrm>
            <a:off x="1683285" y="3755052"/>
            <a:ext cx="1328253" cy="373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53657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3796589" y="2567178"/>
            <a:ext cx="137160" cy="137160"/>
          </a:xfrm>
          <a:prstGeom prst="ellipse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025189" y="241630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84%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3796589" y="3006090"/>
            <a:ext cx="137160" cy="137160"/>
          </a:xfrm>
          <a:prstGeom prst="ellipse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025189" y="285521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53657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 16%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6658990" y="3835908"/>
            <a:ext cx="4051962" cy="256032"/>
          </a:xfrm>
          <a:prstGeom prst="roundRect">
            <a:avLst>
              <a:gd name="adj" fmla="val 28571"/>
            </a:avLst>
          </a:prstGeom>
          <a:solidFill>
            <a:srgbClr val="D5DCE7">
              <a:alpha val="85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658990" y="3835908"/>
            <a:ext cx="3687286" cy="256032"/>
          </a:xfrm>
          <a:prstGeom prst="roundRect">
            <a:avLst>
              <a:gd name="adj" fmla="val 28571"/>
            </a:avLst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0346276" y="3433572"/>
            <a:ext cx="0" cy="969264"/>
          </a:xfrm>
          <a:prstGeom prst="line">
            <a:avLst/>
          </a:prstGeom>
          <a:noFill/>
          <a:ln w="12700">
            <a:solidFill>
              <a:srgbClr val="243041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0199972" y="3817620"/>
            <a:ext cx="292608" cy="29260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4F6F8F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6658990" y="3744468"/>
            <a:ext cx="0" cy="438912"/>
          </a:xfrm>
          <a:prstGeom prst="line">
            <a:avLst/>
          </a:prstGeom>
          <a:noFill/>
          <a:ln w="12700">
            <a:solidFill>
              <a:srgbClr val="D5DCE7">
                <a:alpha val="95000"/>
              </a:srgbClr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0710952" y="3744468"/>
            <a:ext cx="0" cy="438912"/>
          </a:xfrm>
          <a:prstGeom prst="line">
            <a:avLst/>
          </a:prstGeom>
          <a:noFill/>
          <a:ln w="12700">
            <a:solidFill>
              <a:srgbClr val="D5DCE7">
                <a:alpha val="9500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955618" y="2217420"/>
            <a:ext cx="14587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91%</a:t>
            </a:r>
            <a:endParaRPr lang="en-US" sz="3200" dirty="0"/>
          </a:p>
        </p:txBody>
      </p:sp>
      <p:sp>
        <p:nvSpPr>
          <p:cNvPr id="28" name="Text 25"/>
          <p:cNvSpPr txBox="1"/>
          <p:nvPr/>
        </p:nvSpPr>
        <p:spPr>
          <a:xfrm>
            <a:off x="6658990" y="4530852"/>
            <a:ext cx="40519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53657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Score · Readiness</a:t>
            </a:r>
            <a:endParaRPr lang="en-US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6658990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3657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10162312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3657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5548" y="1467612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82396" y="1385316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1417320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 (Cont. 2/2)</a:t>
            </a:r>
            <a:endParaRPr lang="en-US" sz="3400" dirty="0"/>
          </a:p>
        </p:txBody>
      </p:sp>
      <p:sp>
        <p:nvSpPr>
          <p:cNvPr id="10" name="Shape 7"/>
          <p:cNvSpPr/>
          <p:nvPr/>
        </p:nvSpPr>
        <p:spPr>
          <a:xfrm>
            <a:off x="1078992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280160" y="4347972"/>
            <a:ext cx="593815" cy="128016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261872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1261872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30%</a:t>
            </a:r>
            <a:endParaRPr lang="en-US" sz="2800" dirty="0"/>
          </a:p>
        </p:txBody>
      </p:sp>
      <p:sp>
        <p:nvSpPr>
          <p:cNvPr id="14" name="Shape 11"/>
          <p:cNvSpPr/>
          <p:nvPr/>
        </p:nvSpPr>
        <p:spPr>
          <a:xfrm>
            <a:off x="3628705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829873" y="4347972"/>
            <a:ext cx="1227218" cy="128016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811585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3811585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CBD5E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62%</a:t>
            </a:r>
            <a:endParaRPr lang="en-US" sz="2800" dirty="0"/>
          </a:p>
        </p:txBody>
      </p:sp>
      <p:sp>
        <p:nvSpPr>
          <p:cNvPr id="18" name="Shape 15"/>
          <p:cNvSpPr/>
          <p:nvPr/>
        </p:nvSpPr>
        <p:spPr>
          <a:xfrm>
            <a:off x="6178418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379586" y="4347972"/>
            <a:ext cx="1702270" cy="128016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361298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6361298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86%</a:t>
            </a:r>
            <a:endParaRPr lang="en-US" sz="2800" dirty="0"/>
          </a:p>
        </p:txBody>
      </p:sp>
      <p:sp>
        <p:nvSpPr>
          <p:cNvPr id="22" name="Shape 19"/>
          <p:cNvSpPr/>
          <p:nvPr/>
        </p:nvSpPr>
        <p:spPr>
          <a:xfrm>
            <a:off x="8728131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929299" y="4347972"/>
            <a:ext cx="1860621" cy="128016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911011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8911011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94%</a:t>
            </a:r>
            <a:endParaRPr lang="en-US" sz="2800" dirty="0"/>
          </a:p>
        </p:txBody>
      </p:sp>
      <p:sp>
        <p:nvSpPr>
          <p:cNvPr id="26" name="Shape 23"/>
          <p:cNvSpPr/>
          <p:nvPr/>
        </p:nvSpPr>
        <p:spPr>
          <a:xfrm>
            <a:off x="3285375" y="3589020"/>
            <a:ext cx="399904" cy="0"/>
          </a:xfrm>
          <a:prstGeom prst="line">
            <a:avLst/>
          </a:prstGeom>
          <a:noFill/>
          <a:ln w="12700">
            <a:solidFill>
              <a:srgbClr val="4F6F8F"/>
            </a:solidFill>
            <a:prstDash val="solid"/>
            <a:tailEnd type="triangle"/>
          </a:ln>
        </p:spPr>
      </p:sp>
      <p:sp>
        <p:nvSpPr>
          <p:cNvPr id="27" name="Shape 24"/>
          <p:cNvSpPr/>
          <p:nvPr/>
        </p:nvSpPr>
        <p:spPr>
          <a:xfrm>
            <a:off x="5835088" y="3589020"/>
            <a:ext cx="399904" cy="0"/>
          </a:xfrm>
          <a:prstGeom prst="line">
            <a:avLst/>
          </a:prstGeom>
          <a:noFill/>
          <a:ln w="12700">
            <a:solidFill>
              <a:srgbClr val="4F6F8F"/>
            </a:solidFill>
            <a:prstDash val="solid"/>
            <a:tailEnd type="triangle"/>
          </a:ln>
        </p:spPr>
      </p:sp>
      <p:sp>
        <p:nvSpPr>
          <p:cNvPr id="28" name="Shape 25"/>
          <p:cNvSpPr/>
          <p:nvPr/>
        </p:nvSpPr>
        <p:spPr>
          <a:xfrm>
            <a:off x="8384801" y="3589020"/>
            <a:ext cx="399904" cy="0"/>
          </a:xfrm>
          <a:prstGeom prst="line">
            <a:avLst/>
          </a:prstGeom>
          <a:noFill/>
          <a:ln w="12700">
            <a:solidFill>
              <a:srgbClr val="4F6F8F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CBD5E1">
              <a:alpha val="8000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55548" y="191566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82396" y="183337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914400" y="1865376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55548" y="324154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882396" y="315925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914400" y="3191256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955548" y="4558284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82396" y="447598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914400" y="450799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3400" dirty="0"/>
          </a:p>
        </p:txBody>
      </p:sp>
      <p:sp>
        <p:nvSpPr>
          <p:cNvPr id="22" name="Shape 17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3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Method flag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high-level step.</a:t>
            </a:r>
            <a:endParaRPr lang="en-US" sz="2200" dirty="0"/>
          </a:p>
        </p:txBody>
      </p:sp>
      <p:sp>
        <p:nvSpPr>
          <p:cNvPr id="25" name="Shape 19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6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Ticket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document-like evidence.</a:t>
            </a:r>
            <a:endParaRPr lang="en-US" sz="2200" dirty="0"/>
          </a:p>
        </p:txBody>
      </p:sp>
      <p:sp>
        <p:nvSpPr>
          <p:cNvPr id="28" name="Shape 21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9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Two-corner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linear grouping.</a:t>
            </a:r>
            <a:endParaRPr lang="en-US" sz="2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 (Cont. 2/2)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Notched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technical constraint or code-like object.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Rounded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neutral fallback surface.</a:t>
            </a:r>
            <a:endParaRPr lang="en-US" sz="2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64108" y="1513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90956" y="1431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6350508" y="1513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277356" y="1431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864108" y="3799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790956" y="3717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21" name="Shape 16"/>
          <p:cNvSpPr/>
          <p:nvPr/>
        </p:nvSpPr>
        <p:spPr>
          <a:xfrm>
            <a:off x="6350508" y="3799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6277356" y="3717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3400" dirty="0"/>
          </a:p>
        </p:txBody>
      </p:sp>
      <p:sp>
        <p:nvSpPr>
          <p:cNvPr id="26" name="Shape 20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7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1689354" y="2033016"/>
            <a:ext cx="3961638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quiet monochrome anchor.</a:t>
            </a:r>
            <a:endParaRPr lang="en-US" sz="2200" dirty="0"/>
          </a:p>
        </p:txBody>
      </p:sp>
      <p:sp>
        <p:nvSpPr>
          <p:cNvPr id="29" name="Shape 22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30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7175754" y="1865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scale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secondary to title and body text.</a:t>
            </a:r>
            <a:endParaRPr lang="en-US" sz="2200" dirty="0"/>
          </a:p>
        </p:txBody>
      </p:sp>
      <p:sp>
        <p:nvSpPr>
          <p:cNvPr id="32" name="Shape 2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33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4" name="Text 25"/>
          <p:cNvSpPr txBox="1"/>
          <p:nvPr/>
        </p:nvSpPr>
        <p:spPr>
          <a:xfrm>
            <a:off x="16893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Placement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never fills empty space alone.</a:t>
            </a:r>
            <a:endParaRPr lang="en-US" sz="2200" dirty="0"/>
          </a:p>
        </p:txBody>
      </p:sp>
      <p:sp>
        <p:nvSpPr>
          <p:cNvPr id="35" name="Shape 26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36" name="Image 7" descr="tab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7" name="Text 27"/>
          <p:cNvSpPr txBox="1"/>
          <p:nvPr/>
        </p:nvSpPr>
        <p:spPr>
          <a:xfrm>
            <a:off x="71757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and text share a stable center line.</a:t>
            </a:r>
            <a:endParaRPr lang="en-US" sz="2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64108" y="1513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90956" y="1431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6350508" y="1513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277356" y="1431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864108" y="3799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790956" y="3717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21" name="Shape 16"/>
          <p:cNvSpPr/>
          <p:nvPr/>
        </p:nvSpPr>
        <p:spPr>
          <a:xfrm>
            <a:off x="6350508" y="3799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6277356" y="3717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3400" dirty="0"/>
          </a:p>
        </p:txBody>
      </p:sp>
      <p:sp>
        <p:nvSpPr>
          <p:cNvPr id="26" name="Shape 20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7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1689354" y="1865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fit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region bounds are validated before output.</a:t>
            </a:r>
            <a:endParaRPr lang="en-US" sz="2200" dirty="0"/>
          </a:p>
        </p:txBody>
      </p:sp>
      <p:sp>
        <p:nvSpPr>
          <p:cNvPr id="29" name="Shape 22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30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7175754" y="1697736"/>
            <a:ext cx="3961638" cy="14508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cell text uses middle alignment and coherent margins.</a:t>
            </a:r>
            <a:endParaRPr lang="en-US" sz="2200" dirty="0"/>
          </a:p>
        </p:txBody>
      </p:sp>
      <p:sp>
        <p:nvSpPr>
          <p:cNvPr id="32" name="Shape 2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33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4" name="Text 25"/>
          <p:cNvSpPr txBox="1"/>
          <p:nvPr/>
        </p:nvSpPr>
        <p:spPr>
          <a:xfrm>
            <a:off x="16893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Continuation slides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dense content splits before unreadable shrink.</a:t>
            </a:r>
            <a:endParaRPr lang="en-US" sz="2200" dirty="0"/>
          </a:p>
        </p:txBody>
      </p:sp>
      <p:sp>
        <p:nvSpPr>
          <p:cNvPr id="35" name="Shape 26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36" name="Image 7" descr="artic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37" name="Text 27"/>
          <p:cNvSpPr txBox="1"/>
          <p:nvPr/>
        </p:nvSpPr>
        <p:spPr>
          <a:xfrm>
            <a:off x="71757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Cleanup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decorative-only bullets and empty artifacts are removed.</a:t>
            </a:r>
            <a:endParaRPr lang="en-US" sz="2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63040"/>
            <a:ext cx="56235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3428" y="1513332"/>
            <a:ext cx="4434840" cy="4526280"/>
          </a:xfrm>
          <a:prstGeom prst="roundRect">
            <a:avLst>
              <a:gd name="adj" fmla="val 123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780276" y="1431036"/>
            <a:ext cx="4434840" cy="4526280"/>
          </a:xfrm>
          <a:prstGeom prst="roundRect">
            <a:avLst>
              <a:gd name="adj" fmla="val 123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812280" y="1463040"/>
            <a:ext cx="4434840" cy="4526280"/>
          </a:xfrm>
          <a:prstGeom prst="roundRect">
            <a:avLst>
              <a:gd name="adj" fmla="val 123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12280" y="1463040"/>
            <a:ext cx="4434840" cy="452628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Image Safe Frame</a:t>
            </a:r>
            <a:endParaRPr lang="en-US" sz="3400" dirty="0"/>
          </a:p>
        </p:txBody>
      </p:sp>
      <p:sp>
        <p:nvSpPr>
          <p:cNvPr id="11" name="Text 8"/>
          <p:cNvSpPr txBox="1"/>
          <p:nvPr/>
        </p:nvSpPr>
        <p:spPr>
          <a:xfrm>
            <a:off x="896112" y="1572768"/>
            <a:ext cx="5477256" cy="43068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picture content uses an internal safe frame.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Surface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background decoration stays outside the picture bounds.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child images never exceed their owning image region.</a:t>
            </a:r>
            <a:endParaRPr lang="en-US" sz="2200" dirty="0"/>
          </a:p>
        </p:txBody>
      </p:sp>
      <p:pic>
        <p:nvPicPr>
          <p:cNvPr id="12" name="Image 1" descr="Safe frame diagram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40296" y="1591056"/>
            <a:ext cx="4178808" cy="427024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248" y="4041648"/>
            <a:ext cx="457200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0956" y="1495044"/>
            <a:ext cx="4617720" cy="2359152"/>
          </a:xfrm>
          <a:prstGeom prst="roundRect">
            <a:avLst>
              <a:gd name="adj" fmla="val 2326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17804" y="1412748"/>
            <a:ext cx="4617720" cy="2359152"/>
          </a:xfrm>
          <a:prstGeom prst="roundRect">
            <a:avLst>
              <a:gd name="adj" fmla="val 2326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49808" y="1444752"/>
            <a:ext cx="4617720" cy="2359152"/>
          </a:xfrm>
          <a:prstGeom prst="roundRect">
            <a:avLst>
              <a:gd name="adj" fmla="val 2326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49808" y="1444752"/>
            <a:ext cx="4617720" cy="2359152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618988" y="1531620"/>
            <a:ext cx="5532120" cy="2212848"/>
          </a:xfrm>
          <a:prstGeom prst="roundRect">
            <a:avLst>
              <a:gd name="adj" fmla="val 2479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5545836" y="1449324"/>
            <a:ext cx="5532120" cy="2212848"/>
          </a:xfrm>
          <a:prstGeom prst="roundRect">
            <a:avLst>
              <a:gd name="adj" fmla="val 2479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5577840" y="1481328"/>
            <a:ext cx="5532120" cy="2212848"/>
          </a:xfrm>
          <a:prstGeom prst="roundRect">
            <a:avLst>
              <a:gd name="adj" fmla="val 2479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77840" y="1481328"/>
            <a:ext cx="5532120" cy="2212848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5618988" y="3963924"/>
            <a:ext cx="5532120" cy="2011680"/>
          </a:xfrm>
          <a:prstGeom prst="roundRect">
            <a:avLst>
              <a:gd name="adj" fmla="val 272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5545836" y="3881628"/>
            <a:ext cx="5532120" cy="2011680"/>
          </a:xfrm>
          <a:prstGeom prst="roundRect">
            <a:avLst>
              <a:gd name="adj" fmla="val 272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5577840" y="3913632"/>
            <a:ext cx="5532120" cy="2011680"/>
          </a:xfrm>
          <a:prstGeom prst="roundRect">
            <a:avLst>
              <a:gd name="adj" fmla="val 272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77840" y="3913632"/>
            <a:ext cx="5532120" cy="201168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Mixed Object Packing</a:t>
            </a:r>
            <a:endParaRPr lang="en-US" sz="3400" dirty="0"/>
          </a:p>
        </p:txBody>
      </p:sp>
      <p:graphicFrame>
        <p:nvGraphicFramePr>
          <p:cNvPr id="19" name="Chart 0" descr=""/>
          <p:cNvGraphicFramePr/>
          <p:nvPr/>
        </p:nvGraphicFramePr>
        <p:xfrm>
          <a:off x="877824" y="1591056"/>
          <a:ext cx="4361688" cy="20665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481328"/>
          <a:ext cx="5532120" cy="2212848"/>
        </p:xfrm>
        <a:graphic>
          <a:graphicData uri="http://schemas.openxmlformats.org/drawingml/2006/table">
            <a:tbl>
              <a:tblPr/>
              <a:tblGrid>
                <a:gridCol w="2766060"/>
                <a:gridCol w="2766060"/>
              </a:tblGrid>
              <a:tr h="7376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6F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6F8F"/>
                    </a:solidFill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trend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Image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24304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bounded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21" name="Text 14"/>
          <p:cNvSpPr txBox="1"/>
          <p:nvPr/>
        </p:nvSpPr>
        <p:spPr>
          <a:xfrm>
            <a:off x="914400" y="4151376"/>
            <a:ext cx="4425696" cy="14996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Reading order</a:t>
            </a:r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remain the primary evidence.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visual evidence stays bounded in a separate safe frame.</a:t>
            </a:r>
            <a:endParaRPr lang="en-US" sz="1800" dirty="0"/>
          </a:p>
        </p:txBody>
      </p:sp>
      <p:pic>
        <p:nvPicPr>
          <p:cNvPr id="22" name="Image 3" descr="Safe frame diagram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648249" y="3984041"/>
            <a:ext cx="5391302" cy="1870862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CBD5E1">
              <a:alpha val="8000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55548" y="191566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82396" y="183337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914400" y="1865376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55548" y="324154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882396" y="315925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914400" y="3191256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955548" y="4558284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82396" y="447598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914400" y="450799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3400" dirty="0"/>
          </a:p>
        </p:txBody>
      </p:sp>
      <p:sp>
        <p:nvSpPr>
          <p:cNvPr id="22" name="Shape 17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3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Theme Preview builds this source across decoration styles.</a:t>
            </a:r>
            <a:endParaRPr lang="en-US" sz="2200" dirty="0"/>
          </a:p>
        </p:txBody>
      </p:sp>
      <p:sp>
        <p:nvSpPr>
          <p:cNvPr id="25" name="Shape 19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6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Gallery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Pages shows each styled deck and object-check slide.</a:t>
            </a:r>
            <a:endParaRPr lang="en-US" sz="2200" dirty="0"/>
          </a:p>
        </p:txBody>
      </p:sp>
      <p:sp>
        <p:nvSpPr>
          <p:cNvPr id="28" name="Shape 21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9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Ownership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24304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owns rendering; mdpr-skill may prepare hints.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243041"/>
      </a:dk1>
      <a:lt1>
        <a:srgbClr val="E9EEF5"/>
      </a:lt1>
      <a:dk2>
        <a:srgbClr val="536579"/>
      </a:dk2>
      <a:lt2>
        <a:srgbClr val="E9EEF5"/>
      </a:lt2>
      <a:accent1>
        <a:srgbClr val="4F6F8F"/>
      </a:accent1>
      <a:accent2>
        <a:srgbClr val="CBD5E1"/>
      </a:accent2>
      <a:accent3>
        <a:srgbClr val="4F6F8F"/>
      </a:accent3>
      <a:accent4>
        <a:srgbClr val="536579"/>
      </a:accent4>
      <a:accent5>
        <a:srgbClr val="D5DCE7"/>
      </a:accent5>
      <a:accent6>
        <a:srgbClr val="243041"/>
      </a:accent6>
      <a:hlink>
        <a:srgbClr val="4F6F8F"/>
      </a:hlink>
      <a:folHlink>
        <a:srgbClr val="CBD5E1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Design Grammar</dc:title>
  <dc:subject>Generated from Markdown through Presentation IR and Layout IR</dc:subject>
  <dc:creator>mdpresent</dc:creator>
  <cp:lastModifiedBy>mdpresent</cp:lastModifiedBy>
  <cp:revision>1</cp:revision>
  <dcterms:created xsi:type="dcterms:W3CDTF">2026-06-21T16:53:44Z</dcterms:created>
  <dcterms:modified xsi:type="dcterms:W3CDTF">2026-06-21T16:53:44Z</dcterms:modified>
</cp:coreProperties>
</file>