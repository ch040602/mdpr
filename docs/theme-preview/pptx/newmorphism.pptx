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charts/chart12.xml" ContentType="application/vnd.openxmlformats-officedocument.drawingml.chart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92</c:v>
                </c:pt>
                <c:pt idx="1">
                  <c:v>88</c:v>
                </c:pt>
                <c:pt idx="2">
                  <c:v>95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Defects</c:v>
                </c:pt>
              </c:strCache>
            </c:strRef>
          </c:tx>
          <c:spPr>
            <a:solidFill>
              <a:srgbClr val="CBD5E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Parser</c:v>
                  </c:pt>
                  <c:pt idx="1">
                    <c:v>Layout</c:v>
                  </c:pt>
                  <c:pt idx="2">
                    <c:v>PPTX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98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898989"/>
              </a:solidFill>
              <a:latin typeface="Pretendard"/>
              <a:cs typeface="Pretendard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</c:v>
                </c:pt>
              </c:strCache>
            </c:strRef>
          </c:tx>
          <c:spPr>
            <a:solidFill>
              <a:srgbClr val="4F6F8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Parse</c:v>
                  </c:pt>
                  <c:pt idx="1">
                    <c:v>Plan</c:v>
                  </c:pt>
                  <c:pt idx="2">
                    <c:v>Render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86</c:v>
                </c:pt>
                <c:pt idx="2">
                  <c:v>93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11111"/>
                </a:solidFill>
                <a:latin typeface="Pretendard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D5DCE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898989"/>
                </a:solidFill>
                <a:latin typeface="Pretendard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image" Target="../media/image-12-15.png"/><Relationship Id="rId16" Type="http://schemas.openxmlformats.org/officeDocument/2006/relationships/image" Target="../media/image-1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1.xml"/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svg"/><Relationship Id="rId3" Type="http://schemas.openxmlformats.org/officeDocument/2006/relationships/image" Target="../media/image-21-3.png"/><Relationship Id="rId4" Type="http://schemas.openxmlformats.org/officeDocument/2006/relationships/image" Target="../media/image-21-4.svg"/><Relationship Id="rId5" Type="http://schemas.openxmlformats.org/officeDocument/2006/relationships/image" Target="../media/image-21-5.png"/><Relationship Id="rId6" Type="http://schemas.openxmlformats.org/officeDocument/2006/relationships/image" Target="../media/image-21-6.svg"/><Relationship Id="rId7" Type="http://schemas.openxmlformats.org/officeDocument/2006/relationships/image" Target="../media/image-21-7.png"/><Relationship Id="rId8" Type="http://schemas.openxmlformats.org/officeDocument/2006/relationships/image" Target="../media/image-21-8.svg"/><Relationship Id="rId9" Type="http://schemas.openxmlformats.org/officeDocument/2006/relationships/image" Target="../media/image-21-9.png"/><Relationship Id="rId10" Type="http://schemas.openxmlformats.org/officeDocument/2006/relationships/image" Target="../media/image-21-10.sv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sv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sv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svg"/><Relationship Id="rId3" Type="http://schemas.openxmlformats.org/officeDocument/2006/relationships/image" Target="../media/image-22-3.png"/><Relationship Id="rId4" Type="http://schemas.openxmlformats.org/officeDocument/2006/relationships/image" Target="../media/image-22-4.svg"/><Relationship Id="rId5" Type="http://schemas.openxmlformats.org/officeDocument/2006/relationships/image" Target="../media/image-22-5.png"/><Relationship Id="rId6" Type="http://schemas.openxmlformats.org/officeDocument/2006/relationships/image" Target="../media/image-22-6.svg"/><Relationship Id="rId7" Type="http://schemas.openxmlformats.org/officeDocument/2006/relationships/image" Target="../media/image-22-7.png"/><Relationship Id="rId8" Type="http://schemas.openxmlformats.org/officeDocument/2006/relationships/image" Target="../media/image-22-8.svg"/><Relationship Id="rId9" Type="http://schemas.openxmlformats.org/officeDocument/2006/relationships/image" Target="../media/image-22-9.png"/><Relationship Id="rId10" Type="http://schemas.openxmlformats.org/officeDocument/2006/relationships/image" Target="../media/image-22-10.svg"/><Relationship Id="rId11" Type="http://schemas.openxmlformats.org/officeDocument/2006/relationships/image" Target="../media/image-22-11.png"/><Relationship Id="rId12" Type="http://schemas.openxmlformats.org/officeDocument/2006/relationships/image" Target="../media/image-22-12.svg"/><Relationship Id="rId13" Type="http://schemas.openxmlformats.org/officeDocument/2006/relationships/image" Target="../media/image-22-13.png"/><Relationship Id="rId14" Type="http://schemas.openxmlformats.org/officeDocument/2006/relationships/image" Target="../media/image-22-14.svg"/><Relationship Id="rId15" Type="http://schemas.openxmlformats.org/officeDocument/2006/relationships/image" Target="../media/image-22-15.png"/><Relationship Id="rId16" Type="http://schemas.openxmlformats.org/officeDocument/2006/relationships/image" Target="../media/image-22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svg"/><Relationship Id="rId3" Type="http://schemas.openxmlformats.org/officeDocument/2006/relationships/image" Target="../media/image-23-3.png"/><Relationship Id="rId4" Type="http://schemas.openxmlformats.org/officeDocument/2006/relationships/image" Target="../media/image-23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7" Type="http://schemas.openxmlformats.org/officeDocument/2006/relationships/chart" Target="/ppt/charts/chart12.xml"/><Relationship Id="rId1" Type="http://schemas.openxmlformats.org/officeDocument/2006/relationships/image" Target="../media/image-24-1.png"/><Relationship Id="rId2" Type="http://schemas.openxmlformats.org/officeDocument/2006/relationships/image" Target="../media/image-24-2.svg"/><Relationship Id="rId3" Type="http://schemas.openxmlformats.org/officeDocument/2006/relationships/image" Target="../media/image-24-3.png"/><Relationship Id="rId4" Type="http://schemas.openxmlformats.org/officeDocument/2006/relationships/image" Target="../media/image-24-4.svg"/><Relationship Id="rId5" Type="http://schemas.openxmlformats.org/officeDocument/2006/relationships/image" Target="../media/image-24-5.png"/><Relationship Id="rId6" Type="http://schemas.openxmlformats.org/officeDocument/2006/relationships/image" Target="../media/image-24-6.svg"/><Relationship Id="rId8" Type="http://schemas.openxmlformats.org/officeDocument/2006/relationships/image" Target="../media/image-24-7.png"/><Relationship Id="rId9" Type="http://schemas.openxmlformats.org/officeDocument/2006/relationships/image" Target="../media/image-24-8.sv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svg"/><Relationship Id="rId3" Type="http://schemas.openxmlformats.org/officeDocument/2006/relationships/image" Target="../media/image-25-3.png"/><Relationship Id="rId4" Type="http://schemas.openxmlformats.org/officeDocument/2006/relationships/image" Target="../media/image-25-4.svg"/><Relationship Id="rId5" Type="http://schemas.openxmlformats.org/officeDocument/2006/relationships/image" Target="../media/image-25-5.png"/><Relationship Id="rId6" Type="http://schemas.openxmlformats.org/officeDocument/2006/relationships/image" Target="../media/image-25-6.svg"/><Relationship Id="rId7" Type="http://schemas.openxmlformats.org/officeDocument/2006/relationships/image" Target="../media/image-25-7.png"/><Relationship Id="rId8" Type="http://schemas.openxmlformats.org/officeDocument/2006/relationships/image" Target="../media/image-25-8.svg"/><Relationship Id="rId9" Type="http://schemas.openxmlformats.org/officeDocument/2006/relationships/image" Target="../media/image-25-9.png"/><Relationship Id="rId10" Type="http://schemas.openxmlformats.org/officeDocument/2006/relationships/image" Target="../media/image-25-10.svg"/><Relationship Id="rId11" Type="http://schemas.openxmlformats.org/officeDocument/2006/relationships/image" Target="../media/image-25-11.png"/><Relationship Id="rId12" Type="http://schemas.openxmlformats.org/officeDocument/2006/relationships/image" Target="../media/image-25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mdpr:mdpr-design-grammar-b3a462:title:__title:mdpr-design-grammar-b3a462"/>
          <p:cNvSpPr txBox="1"/>
          <p:nvPr/>
        </p:nvSpPr>
        <p:spPr>
          <a:xfrm>
            <a:off x="914400" y="2057400"/>
            <a:ext cx="103327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4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MDPR Design Grammar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188720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6382512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080760" y="1389888"/>
            <a:ext cx="22860" cy="4846320"/>
          </a:xfrm>
          <a:prstGeom prst="rect">
            <a:avLst/>
          </a:prstGeom>
          <a:solidFill>
            <a:srgbClr val="D5DCE7">
              <a:alpha val="90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" y="138988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22960" y="210312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60" y="2816352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3529584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4242816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495604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60" y="566928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2784" y="1389888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272784" y="2103120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72784" y="2816352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272784" y="3529584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2784" y="4242816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272784" y="4956048"/>
            <a:ext cx="73152" cy="5669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72784" y="5669280"/>
            <a:ext cx="73152" cy="5669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5" name="mdpr:1-2-0772f8:title:__title:1-2-0772f8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</a:t>
            </a:r>
            <a:endParaRPr lang="en-US" sz="3800" dirty="0"/>
          </a:p>
        </p:txBody>
      </p:sp>
      <p:sp>
        <p:nvSpPr>
          <p:cNvPr id="26" name="mdpr:1-2-0772f8:toc-item-1:toc-item-1"/>
          <p:cNvSpPr txBox="1"/>
          <p:nvPr/>
        </p:nvSpPr>
        <p:spPr>
          <a:xfrm>
            <a:off x="1042416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Teaser Summary</a:t>
            </a:r>
            <a:endParaRPr lang="en-US" sz="1800" dirty="0"/>
          </a:p>
        </p:txBody>
      </p:sp>
      <p:sp>
        <p:nvSpPr>
          <p:cNvPr id="27" name="mdpr:1-2-0772f8:toc-item-2:toc-item-2"/>
          <p:cNvSpPr txBox="1"/>
          <p:nvPr/>
        </p:nvSpPr>
        <p:spPr>
          <a:xfrm>
            <a:off x="1042416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Composition Contract</a:t>
            </a:r>
            <a:endParaRPr lang="en-US" sz="1800" dirty="0"/>
          </a:p>
        </p:txBody>
      </p:sp>
      <p:sp>
        <p:nvSpPr>
          <p:cNvPr id="28" name="mdpr:1-2-0772f8:toc-item-3:toc-item-3"/>
          <p:cNvSpPr txBox="1"/>
          <p:nvPr/>
        </p:nvSpPr>
        <p:spPr>
          <a:xfrm>
            <a:off x="1042416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Pruned Style Families</a:t>
            </a:r>
            <a:endParaRPr lang="en-US" sz="1800" dirty="0"/>
          </a:p>
        </p:txBody>
      </p:sp>
      <p:sp>
        <p:nvSpPr>
          <p:cNvPr id="29" name="mdpr:1-2-0772f8:toc-item-4:toc-item-4"/>
          <p:cNvSpPr txBox="1"/>
          <p:nvPr/>
        </p:nvSpPr>
        <p:spPr>
          <a:xfrm>
            <a:off x="1042416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Semantic Blocks</a:t>
            </a:r>
            <a:endParaRPr lang="en-US" sz="1800" dirty="0"/>
          </a:p>
        </p:txBody>
      </p:sp>
      <p:sp>
        <p:nvSpPr>
          <p:cNvPr id="30" name="mdpr:1-2-0772f8:toc-item-5:toc-item-5"/>
          <p:cNvSpPr txBox="1"/>
          <p:nvPr/>
        </p:nvSpPr>
        <p:spPr>
          <a:xfrm>
            <a:off x="1042416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Pipeline Diagram</a:t>
            </a:r>
            <a:endParaRPr lang="en-US" sz="1800" dirty="0"/>
          </a:p>
        </p:txBody>
      </p:sp>
      <p:sp>
        <p:nvSpPr>
          <p:cNvPr id="31" name="mdpr:1-2-0772f8:toc-item-6:toc-item-6"/>
          <p:cNvSpPr txBox="1"/>
          <p:nvPr/>
        </p:nvSpPr>
        <p:spPr>
          <a:xfrm>
            <a:off x="1042416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 Decoration Pattern Catalog</a:t>
            </a:r>
            <a:endParaRPr lang="en-US" sz="1800" dirty="0"/>
          </a:p>
        </p:txBody>
      </p:sp>
      <p:sp>
        <p:nvSpPr>
          <p:cNvPr id="32" name="mdpr:1-2-0772f8:toc-item-7:toc-item-7"/>
          <p:cNvSpPr txBox="1"/>
          <p:nvPr/>
        </p:nvSpPr>
        <p:spPr>
          <a:xfrm>
            <a:off x="1042416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 Table Coherence</a:t>
            </a:r>
            <a:endParaRPr lang="en-US" sz="1800" dirty="0"/>
          </a:p>
        </p:txBody>
      </p:sp>
      <p:sp>
        <p:nvSpPr>
          <p:cNvPr id="33" name="mdpr:1-2-0772f8:toc-item-8:toc-item-8"/>
          <p:cNvSpPr txBox="1"/>
          <p:nvPr/>
        </p:nvSpPr>
        <p:spPr>
          <a:xfrm>
            <a:off x="6492240" y="148132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 Chart and Table Pair</a:t>
            </a:r>
            <a:endParaRPr lang="en-US" sz="1800" dirty="0"/>
          </a:p>
        </p:txBody>
      </p:sp>
      <p:sp>
        <p:nvSpPr>
          <p:cNvPr id="34" name="mdpr:1-2-0772f8:toc-item-9:toc-item-9"/>
          <p:cNvSpPr txBox="1"/>
          <p:nvPr/>
        </p:nvSpPr>
        <p:spPr>
          <a:xfrm>
            <a:off x="6492240" y="219456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 Editable Proof Objects</a:t>
            </a:r>
            <a:endParaRPr lang="en-US" sz="1800" dirty="0"/>
          </a:p>
        </p:txBody>
      </p:sp>
      <p:sp>
        <p:nvSpPr>
          <p:cNvPr id="35" name="mdpr:1-2-0772f8:toc-item-10:toc-item-10"/>
          <p:cNvSpPr txBox="1"/>
          <p:nvPr/>
        </p:nvSpPr>
        <p:spPr>
          <a:xfrm>
            <a:off x="6492240" y="2907792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 Object Shape Grammar</a:t>
            </a:r>
            <a:endParaRPr lang="en-US" sz="1800" dirty="0"/>
          </a:p>
        </p:txBody>
      </p:sp>
      <p:sp>
        <p:nvSpPr>
          <p:cNvPr id="36" name="mdpr:1-2-0772f8:toc-item-11:toc-item-11"/>
          <p:cNvSpPr txBox="1"/>
          <p:nvPr/>
        </p:nvSpPr>
        <p:spPr>
          <a:xfrm>
            <a:off x="6492240" y="3621024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 Icon and Text Aside</a:t>
            </a:r>
            <a:endParaRPr lang="en-US" sz="1800" dirty="0"/>
          </a:p>
        </p:txBody>
      </p:sp>
      <p:sp>
        <p:nvSpPr>
          <p:cNvPr id="37" name="mdpr:1-2-0772f8:toc-item-12:toc-item-12"/>
          <p:cNvSpPr txBox="1"/>
          <p:nvPr/>
        </p:nvSpPr>
        <p:spPr>
          <a:xfrm>
            <a:off x="6492240" y="4334256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 Overflow Guard</a:t>
            </a:r>
            <a:endParaRPr lang="en-US" sz="1800" dirty="0"/>
          </a:p>
        </p:txBody>
      </p:sp>
      <p:sp>
        <p:nvSpPr>
          <p:cNvPr id="38" name="mdpr:1-2-0772f8:toc-item-13:toc-item-13"/>
          <p:cNvSpPr txBox="1"/>
          <p:nvPr/>
        </p:nvSpPr>
        <p:spPr>
          <a:xfrm>
            <a:off x="6492240" y="5047488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 Image Safe Frame</a:t>
            </a:r>
            <a:endParaRPr lang="en-US" sz="1800" dirty="0"/>
          </a:p>
        </p:txBody>
      </p:sp>
      <p:sp>
        <p:nvSpPr>
          <p:cNvPr id="39" name="mdpr:1-2-0772f8:toc-item-14:toc-item-14"/>
          <p:cNvSpPr txBox="1"/>
          <p:nvPr/>
        </p:nvSpPr>
        <p:spPr>
          <a:xfrm>
            <a:off x="6492240" y="5760720"/>
            <a:ext cx="4645152" cy="3840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 Mixed Object Packing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3099816"/>
            <a:ext cx="10515600" cy="4572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60" y="4288536"/>
            <a:ext cx="2011680" cy="4572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22960" y="3300984"/>
            <a:ext cx="73152" cy="84124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1" name="mdpr:2-2-7bfb60:title:__title:2-2-7bfb60"/>
          <p:cNvSpPr txBox="1"/>
          <p:nvPr/>
        </p:nvSpPr>
        <p:spPr>
          <a:xfrm>
            <a:off x="731520" y="384048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Agenda (Cont. 2/2)</a:t>
            </a:r>
            <a:endParaRPr lang="en-US" sz="3800" dirty="0"/>
          </a:p>
        </p:txBody>
      </p:sp>
      <p:sp>
        <p:nvSpPr>
          <p:cNvPr id="12" name="mdpr:2-2-7bfb60:toc-item-1:toc-item-15"/>
          <p:cNvSpPr txBox="1"/>
          <p:nvPr/>
        </p:nvSpPr>
        <p:spPr>
          <a:xfrm>
            <a:off x="1042416" y="3392424"/>
            <a:ext cx="10094976" cy="6583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Actions Output Review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1325880"/>
          </a:xfrm>
          <a:prstGeom prst="roundRect">
            <a:avLst>
              <a:gd name="adj" fmla="val 4138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13258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1046988" y="1549908"/>
            <a:ext cx="73152" cy="1060704"/>
          </a:xfrm>
          <a:prstGeom prst="roundRect">
            <a:avLst>
              <a:gd name="adj" fmla="val 25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14400" y="3063240"/>
            <a:ext cx="1024128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4" name="mdpr:teaser-summary-7731dc:title:__title:teaser-summary-7731d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Teaser Summary</a:t>
            </a:r>
            <a:endParaRPr lang="en-US" sz="3400" dirty="0"/>
          </a:p>
        </p:txBody>
      </p:sp>
      <p:sp>
        <p:nvSpPr>
          <p:cNvPr id="15" name="mdpr:teaser-summary-7731dc:key-message:block-3"/>
          <p:cNvSpPr txBox="1"/>
          <p:nvPr/>
        </p:nvSpPr>
        <p:spPr>
          <a:xfrm>
            <a:off x="1298448" y="1545336"/>
            <a:ext cx="9637776" cy="10698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Generated PPTX slides should show design range without sacrificing coherence.</a:t>
            </a:r>
            <a:endParaRPr lang="en-US" sz="2200" dirty="0"/>
          </a:p>
        </p:txBody>
      </p:sp>
      <p:sp>
        <p:nvSpPr>
          <p:cNvPr id="16" name="mdpr:teaser-summary-7731dc:body:block-4"/>
          <p:cNvSpPr txBox="1"/>
          <p:nvPr/>
        </p:nvSpPr>
        <p:spPr>
          <a:xfrm>
            <a:off x="987552" y="3172968"/>
            <a:ext cx="10094976" cy="24780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Preview styles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9 distinct decoration grammars, not palette-only swaps.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Pattern range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36+ decoration and layout patterns selected by content role.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Object support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native tables, charts, proof objects, diagrams, images, and icon slots.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Validation contract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readable text, bounded objects, aligned connectors, and editable PPTX output.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mdpr:1-2-32ac08:title:__title:1-2-32ac0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7" name="mdpr:1-2-32ac08:item-1:block-6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 signal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title scale and first-viewport identity.</a:t>
            </a:r>
            <a:endParaRPr lang="en-US" sz="2200" dirty="0"/>
          </a:p>
        </p:txBody>
      </p:sp>
      <p:sp>
        <p:nvSpPr>
          <p:cNvPr id="28" name="Shape 22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4" descr="chart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30" name="mdpr:1-2-32ac08:item-2:block-6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 rhythm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chart, table, and proof objects stay connected.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3" name="mdpr:1-2-32ac08:item-3:block-6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cards, tickets, flags, and panels vary coherently.</a:t>
            </a:r>
            <a:endParaRPr lang="en-US" sz="2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14f8eb:title:__title:2-2-14f8e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Composition Contract (Cont. 2/2)</a:t>
            </a:r>
            <a:endParaRPr lang="en-US" sz="3400" dirty="0"/>
          </a:p>
        </p:txBody>
      </p:sp>
      <p:sp>
        <p:nvSpPr>
          <p:cNvPr id="11" name="mdpr:2-2-14f8eb:left:block-6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Connector clarity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arrows attach to object boundaries.</a:t>
            </a:r>
            <a:endParaRPr lang="en-US" sz="2200" dirty="0"/>
          </a:p>
        </p:txBody>
      </p:sp>
      <p:sp>
        <p:nvSpPr>
          <p:cNvPr id="12" name="mdpr:2-2-14f8eb:right:block-6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discipline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no region exceeds the slide.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mdpr:1-2-dfa474:title:__title:1-2-dfa47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7" name="mdpr:1-2-dfa474:item-1:block-8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Skeuomorphism / claymorphism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tactile depth, bevels, or puffy surfaces.</a:t>
            </a:r>
            <a:endParaRPr lang="en-US" sz="2200" dirty="0"/>
          </a:p>
        </p:txBody>
      </p:sp>
      <p:sp>
        <p:nvSpPr>
          <p:cNvPr id="28" name="Shape 22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30" name="mdpr:1-2-dfa474:item-2:block-8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Neomorphism / newmorphism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soft raised surfaces.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3" name="mdpr:1-2-dfa474:item-3:block-8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Glassmorphism / liquid-glass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translucent panels and refractive highlights.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149bde:title:__title:2-2-149bd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Pruned Style Families (Cont. 2/2)</a:t>
            </a:r>
            <a:endParaRPr lang="en-US" sz="3400" dirty="0"/>
          </a:p>
        </p:txBody>
      </p:sp>
      <p:sp>
        <p:nvSpPr>
          <p:cNvPr id="11" name="mdpr:2-2-149bde:left:block-8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Minimalism / brutalism / bentogrid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sparse rules, hard contrast, or tiled information rhythm.</a:t>
            </a:r>
            <a:endParaRPr lang="en-US" sz="2200" dirty="0"/>
          </a:p>
        </p:txBody>
      </p:sp>
      <p:sp>
        <p:nvSpPr>
          <p:cNvPr id="12" name="mdpr:2-2-149bde:right:block-8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Pruning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preview excludes styles that only change palette or background.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1-2-5a84f1:title:__title:1-2-5a84f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</a:t>
            </a:r>
            <a:endParaRPr lang="en-US" sz="3400" dirty="0"/>
          </a:p>
        </p:txBody>
      </p:sp>
      <p:sp>
        <p:nvSpPr>
          <p:cNvPr id="11" name="mdpr:1-2-5a84f1:left:block-10-chunk-1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Headings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stable slide boundaries.</a:t>
            </a:r>
            <a:endParaRPr lang="en-US" sz="2200" dirty="0"/>
          </a:p>
        </p:txBody>
      </p:sp>
      <p:sp>
        <p:nvSpPr>
          <p:cNvPr id="12" name="mdpr:1-2-5a84f1:right:block-10-chunk-1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Lists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ordered and unordered structure.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a9df10:title:__title:2-2-a9df1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Semantic Blocks (Cont. 2/2)</a:t>
            </a:r>
            <a:endParaRPr lang="en-US" sz="3400" dirty="0"/>
          </a:p>
        </p:txBody>
      </p:sp>
      <p:sp>
        <p:nvSpPr>
          <p:cNvPr id="11" name="mdpr:2-2-a9df10:left:block-10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Constraint: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Indented description lines stay under the bold label.</a:t>
            </a:r>
            <a:endParaRPr lang="en-US" sz="2200" dirty="0"/>
          </a:p>
        </p:txBody>
      </p:sp>
      <p:sp>
        <p:nvSpPr>
          <p:cNvPr id="12" name="mdpr:2-2-a9df10:right:block-10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Emphasis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bold and italic remain editable.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mdpr:pipeline-diagram-51792c:title:__title:pipeline-diagram-51792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Pipeline Diagram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002024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48016" y="3095244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9849612" y="3627791"/>
            <a:ext cx="0" cy="416235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748016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3" name="Shape 11"/>
          <p:cNvSpPr/>
          <p:nvPr/>
        </p:nvSpPr>
        <p:spPr>
          <a:xfrm>
            <a:off x="4002024" y="4576572"/>
            <a:ext cx="457200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headEnd type="triangle"/>
          </a:ln>
        </p:spPr>
      </p:sp>
      <p:sp>
        <p:nvSpPr>
          <p:cNvPr id="14" name="Shape 12"/>
          <p:cNvSpPr/>
          <p:nvPr/>
        </p:nvSpPr>
        <p:spPr>
          <a:xfrm>
            <a:off x="640080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0080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04672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04672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325514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Markdown source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4386072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86072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0664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0664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71506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 blocks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8132064" y="2510028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132064" y="2510028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96656" y="2907975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296656" y="2907975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8817498" y="2638044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Split slides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8132064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132064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6656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6656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817498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 objects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386072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4386072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50664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50664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5071506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 overflow</a:t>
            </a:r>
            <a:endParaRPr lang="en-US" sz="1600" dirty="0"/>
          </a:p>
        </p:txBody>
      </p:sp>
      <p:sp>
        <p:nvSpPr>
          <p:cNvPr id="39" name="Shape 37"/>
          <p:cNvSpPr/>
          <p:nvPr/>
        </p:nvSpPr>
        <p:spPr>
          <a:xfrm>
            <a:off x="640080" y="3991356"/>
            <a:ext cx="3435096" cy="1170432"/>
          </a:xfrm>
          <a:prstGeom prst="roundRect">
            <a:avLst>
              <a:gd name="adj" fmla="val 4688"/>
            </a:avLst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  <a:effectLst>
            <a:outerShdw sx="100000" sy="100000" kx="0" ky="0" algn="bl" rotWithShape="0" blurRad="12700" dist="50800" dir="2700000">
              <a:srgbClr val="000000">
                <a:alpha val="12000"/>
              </a:srgbClr>
            </a:outerShdw>
          </a:effectLst>
        </p:spPr>
      </p:sp>
      <p:sp>
        <p:nvSpPr>
          <p:cNvPr id="40" name="Shape 38"/>
          <p:cNvSpPr/>
          <p:nvPr/>
        </p:nvSpPr>
        <p:spPr>
          <a:xfrm>
            <a:off x="640080" y="3991356"/>
            <a:ext cx="3435096" cy="1097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4389303"/>
            <a:ext cx="374538" cy="374538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04672" y="4389303"/>
            <a:ext cx="374538" cy="37453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E9EE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1325514" y="4119372"/>
            <a:ext cx="2585070" cy="914400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>
            <a:normAutofit/>
          </a:bodyPr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16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 PPTX HTML PDF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mdpr:1-2-e3669a:title:__title:1-2-e3669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</a:t>
            </a:r>
            <a:endParaRPr lang="en-US" sz="3400" dirty="0"/>
          </a:p>
        </p:txBody>
      </p:sp>
      <p:sp>
        <p:nvSpPr>
          <p:cNvPr id="29" name="Shape 2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31" name="mdpr:1-2-e3669a:item-1:block-15-chunk-1"/>
          <p:cNvSpPr txBox="1"/>
          <p:nvPr/>
        </p:nvSpPr>
        <p:spPr>
          <a:xfrm>
            <a:off x="16893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Surfaces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rounded-card, two-corner-card, flag-drop, ticket-panel, notched-panel, circle-vine.</a:t>
            </a:r>
            <a:endParaRPr lang="en-US" sz="2200" dirty="0"/>
          </a:p>
        </p:txBody>
      </p:sp>
      <p:sp>
        <p:nvSpPr>
          <p:cNvPr id="32" name="Shape 25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4" name="mdpr:1-2-e3669a:item-2:block-15-chunk-1"/>
          <p:cNvSpPr txBox="1"/>
          <p:nvPr/>
        </p:nvSpPr>
        <p:spPr>
          <a:xfrm>
            <a:off x="7175754" y="1627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Layouts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toc-strips, two-column-compare, three-card-grid, six-tile-grid, timeline-rail, pipeline-chain.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6" descr="chart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7" name="mdpr:1-2-e3669a:item-3:block-15-chunk-1"/>
          <p:cNvSpPr txBox="1"/>
          <p:nvPr/>
        </p:nvSpPr>
        <p:spPr>
          <a:xfrm>
            <a:off x="16893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chart-table-pair, metric-proof, arc-ring-proof, gauge-proof, connected-strip, mixed-object-pack.</a:t>
            </a:r>
            <a:endParaRPr lang="en-US" sz="2200" dirty="0"/>
          </a:p>
        </p:txBody>
      </p:sp>
      <p:sp>
        <p:nvSpPr>
          <p:cNvPr id="38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9" name="Image 7" descr="flow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40" name="mdpr:1-2-e3669a:item-4:block-15-chunk-1"/>
          <p:cNvSpPr txBox="1"/>
          <p:nvPr/>
        </p:nvSpPr>
        <p:spPr>
          <a:xfrm>
            <a:off x="7175754" y="3913632"/>
            <a:ext cx="3961638" cy="159105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Connectors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straight-arrow, elbow-arrow, boundary-attach, overlap-joint, parallel-flow, contrast-flow.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c23e9b:title:__title:2-2-c23e9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Decoration Pattern Catalog (Cont. 2/2)</a:t>
            </a:r>
            <a:endParaRPr lang="en-US" sz="3400" dirty="0"/>
          </a:p>
        </p:txBody>
      </p:sp>
      <p:sp>
        <p:nvSpPr>
          <p:cNvPr id="11" name="mdpr:2-2-c23e9b:left:block-15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Icons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number-badge, mono-icon-slot, letter-disc, quiet-aside, image-safe-frame, brand-glyph.</a:t>
            </a:r>
            <a:endParaRPr lang="en-US" sz="2200" dirty="0"/>
          </a:p>
        </p:txBody>
      </p:sp>
      <p:sp>
        <p:nvSpPr>
          <p:cNvPr id="12" name="mdpr:2-2-c23e9b:right:block-15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Page grammar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skeuomorphic-bevel, glassmorphism-surface, newmorphic-panel, clay-blob, bento-tile, liquid-lens.</a:t>
            </a:r>
            <a:endParaRPr lang="en-US" sz="2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table-coherence-2f9a7b:title:__title:table-coherence-2f9a7b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 Coherence</a:t>
            </a:r>
            <a:endParaRPr lang="en-US" sz="3400" dirty="0"/>
          </a:p>
        </p:txBody>
      </p:sp>
      <p:graphicFrame>
        <p:nvGraphicFramePr>
          <p:cNvPr id="15" name="mdpr:table-coherence-2f9a7b:table:block-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9052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Renderer expectation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Validation 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Text box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editable, middle aligned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readable minimum size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Table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native table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header fill and cell padding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Diagram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nodes and connectors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no clipped labels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052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theme-colored data 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contrast and value clarity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97196" y="1476756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924044" y="1394460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956048" y="1426464"/>
            <a:ext cx="6199632" cy="4407408"/>
          </a:xfrm>
          <a:prstGeom prst="roundRect">
            <a:avLst>
              <a:gd name="adj" fmla="val 1245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956048" y="1426464"/>
            <a:ext cx="6199632" cy="440740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41248" y="1517904"/>
            <a:ext cx="3822192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mdpr:1-2-2ff3f0:title:__title:1-2-2ff3f0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</a:t>
            </a:r>
            <a:endParaRPr lang="en-US" sz="3400" dirty="0"/>
          </a:p>
        </p:txBody>
      </p:sp>
      <p:sp>
        <p:nvSpPr>
          <p:cNvPr id="14" name="mdpr:1-2-2ff3f0:body:block-19"/>
          <p:cNvSpPr txBox="1"/>
          <p:nvPr/>
        </p:nvSpPr>
        <p:spPr>
          <a:xfrm>
            <a:off x="914400" y="1627632"/>
            <a:ext cx="3675888" cy="4005072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Numeric evidence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stay side by side.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Data density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values remain readable without shrinking below floor.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Comparison goal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coverage and defects are visible together.</a:t>
            </a:r>
            <a:endParaRPr lang="en-US" sz="22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084064" y="1572768"/>
          <a:ext cx="59436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526280"/>
          </a:xfrm>
          <a:prstGeom prst="roundRect">
            <a:avLst>
              <a:gd name="adj" fmla="val 1212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526280"/>
          </a:xfrm>
          <a:prstGeom prst="rect">
            <a:avLst/>
          </a:prstGeom>
        </p:spPr>
      </p:pic>
      <p:sp>
        <p:nvSpPr>
          <p:cNvPr id="12" name="mdpr:2-2-542095:title:__title:2-2-542095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Chart and Table Pair (Cont. 2/2)</a:t>
            </a:r>
            <a:endParaRPr lang="en-US" sz="3400" dirty="0"/>
          </a:p>
        </p:txBody>
      </p:sp>
      <p:graphicFrame>
        <p:nvGraphicFramePr>
          <p:cNvPr id="17" name="mdpr:2-2-542095:table:block-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1417320"/>
          <a:ext cx="10241280" cy="4526280"/>
        </p:xfrm>
        <a:graphic>
          <a:graphicData uri="http://schemas.openxmlformats.org/drawingml/2006/table">
            <a:tbl>
              <a:tblPr/>
              <a:tblGrid>
                <a:gridCol w="3413760"/>
                <a:gridCol w="3413760"/>
                <a:gridCol w="3413760"/>
              </a:tblGrid>
              <a:tr h="113157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Stage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Coverage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Defects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Parser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Layout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  <a:tr h="113157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PPTX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95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1-2-b8955f:title:__title:1-2-b8955f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21540000"/>
              <a:gd name="adj3" fmla="val 12000"/>
            </a:avLst>
          </a:prstGeom>
          <a:solidFill>
            <a:srgbClr val="D5DCE7">
              <a:alpha val="82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16200000"/>
              <a:gd name="adj2" fmla="val 2154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309713" y="2551322"/>
            <a:ext cx="2075395" cy="2075395"/>
          </a:xfrm>
          <a:prstGeom prst="blockArc">
            <a:avLst>
              <a:gd name="adj1" fmla="val 0"/>
              <a:gd name="adj2" fmla="val 12780000"/>
              <a:gd name="adj3" fmla="val 12000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14348" y="3049296"/>
            <a:ext cx="145278" cy="145278"/>
          </a:xfrm>
          <a:prstGeom prst="ellipse">
            <a:avLst/>
          </a:prstGeom>
          <a:solidFill>
            <a:srgbClr val="CBD5E1"/>
          </a:solidFill>
          <a:ln w="12700">
            <a:solidFill>
              <a:srgbClr val="E9EEF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704039" y="2945647"/>
            <a:ext cx="1286745" cy="1286745"/>
          </a:xfrm>
          <a:prstGeom prst="ellipse">
            <a:avLst/>
          </a:prstGeom>
          <a:solidFill>
            <a:srgbClr val="E9EEF5"/>
          </a:solidFill>
          <a:ln w="12700">
            <a:solidFill>
              <a:srgbClr val="E9EEF5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766300" y="3236203"/>
            <a:ext cx="1162221" cy="49809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84%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1683285" y="3755052"/>
            <a:ext cx="1328253" cy="3735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Coverage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796589" y="2567178"/>
            <a:ext cx="137160" cy="137160"/>
          </a:xfrm>
          <a:prstGeom prst="ellipse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025189" y="2416302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Validated 84%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796589" y="3006090"/>
            <a:ext cx="137160" cy="137160"/>
          </a:xfrm>
          <a:prstGeom prst="ellipse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25189" y="2855214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Remaining 16%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6658990" y="3835908"/>
            <a:ext cx="4051962" cy="256032"/>
          </a:xfrm>
          <a:prstGeom prst="roundRect">
            <a:avLst>
              <a:gd name="adj" fmla="val 28571"/>
            </a:avLst>
          </a:prstGeom>
          <a:solidFill>
            <a:srgbClr val="D5DCE7">
              <a:alpha val="85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6658990" y="3835908"/>
            <a:ext cx="3687286" cy="256032"/>
          </a:xfrm>
          <a:prstGeom prst="roundRect">
            <a:avLst>
              <a:gd name="adj" fmla="val 28571"/>
            </a:avLst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346276" y="3433572"/>
            <a:ext cx="0" cy="969264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10199972" y="3817620"/>
            <a:ext cx="292608" cy="29260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4F6F8F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658990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710952" y="3744468"/>
            <a:ext cx="0" cy="438912"/>
          </a:xfrm>
          <a:prstGeom prst="line">
            <a:avLst/>
          </a:prstGeom>
          <a:noFill/>
          <a:ln w="12700">
            <a:solidFill>
              <a:srgbClr val="D5DCE7">
                <a:alpha val="9500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955618" y="2217420"/>
            <a:ext cx="145870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91%</a:t>
            </a:r>
            <a:endParaRPr lang="en-US" sz="3200" dirty="0"/>
          </a:p>
        </p:txBody>
      </p:sp>
      <p:sp>
        <p:nvSpPr>
          <p:cNvPr id="31" name="Text 28"/>
          <p:cNvSpPr txBox="1"/>
          <p:nvPr/>
        </p:nvSpPr>
        <p:spPr>
          <a:xfrm>
            <a:off x="6658990" y="4530852"/>
            <a:ext cx="405196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Score · Readiness</a:t>
            </a:r>
            <a:endParaRPr lang="en-US" sz="1700" dirty="0"/>
          </a:p>
        </p:txBody>
      </p:sp>
      <p:sp>
        <p:nvSpPr>
          <p:cNvPr id="32" name="Text 29"/>
          <p:cNvSpPr txBox="1"/>
          <p:nvPr/>
        </p:nvSpPr>
        <p:spPr>
          <a:xfrm>
            <a:off x="6658990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10162312" y="4137660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89898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100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467612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385316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417320"/>
            <a:ext cx="10241280" cy="4343400"/>
          </a:xfrm>
          <a:prstGeom prst="roundRect">
            <a:avLst>
              <a:gd name="adj" fmla="val 1263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417320"/>
            <a:ext cx="10241280" cy="4343400"/>
          </a:xfrm>
          <a:prstGeom prst="rect">
            <a:avLst/>
          </a:prstGeom>
        </p:spPr>
      </p:pic>
      <p:sp>
        <p:nvSpPr>
          <p:cNvPr id="12" name="mdpr:2-2-4dc4c1:title:__title:2-2-4dc4c1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Editable Proof Objects (Cont. 2/2)</a:t>
            </a:r>
            <a:endParaRPr lang="en-US" sz="3400" dirty="0"/>
          </a:p>
        </p:txBody>
      </p:sp>
      <p:sp>
        <p:nvSpPr>
          <p:cNvPr id="13" name="Shape 10"/>
          <p:cNvSpPr/>
          <p:nvPr/>
        </p:nvSpPr>
        <p:spPr>
          <a:xfrm>
            <a:off x="1078992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280160" y="4347972"/>
            <a:ext cx="593815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261872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Parse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261872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30%</a:t>
            </a:r>
            <a:endParaRPr lang="en-US" sz="2800" dirty="0"/>
          </a:p>
        </p:txBody>
      </p:sp>
      <p:sp>
        <p:nvSpPr>
          <p:cNvPr id="17" name="Shape 14"/>
          <p:cNvSpPr/>
          <p:nvPr/>
        </p:nvSpPr>
        <p:spPr>
          <a:xfrm>
            <a:off x="3628705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29873" y="4347972"/>
            <a:ext cx="1227218" cy="128016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11585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Plan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811585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CBD5E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62%</a:t>
            </a:r>
            <a:endParaRPr lang="en-US" sz="2800" dirty="0"/>
          </a:p>
        </p:txBody>
      </p:sp>
      <p:sp>
        <p:nvSpPr>
          <p:cNvPr id="21" name="Shape 18"/>
          <p:cNvSpPr/>
          <p:nvPr/>
        </p:nvSpPr>
        <p:spPr>
          <a:xfrm>
            <a:off x="6178418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379586" y="4347972"/>
            <a:ext cx="1702270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361298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Render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361298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en-US" sz="2800" dirty="0"/>
          </a:p>
        </p:txBody>
      </p:sp>
      <p:sp>
        <p:nvSpPr>
          <p:cNvPr id="25" name="Shape 22"/>
          <p:cNvSpPr/>
          <p:nvPr/>
        </p:nvSpPr>
        <p:spPr>
          <a:xfrm>
            <a:off x="8728131" y="2446020"/>
            <a:ext cx="2262957" cy="2286000"/>
          </a:xfrm>
          <a:prstGeom prst="roundRect">
            <a:avLst>
              <a:gd name="adj" fmla="val 202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929299" y="4347972"/>
            <a:ext cx="1860621" cy="128016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911011" y="2574036"/>
            <a:ext cx="1897197" cy="914400"/>
          </a:xfrm>
          <a:prstGeom prst="rect">
            <a:avLst/>
          </a:prstGeom>
          <a:noFill/>
          <a:ln/>
        </p:spPr>
        <p:txBody>
          <a:bodyPr wrap="square" lIns="381" tIns="508" rIns="508" bIns="381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Review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8911011" y="3543300"/>
            <a:ext cx="189719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94%</a:t>
            </a:r>
            <a:endParaRPr lang="en-US" sz="2800" dirty="0"/>
          </a:p>
        </p:txBody>
      </p:sp>
      <p:sp>
        <p:nvSpPr>
          <p:cNvPr id="29" name="Shape 26"/>
          <p:cNvSpPr/>
          <p:nvPr/>
        </p:nvSpPr>
        <p:spPr>
          <a:xfrm>
            <a:off x="3285375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5835088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8384801" y="3589020"/>
            <a:ext cx="399904" cy="0"/>
          </a:xfrm>
          <a:prstGeom prst="line">
            <a:avLst/>
          </a:prstGeom>
          <a:noFill/>
          <a:ln w="12700">
            <a:solidFill>
              <a:srgbClr val="4F6F8F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mdpr:1-2-ea42c8:title:__title:1-2-ea42c8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3" descr="article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7" name="mdpr:1-2-ea42c8:item-1:block-27-chunk-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Method flag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short high-level step.</a:t>
            </a:r>
            <a:endParaRPr lang="en-US" sz="2200" dirty="0"/>
          </a:p>
        </p:txBody>
      </p:sp>
      <p:sp>
        <p:nvSpPr>
          <p:cNvPr id="28" name="Shape 22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30" name="mdpr:1-2-ea42c8:item-2:block-27-chunk-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Ticket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document-like evidence.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2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3" name="mdpr:1-2-ea42c8:item-3:block-27-chunk-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Two-corner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linear grouping.</a:t>
            </a:r>
            <a:endParaRPr lang="en-US" sz="2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1554480"/>
            <a:ext cx="49377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0" name="mdpr:2-2-4f71ba:title:__title:2-2-4f71ba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 Shape Grammar (Cont. 2/2)</a:t>
            </a:r>
            <a:endParaRPr lang="en-US" sz="3400" dirty="0"/>
          </a:p>
        </p:txBody>
      </p:sp>
      <p:sp>
        <p:nvSpPr>
          <p:cNvPr id="11" name="mdpr:2-2-4f71ba:left:block-27-chunk-2"/>
          <p:cNvSpPr txBox="1"/>
          <p:nvPr/>
        </p:nvSpPr>
        <p:spPr>
          <a:xfrm>
            <a:off x="89611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Notched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technical constraint or code-like object.</a:t>
            </a:r>
            <a:endParaRPr lang="en-US" sz="2200" dirty="0"/>
          </a:p>
        </p:txBody>
      </p:sp>
      <p:sp>
        <p:nvSpPr>
          <p:cNvPr id="12" name="mdpr:2-2-4f71ba:right:block-27-chunk-2"/>
          <p:cNvSpPr txBox="1"/>
          <p:nvPr/>
        </p:nvSpPr>
        <p:spPr>
          <a:xfrm>
            <a:off x="6473952" y="1664208"/>
            <a:ext cx="4791456" cy="416966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Rounded panel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neutral fallback surface.</a:t>
            </a:r>
            <a:endParaRPr lang="en-US" sz="2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mdpr:icon-and-text-aside-8429fc:title:__title:icon-and-text-aside-8429fc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and Text Aside</a:t>
            </a:r>
            <a:endParaRPr lang="en-US" sz="3400" dirty="0"/>
          </a:p>
        </p:txBody>
      </p:sp>
      <p:sp>
        <p:nvSpPr>
          <p:cNvPr id="29" name="Shape 2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4" descr="article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31" name="mdpr:icon-and-text-aside-8429fc:item-1:block-29"/>
          <p:cNvSpPr txBox="1"/>
          <p:nvPr/>
        </p:nvSpPr>
        <p:spPr>
          <a:xfrm>
            <a:off x="1689354" y="2033016"/>
            <a:ext cx="3961638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quiet monochrome anchor.</a:t>
            </a:r>
            <a:endParaRPr lang="en-US" sz="2200" dirty="0"/>
          </a:p>
        </p:txBody>
      </p:sp>
      <p:sp>
        <p:nvSpPr>
          <p:cNvPr id="32" name="Shape 25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5" descr="artic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4" name="mdpr:icon-and-text-aside-8429fc:item-2:block-29"/>
          <p:cNvSpPr txBox="1"/>
          <p:nvPr/>
        </p:nvSpPr>
        <p:spPr>
          <a:xfrm>
            <a:off x="71757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Icon scale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secondary to title and body text.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7" name="mdpr:icon-and-text-aside-8429fc:item-3:block-29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Placement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never fills empty space alone.</a:t>
            </a:r>
            <a:endParaRPr lang="en-US" sz="2200" dirty="0"/>
          </a:p>
        </p:txBody>
      </p:sp>
      <p:sp>
        <p:nvSpPr>
          <p:cNvPr id="38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9" name="Image 7" descr="tab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40" name="mdpr:icon-and-text-aside-8429fc:item-4:block-29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Fit rule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icon and text share a stable center line.</a:t>
            </a:r>
            <a:endParaRPr lang="en-US" sz="2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41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909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8229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22960" y="1463040"/>
            <a:ext cx="5029200" cy="192024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6350508" y="1513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277356" y="1431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309360" y="1463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309360" y="1463040"/>
            <a:ext cx="5029200" cy="192024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8641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909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29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22960" y="3749040"/>
            <a:ext cx="5029200" cy="192024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6350508" y="3799332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277356" y="3717036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309360" y="3749040"/>
            <a:ext cx="5029200" cy="1920240"/>
          </a:xfrm>
          <a:prstGeom prst="roundRect">
            <a:avLst>
              <a:gd name="adj" fmla="val 28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09360" y="3749040"/>
            <a:ext cx="5029200" cy="1920240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22960" y="1463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6309360" y="1463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22960" y="3749040"/>
            <a:ext cx="73152" cy="1920240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6309360" y="3749040"/>
            <a:ext cx="73152" cy="19202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8" name="mdpr:overflow-guard-f8d03e:title:__title:overflow-guard-f8d03e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Overflow Guard</a:t>
            </a:r>
            <a:endParaRPr lang="en-US" sz="3400" dirty="0"/>
          </a:p>
        </p:txBody>
      </p:sp>
      <p:sp>
        <p:nvSpPr>
          <p:cNvPr id="29" name="Shape 23"/>
          <p:cNvSpPr/>
          <p:nvPr/>
        </p:nvSpPr>
        <p:spPr>
          <a:xfrm>
            <a:off x="9761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0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049274" y="2203704"/>
            <a:ext cx="438912" cy="438912"/>
          </a:xfrm>
          <a:prstGeom prst="rect">
            <a:avLst/>
          </a:prstGeom>
        </p:spPr>
      </p:pic>
      <p:sp>
        <p:nvSpPr>
          <p:cNvPr id="31" name="mdpr:overflow-guard-f8d03e:item-1:block-31"/>
          <p:cNvSpPr txBox="1"/>
          <p:nvPr/>
        </p:nvSpPr>
        <p:spPr>
          <a:xfrm>
            <a:off x="1689354" y="1865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Text fit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region bounds are validated before output.</a:t>
            </a:r>
            <a:endParaRPr lang="en-US" sz="2200" dirty="0"/>
          </a:p>
        </p:txBody>
      </p:sp>
      <p:sp>
        <p:nvSpPr>
          <p:cNvPr id="32" name="Shape 25"/>
          <p:cNvSpPr/>
          <p:nvPr/>
        </p:nvSpPr>
        <p:spPr>
          <a:xfrm>
            <a:off x="6462522" y="2130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3" name="Image 5" descr="table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535674" y="2203704"/>
            <a:ext cx="438912" cy="438912"/>
          </a:xfrm>
          <a:prstGeom prst="rect">
            <a:avLst/>
          </a:prstGeom>
        </p:spPr>
      </p:pic>
      <p:sp>
        <p:nvSpPr>
          <p:cNvPr id="34" name="mdpr:overflow-guard-f8d03e:item-2:block-31"/>
          <p:cNvSpPr txBox="1"/>
          <p:nvPr/>
        </p:nvSpPr>
        <p:spPr>
          <a:xfrm>
            <a:off x="7175754" y="1697736"/>
            <a:ext cx="3961638" cy="145084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Tables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cell text uses middle alignment and coherent margins.</a:t>
            </a:r>
            <a:endParaRPr lang="en-US" sz="2200" dirty="0"/>
          </a:p>
        </p:txBody>
      </p:sp>
      <p:sp>
        <p:nvSpPr>
          <p:cNvPr id="35" name="Shape 27"/>
          <p:cNvSpPr/>
          <p:nvPr/>
        </p:nvSpPr>
        <p:spPr>
          <a:xfrm>
            <a:off x="9761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6" name="Image 6" descr="article icon from tabler-icons (MIT)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049274" y="4489704"/>
            <a:ext cx="438912" cy="438912"/>
          </a:xfrm>
          <a:prstGeom prst="rect">
            <a:avLst/>
          </a:prstGeom>
        </p:spPr>
      </p:pic>
      <p:sp>
        <p:nvSpPr>
          <p:cNvPr id="37" name="mdpr:overflow-guard-f8d03e:item-3:block-31"/>
          <p:cNvSpPr txBox="1"/>
          <p:nvPr/>
        </p:nvSpPr>
        <p:spPr>
          <a:xfrm>
            <a:off x="16893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Continuation slides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dense content splits before unreadable shrink.</a:t>
            </a:r>
            <a:endParaRPr lang="en-US" sz="2200" dirty="0"/>
          </a:p>
        </p:txBody>
      </p:sp>
      <p:sp>
        <p:nvSpPr>
          <p:cNvPr id="38" name="Shape 29"/>
          <p:cNvSpPr/>
          <p:nvPr/>
        </p:nvSpPr>
        <p:spPr>
          <a:xfrm>
            <a:off x="6462522" y="4416552"/>
            <a:ext cx="585216" cy="585216"/>
          </a:xfrm>
          <a:prstGeom prst="roundRect">
            <a:avLst>
              <a:gd name="adj" fmla="val 6250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9" name="Image 7" descr="article icon from tabler-icons (MIT)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6535674" y="4489704"/>
            <a:ext cx="438912" cy="438912"/>
          </a:xfrm>
          <a:prstGeom prst="rect">
            <a:avLst/>
          </a:prstGeom>
        </p:spPr>
      </p:pic>
      <p:sp>
        <p:nvSpPr>
          <p:cNvPr id="40" name="mdpr:overflow-guard-f8d03e:item-4:block-31"/>
          <p:cNvSpPr txBox="1"/>
          <p:nvPr/>
        </p:nvSpPr>
        <p:spPr>
          <a:xfrm>
            <a:off x="7175754" y="4151376"/>
            <a:ext cx="3961638" cy="111556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Cleanup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decorative-only bullets and empty artifacts are removed.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53428" y="1513332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780276" y="1431036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812280" y="1463040"/>
            <a:ext cx="4434840" cy="4526280"/>
          </a:xfrm>
          <a:prstGeom prst="roundRect">
            <a:avLst>
              <a:gd name="adj" fmla="val 123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812280" y="1463040"/>
            <a:ext cx="4434840" cy="4526280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822960" y="1463040"/>
            <a:ext cx="562356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13" name="mdpr:image-safe-frame-d4d6a4:title:__title:image-safe-frame-d4d6a4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Image Safe Frame</a:t>
            </a:r>
            <a:endParaRPr lang="en-US" sz="3400" dirty="0"/>
          </a:p>
        </p:txBody>
      </p:sp>
      <p:sp>
        <p:nvSpPr>
          <p:cNvPr id="14" name="mdpr:image-safe-frame-d4d6a4:body:block-33-block-33-block-33"/>
          <p:cNvSpPr txBox="1"/>
          <p:nvPr/>
        </p:nvSpPr>
        <p:spPr>
          <a:xfrm>
            <a:off x="896112" y="1572768"/>
            <a:ext cx="5477256" cy="4306824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picture content uses an internal safe frame.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Surface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background decoration stays outside the picture bounds.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Bounds rule</a:t>
            </a:r>
            <a:endParaRPr lang="en-US" sz="22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child images never exceed their owning image region.</a:t>
            </a:r>
            <a:endParaRPr lang="en-US" sz="2200" dirty="0"/>
          </a:p>
        </p:txBody>
      </p:sp>
      <p:pic>
        <p:nvPicPr>
          <p:cNvPr id="15" name="mdpr:image-safe-frame-d4d6a4:image-1:block-34" descr="{&quot;mdpr&quot;:{&quot;slideId&quot;:&quot;image-safe-frame-d4d6a4&quot;,&quot;layoutSlideId&quot;:&quot;layout-image-safe-frame-d4d6a4&quot;,&quot;regionId&quot;:&quot;image-1&quot;,&quot;blockIds&quot;:[&quot;block-34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40296" y="1591056"/>
            <a:ext cx="4178808" cy="427024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90956" y="1495044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17804" y="1412748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1444752"/>
            <a:ext cx="4617720" cy="2359152"/>
          </a:xfrm>
          <a:prstGeom prst="roundRect">
            <a:avLst>
              <a:gd name="adj" fmla="val 2326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9808" y="1444752"/>
            <a:ext cx="4617720" cy="2359152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5618988" y="1531620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545836" y="1449324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577840" y="1481328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77840" y="1481328"/>
            <a:ext cx="5532120" cy="221284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5618988" y="3963924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5545836" y="3881628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577840" y="3913632"/>
            <a:ext cx="5532120" cy="2011680"/>
          </a:xfrm>
          <a:prstGeom prst="roundRect">
            <a:avLst>
              <a:gd name="adj" fmla="val 272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577840" y="3913632"/>
            <a:ext cx="5532120" cy="201168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41248" y="4041648"/>
            <a:ext cx="4572000" cy="73152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1" name="mdpr:mixed-object-packing-438299:title:__title:mixed-object-packing-438299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Mixed Object Packing</a:t>
            </a:r>
            <a:endParaRPr lang="en-US" sz="340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877824" y="1591056"/>
          <a:ext cx="4361688" cy="20665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7"/>
          </a:graphicData>
        </a:graphic>
      </p:graphicFrame>
      <p:graphicFrame>
        <p:nvGraphicFramePr>
          <p:cNvPr id="25" name="mdpr:mixed-object-packing-438299:table:block-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481328"/>
          <a:ext cx="5532120" cy="2212848"/>
        </p:xfrm>
        <a:graphic>
          <a:graphicData uri="http://schemas.openxmlformats.org/drawingml/2006/table">
            <a:tbl>
              <a:tblPr/>
              <a:tblGrid>
                <a:gridCol w="2766060"/>
                <a:gridCol w="2766060"/>
              </a:tblGrid>
              <a:tr h="7376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Object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Signal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F6F8F"/>
                    </a:solidFill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Chart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trend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76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Image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bounded</a:t>
                      </a:r>
                      <a:endParaRPr lang="en-US" sz="18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4864" marR="54864" marT="36576" marB="36576" anchor="ctr">
                    <a:lnL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CE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EF5">
                        <a:alpha val="8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24" name="mdpr:mixed-object-packing-438299:body:block-36"/>
          <p:cNvSpPr txBox="1"/>
          <p:nvPr/>
        </p:nvSpPr>
        <p:spPr>
          <a:xfrm>
            <a:off x="914400" y="4151376"/>
            <a:ext cx="4425696" cy="1499616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Reading order</a:t>
            </a:r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chart and table remain the primary evidence.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Image role</a:t>
            </a:r>
            <a:endParaRPr lang="en-US" sz="1800" dirty="0"/>
          </a:p>
          <a:p>
            <a:pPr algn="l"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visual evidence stays bounded in a separate safe frame.</a:t>
            </a:r>
            <a:endParaRPr lang="en-US" sz="1800" dirty="0"/>
          </a:p>
        </p:txBody>
      </p:sp>
      <p:pic>
        <p:nvPicPr>
          <p:cNvPr id="25" name="mdpr:mixed-object-packing-438299:image-1:block-39" descr="{&quot;mdpr&quot;:{&quot;slideId&quot;:&quot;mixed-object-packing-438299&quot;,&quot;layoutSlideId&quot;:&quot;layout-mixed-object-packing-438299&quot;,&quot;regionId&quot;:&quot;image-1&quot;,&quot;blockIds&quot;:[&quot;block-39&quot;],&quot;objectKind&quot;:&quot;native-image&quot;,&quot;role&quot;:&quot;image&quot;,&quot;editable&quot;:false}}">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648249" y="3984041"/>
            <a:ext cx="5391302" cy="187086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E9EE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75343" y="384048"/>
            <a:ext cx="1737360" cy="310896"/>
          </a:xfrm>
          <a:prstGeom prst="roundRect">
            <a:avLst>
              <a:gd name="adj" fmla="val 14706"/>
            </a:avLst>
          </a:prstGeom>
          <a:solidFill>
            <a:srgbClr val="F8FAFC">
              <a:alpha val="72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B8C3D2">
                <a:alpha val="16000"/>
              </a:srgbClr>
            </a:outerShdw>
          </a:effectLst>
        </p:spPr>
      </p:sp>
      <p:sp>
        <p:nvSpPr>
          <p:cNvPr id="3" name="Shape 1"/>
          <p:cNvSpPr/>
          <p:nvPr/>
        </p:nvSpPr>
        <p:spPr>
          <a:xfrm>
            <a:off x="10362895" y="502920"/>
            <a:ext cx="822960" cy="822960"/>
          </a:xfrm>
          <a:prstGeom prst="ellipse">
            <a:avLst/>
          </a:prstGeom>
          <a:solidFill>
            <a:srgbClr val="F7FAFC">
              <a:alpha val="9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" dist="50800" dir="2700000">
              <a:srgbClr val="C7D0DE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530352" y="5687568"/>
            <a:ext cx="658368" cy="658368"/>
          </a:xfrm>
          <a:prstGeom prst="ellipse">
            <a:avLst/>
          </a:prstGeom>
          <a:solidFill>
            <a:srgbClr val="E9EEF5"/>
          </a:solidFill>
          <a:ln w="12700">
            <a:solidFill>
              <a:srgbClr val="FFFFFF">
                <a:alpha val="42000"/>
              </a:srgbClr>
            </a:solidFill>
            <a:prstDash val="solid"/>
          </a:ln>
          <a:effectLst>
            <a:outerShdw sx="100000" sy="100000" kx="0" ky="0" algn="bl" rotWithShape="0" blurRad="12700" dist="50800" dir="2700000">
              <a:srgbClr val="B8C3D2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65615" y="6437376"/>
            <a:ext cx="1993392" cy="0"/>
          </a:xfrm>
          <a:prstGeom prst="line">
            <a:avLst/>
          </a:prstGeom>
          <a:noFill/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38767" y="6501384"/>
            <a:ext cx="1920240" cy="0"/>
          </a:xfrm>
          <a:prstGeom prst="line">
            <a:avLst/>
          </a:prstGeom>
          <a:noFill/>
          <a:ln w="12700">
            <a:solidFill>
              <a:srgbClr val="B8C3D2">
                <a:alpha val="64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207008"/>
            <a:ext cx="1325880" cy="54864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5548" y="191566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82396" y="183337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914400" y="186537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865376"/>
            <a:ext cx="10241280" cy="1024128"/>
          </a:xfrm>
          <a:prstGeom prst="rect">
            <a:avLst/>
          </a:prstGeom>
        </p:spPr>
      </p:pic>
      <p:sp>
        <p:nvSpPr>
          <p:cNvPr id="12" name="Shape 9"/>
          <p:cNvSpPr/>
          <p:nvPr/>
        </p:nvSpPr>
        <p:spPr>
          <a:xfrm>
            <a:off x="955548" y="324154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82396" y="315925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914400" y="3191256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14400" y="3191256"/>
            <a:ext cx="10241280" cy="1024128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955548" y="4558284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B8C3D2">
              <a:alpha val="26000"/>
            </a:srgbClr>
          </a:solidFill>
          <a:ln w="12700">
            <a:solidFill>
              <a:srgbClr val="D5DCE7">
                <a:alpha val="0"/>
              </a:srgbClr>
            </a:solidFill>
            <a:prstDash val="solid"/>
          </a:ln>
          <a:effectLst>
            <a:outerShdw sx="100000" sy="100000" kx="0" ky="0" algn="bl" rotWithShape="0" blurRad="13970" dist="50800" dir="2700000">
              <a:srgbClr val="AAB5C4">
                <a:alpha val="2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82396" y="4475988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FFFFFF">
              <a:alpha val="4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" dist="50800" dir="13500000">
              <a:srgbClr val="FFFFFF">
                <a:alpha val="36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914400" y="4507992"/>
            <a:ext cx="10241280" cy="1024128"/>
          </a:xfrm>
          <a:prstGeom prst="roundRect">
            <a:avLst>
              <a:gd name="adj" fmla="val 5357"/>
            </a:avLst>
          </a:prstGeom>
          <a:solidFill>
            <a:srgbClr val="E9EEF5">
              <a:alpha val="6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14400" y="4507992"/>
            <a:ext cx="10241280" cy="1024128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786384" y="1956816"/>
            <a:ext cx="32004" cy="3483864"/>
          </a:xfrm>
          <a:prstGeom prst="rect">
            <a:avLst/>
          </a:prstGeom>
          <a:solidFill>
            <a:srgbClr val="CBD5E1">
              <a:alpha val="80000"/>
            </a:srgbClr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914400" y="1865376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914400" y="3191256"/>
            <a:ext cx="73152" cy="102412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>
                <a:alpha val="0"/>
              </a:srgbClr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914400" y="4507992"/>
            <a:ext cx="73152" cy="1024128"/>
          </a:xfrm>
          <a:prstGeom prst="rect">
            <a:avLst/>
          </a:prstGeom>
          <a:solidFill>
            <a:srgbClr val="4F6F8F"/>
          </a:solidFill>
          <a:ln w="12700">
            <a:solidFill>
              <a:srgbClr val="4F6F8F">
                <a:alpha val="0"/>
              </a:srgbClr>
            </a:solidFill>
            <a:prstDash val="solid"/>
          </a:ln>
        </p:spPr>
      </p:sp>
      <p:sp>
        <p:nvSpPr>
          <p:cNvPr id="24" name="mdpr:actions-output-review-326e07:title:__title:actions-output-review-326e07"/>
          <p:cNvSpPr txBox="1"/>
          <p:nvPr/>
        </p:nvSpPr>
        <p:spPr>
          <a:xfrm>
            <a:off x="731520" y="45720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Actions Output Review</a:t>
            </a:r>
            <a:endParaRPr lang="en-US" sz="3400" dirty="0"/>
          </a:p>
        </p:txBody>
      </p:sp>
      <p:sp>
        <p:nvSpPr>
          <p:cNvPr id="25" name="Shape 20"/>
          <p:cNvSpPr/>
          <p:nvPr/>
        </p:nvSpPr>
        <p:spPr>
          <a:xfrm>
            <a:off x="1097280" y="214042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6" name="Image 3" descr="flow icon from tabler-icons (MIT)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70432" y="2213580"/>
            <a:ext cx="327721" cy="327721"/>
          </a:xfrm>
          <a:prstGeom prst="rect">
            <a:avLst/>
          </a:prstGeom>
        </p:spPr>
      </p:pic>
      <p:sp>
        <p:nvSpPr>
          <p:cNvPr id="27" name="mdpr:actions-output-review-326e07:item-1:block-41"/>
          <p:cNvSpPr txBox="1"/>
          <p:nvPr/>
        </p:nvSpPr>
        <p:spPr>
          <a:xfrm>
            <a:off x="1699321" y="198729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Workflow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Theme Preview builds this source across decoration styles.</a:t>
            </a:r>
            <a:endParaRPr lang="en-US" sz="2200" dirty="0"/>
          </a:p>
        </p:txBody>
      </p:sp>
      <p:sp>
        <p:nvSpPr>
          <p:cNvPr id="28" name="Shape 22"/>
          <p:cNvSpPr/>
          <p:nvPr/>
        </p:nvSpPr>
        <p:spPr>
          <a:xfrm>
            <a:off x="1097280" y="3466308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29" name="Image 4" descr="verified icon from tabler-icons (MIT)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170432" y="3539460"/>
            <a:ext cx="327721" cy="327721"/>
          </a:xfrm>
          <a:prstGeom prst="rect">
            <a:avLst/>
          </a:prstGeom>
        </p:spPr>
      </p:pic>
      <p:sp>
        <p:nvSpPr>
          <p:cNvPr id="30" name="mdpr:actions-output-review-326e07:item-2:block-41"/>
          <p:cNvSpPr txBox="1"/>
          <p:nvPr/>
        </p:nvSpPr>
        <p:spPr>
          <a:xfrm>
            <a:off x="1699321" y="3313176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Gallery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Pages shows each styled deck and object-check slide.</a:t>
            </a:r>
            <a:endParaRPr lang="en-US" sz="2200" dirty="0"/>
          </a:p>
        </p:txBody>
      </p:sp>
      <p:sp>
        <p:nvSpPr>
          <p:cNvPr id="31" name="Shape 24"/>
          <p:cNvSpPr/>
          <p:nvPr/>
        </p:nvSpPr>
        <p:spPr>
          <a:xfrm>
            <a:off x="1097280" y="4783044"/>
            <a:ext cx="474025" cy="474025"/>
          </a:xfrm>
          <a:prstGeom prst="roundRect">
            <a:avLst>
              <a:gd name="adj" fmla="val 7716"/>
            </a:avLst>
          </a:prstGeom>
          <a:solidFill>
            <a:srgbClr val="E9EEF5"/>
          </a:solidFill>
          <a:ln w="12700">
            <a:solidFill>
              <a:srgbClr val="D5DCE7"/>
            </a:solidFill>
            <a:prstDash val="solid"/>
          </a:ln>
        </p:spPr>
      </p:sp>
      <p:pic>
        <p:nvPicPr>
          <p:cNvPr id="32" name="Image 5" descr="spark icon from tabler-icons (MIT)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170432" y="4856196"/>
            <a:ext cx="327721" cy="327721"/>
          </a:xfrm>
          <a:prstGeom prst="rect">
            <a:avLst/>
          </a:prstGeom>
        </p:spPr>
      </p:pic>
      <p:sp>
        <p:nvSpPr>
          <p:cNvPr id="33" name="mdpr:actions-output-review-326e07:item-3:block-41"/>
          <p:cNvSpPr txBox="1"/>
          <p:nvPr/>
        </p:nvSpPr>
        <p:spPr>
          <a:xfrm>
            <a:off x="1699321" y="4629912"/>
            <a:ext cx="9255191" cy="780288"/>
          </a:xfrm>
          <a:prstGeom prst="rect">
            <a:avLst/>
          </a:prstGeom>
          <a:noFill/>
          <a:ln/>
        </p:spPr>
        <p:txBody>
          <a:bodyPr wrap="square" lIns="0" tIns="25400" rIns="2540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2200" b="1" dirty="0">
                <a:solidFill>
                  <a:srgbClr val="4F6F8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Ownership</a:t>
            </a:r>
            <a:pPr algn="l" indent="0" marL="0">
              <a:lnSpc>
                <a:spcPct val="120000"/>
              </a:lnSpc>
              <a:buNone/>
            </a:pPr>
            <a:r>
              <a:rPr lang="en-US" sz="2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MDPR owns rendering; mdpr-skill may prepare hints.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11111"/>
      </a:dk1>
      <a:lt1>
        <a:srgbClr val="E9EEF5"/>
      </a:lt1>
      <a:dk2>
        <a:srgbClr val="898989"/>
      </a:dk2>
      <a:lt2>
        <a:srgbClr val="E9EEF5"/>
      </a:lt2>
      <a:accent1>
        <a:srgbClr val="4F6F8F"/>
      </a:accent1>
      <a:accent2>
        <a:srgbClr val="CBD5E1"/>
      </a:accent2>
      <a:accent3>
        <a:srgbClr val="4F6F8F"/>
      </a:accent3>
      <a:accent4>
        <a:srgbClr val="898989"/>
      </a:accent4>
      <a:accent5>
        <a:srgbClr val="D5DCE7"/>
      </a:accent5>
      <a:accent6>
        <a:srgbClr val="111111"/>
      </a:accent6>
      <a:hlink>
        <a:srgbClr val="4F6F8F"/>
      </a:hlink>
      <a:folHlink>
        <a:srgbClr val="CBD5E1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mdpresent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MDPR Design Grammar</dc:title>
  <dc:subject>Generated from Markdown through Presentation IR and Layout IR</dc:subject>
  <dc:creator>mdpresent</dc:creator>
  <cp:lastModifiedBy>mdpresent</cp:lastModifiedBy>
  <cp:revision>1</cp:revision>
  <dcterms:created xsi:type="dcterms:W3CDTF">2026-07-06T05:11:27Z</dcterms:created>
  <dcterms:modified xsi:type="dcterms:W3CDTF">2026-07-06T05:11:27Z</dcterms:modified>
</cp:coreProperties>
</file>