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9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Coverage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Parser</c:v>
                  </c:pt>
                  <c:pt idx="1">
                    <c:v>Layout</c:v>
                  </c:pt>
                  <c:pt idx="2">
                    <c:v>PPTX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92</c:v>
                </c:pt>
                <c:pt idx="1">
                  <c:v>88</c:v>
                </c:pt>
                <c:pt idx="2">
                  <c:v>95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Defects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Parser</c:v>
                  </c:pt>
                  <c:pt idx="1">
                    <c:v>Layout</c:v>
                  </c:pt>
                  <c:pt idx="2">
                    <c:v>PPTX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</c:v>
                </c:pt>
                <c:pt idx="1">
                  <c:v>5</c:v>
                </c:pt>
                <c:pt idx="2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F8FAFC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CBD5E1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CBD5E1"/>
              </a:solidFill>
              <a:latin typeface="Pretendard"/>
              <a:cs typeface="Pretendard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image" Target="../media/image-6-11.png"/><Relationship Id="rId12" Type="http://schemas.openxmlformats.org/officeDocument/2006/relationships/image" Target="../media/image-6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image" Target="../media/image-8-11.png"/><Relationship Id="rId12" Type="http://schemas.openxmlformats.org/officeDocument/2006/relationships/image" Target="../media/image-8-12.svg"/><Relationship Id="rId13" Type="http://schemas.openxmlformats.org/officeDocument/2006/relationships/image" Target="../media/image-8-13.png"/><Relationship Id="rId14" Type="http://schemas.openxmlformats.org/officeDocument/2006/relationships/image" Target="../media/image-8-14.svg"/><Relationship Id="rId15" Type="http://schemas.openxmlformats.org/officeDocument/2006/relationships/image" Target="../media/image-8-15.png"/><Relationship Id="rId16" Type="http://schemas.openxmlformats.org/officeDocument/2006/relationships/image" Target="../media/image-8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9.xml"/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image" Target="../media/image-17-3.png"/><Relationship Id="rId4" Type="http://schemas.openxmlformats.org/officeDocument/2006/relationships/image" Target="../media/image-17-4.svg"/><Relationship Id="rId5" Type="http://schemas.openxmlformats.org/officeDocument/2006/relationships/image" Target="../media/image-17-5.png"/><Relationship Id="rId6" Type="http://schemas.openxmlformats.org/officeDocument/2006/relationships/image" Target="../media/image-17-6.svg"/><Relationship Id="rId7" Type="http://schemas.openxmlformats.org/officeDocument/2006/relationships/image" Target="../media/image-17-7.png"/><Relationship Id="rId8" Type="http://schemas.openxmlformats.org/officeDocument/2006/relationships/image" Target="../media/image-17-8.svg"/><Relationship Id="rId9" Type="http://schemas.openxmlformats.org/officeDocument/2006/relationships/image" Target="../media/image-17-9.png"/><Relationship Id="rId10" Type="http://schemas.openxmlformats.org/officeDocument/2006/relationships/image" Target="../media/image-17-10.svg"/><Relationship Id="rId11" Type="http://schemas.openxmlformats.org/officeDocument/2006/relationships/image" Target="../media/image-17-11.png"/><Relationship Id="rId12" Type="http://schemas.openxmlformats.org/officeDocument/2006/relationships/image" Target="../media/image-17-12.svg"/><Relationship Id="rId13" Type="http://schemas.openxmlformats.org/officeDocument/2006/relationships/image" Target="../media/image-17-13.png"/><Relationship Id="rId14" Type="http://schemas.openxmlformats.org/officeDocument/2006/relationships/image" Target="../media/image-17-14.svg"/><Relationship Id="rId15" Type="http://schemas.openxmlformats.org/officeDocument/2006/relationships/image" Target="../media/image-17-15.png"/><Relationship Id="rId16" Type="http://schemas.openxmlformats.org/officeDocument/2006/relationships/image" Target="../media/image-17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image" Target="../media/image-18-3.png"/><Relationship Id="rId4" Type="http://schemas.openxmlformats.org/officeDocument/2006/relationships/image" Target="../media/image-18-4.svg"/><Relationship Id="rId5" Type="http://schemas.openxmlformats.org/officeDocument/2006/relationships/image" Target="../media/image-18-5.png"/><Relationship Id="rId6" Type="http://schemas.openxmlformats.org/officeDocument/2006/relationships/image" Target="../media/image-18-6.svg"/><Relationship Id="rId7" Type="http://schemas.openxmlformats.org/officeDocument/2006/relationships/image" Target="../media/image-18-7.png"/><Relationship Id="rId8" Type="http://schemas.openxmlformats.org/officeDocument/2006/relationships/image" Target="../media/image-18-8.svg"/><Relationship Id="rId9" Type="http://schemas.openxmlformats.org/officeDocument/2006/relationships/image" Target="../media/image-18-9.png"/><Relationship Id="rId10" Type="http://schemas.openxmlformats.org/officeDocument/2006/relationships/image" Target="../media/image-18-10.svg"/><Relationship Id="rId11" Type="http://schemas.openxmlformats.org/officeDocument/2006/relationships/image" Target="../media/image-18-11.png"/><Relationship Id="rId12" Type="http://schemas.openxmlformats.org/officeDocument/2006/relationships/image" Target="../media/image-18-12.svg"/><Relationship Id="rId13" Type="http://schemas.openxmlformats.org/officeDocument/2006/relationships/image" Target="../media/image-18-13.png"/><Relationship Id="rId14" Type="http://schemas.openxmlformats.org/officeDocument/2006/relationships/image" Target="../media/image-18-14.svg"/><Relationship Id="rId15" Type="http://schemas.openxmlformats.org/officeDocument/2006/relationships/image" Target="../media/image-18-15.png"/><Relationship Id="rId16" Type="http://schemas.openxmlformats.org/officeDocument/2006/relationships/image" Target="../media/image-18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svg"/><Relationship Id="rId3" Type="http://schemas.openxmlformats.org/officeDocument/2006/relationships/image" Target="../media/image-19-3.png"/><Relationship Id="rId4" Type="http://schemas.openxmlformats.org/officeDocument/2006/relationships/image" Target="../media/image-19-4.svg"/><Relationship Id="rId5" Type="http://schemas.openxmlformats.org/officeDocument/2006/relationships/image" Target="../media/image-19-5.png"/><Relationship Id="rId6" Type="http://schemas.openxmlformats.org/officeDocument/2006/relationships/image" Target="../media/image-19-6.svg"/><Relationship Id="rId7" Type="http://schemas.openxmlformats.org/officeDocument/2006/relationships/image" Target="../media/image-19-7.png"/><Relationship Id="rId8" Type="http://schemas.openxmlformats.org/officeDocument/2006/relationships/image" Target="../media/image-19-8.svg"/><Relationship Id="rId9" Type="http://schemas.openxmlformats.org/officeDocument/2006/relationships/image" Target="../media/image-19-9.png"/><Relationship Id="rId10" Type="http://schemas.openxmlformats.org/officeDocument/2006/relationships/image" Target="../media/image-19-10.svg"/><Relationship Id="rId11" Type="http://schemas.openxmlformats.org/officeDocument/2006/relationships/image" Target="../media/image-19-11.png"/><Relationship Id="rId12" Type="http://schemas.openxmlformats.org/officeDocument/2006/relationships/image" Target="../media/image-19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3504" y="310896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</a:rPr>
              <a:t>DATA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21792" y="6210239"/>
            <a:ext cx="310896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4712" y="6166714"/>
            <a:ext cx="310896" cy="365760"/>
          </a:xfrm>
          <a:prstGeom prst="rect">
            <a:avLst/>
          </a:prstGeom>
          <a:solidFill>
            <a:srgbClr val="334155">
              <a:alpha val="72000"/>
            </a:srgbClr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27632" y="6123188"/>
            <a:ext cx="310896" cy="493776"/>
          </a:xfrm>
          <a:prstGeom prst="rect">
            <a:avLst/>
          </a:prstGeom>
          <a:solidFill>
            <a:srgbClr val="334155">
              <a:alpha val="72000"/>
            </a:srgbClr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30552" y="6079663"/>
            <a:ext cx="310896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33472" y="6210239"/>
            <a:ext cx="310896" cy="237744"/>
          </a:xfrm>
          <a:prstGeom prst="rect">
            <a:avLst/>
          </a:prstGeom>
          <a:solidFill>
            <a:srgbClr val="334155">
              <a:alpha val="72000"/>
            </a:srgbClr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36392" y="6166714"/>
            <a:ext cx="310896" cy="365760"/>
          </a:xfrm>
          <a:prstGeom prst="rect">
            <a:avLst/>
          </a:prstGeom>
          <a:solidFill>
            <a:srgbClr val="334155">
              <a:alpha val="72000"/>
            </a:srgbClr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39312" y="6123188"/>
            <a:ext cx="310896" cy="493776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42232" y="6079663"/>
            <a:ext cx="310896" cy="621792"/>
          </a:xfrm>
          <a:prstGeom prst="rect">
            <a:avLst/>
          </a:prstGeom>
          <a:solidFill>
            <a:srgbClr val="334155">
              <a:alpha val="72000"/>
            </a:srgbClr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5216" y="6400800"/>
            <a:ext cx="11021263" cy="0"/>
          </a:xfrm>
          <a:prstGeom prst="line">
            <a:avLst/>
          </a:prstGeom>
          <a:noFill/>
          <a:ln w="12700">
            <a:solidFill>
              <a:srgbClr val="334155">
                <a:alpha val="7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502920"/>
            <a:ext cx="11185855" cy="5852160"/>
          </a:xfrm>
          <a:prstGeom prst="rect">
            <a:avLst/>
          </a:prstGeom>
          <a:solidFill>
            <a:srgbClr val="F59E0B">
              <a:alpha val="0"/>
            </a:srgbClr>
          </a:solidFill>
          <a:ln w="12700">
            <a:solidFill>
              <a:srgbClr val="111827">
                <a:alpha val="8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088575" y="6199632"/>
            <a:ext cx="1600200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2057400"/>
            <a:ext cx="10332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 Composition Grammar QA</a:t>
            </a:r>
            <a:endParaRPr lang="en-US"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3504" y="310896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</a:rPr>
              <a:t>DATA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21792" y="6210239"/>
            <a:ext cx="310896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4712" y="6166714"/>
            <a:ext cx="310896" cy="365760"/>
          </a:xfrm>
          <a:prstGeom prst="rect">
            <a:avLst/>
          </a:prstGeom>
          <a:solidFill>
            <a:srgbClr val="334155">
              <a:alpha val="72000"/>
            </a:srgbClr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27632" y="6123188"/>
            <a:ext cx="310896" cy="493776"/>
          </a:xfrm>
          <a:prstGeom prst="rect">
            <a:avLst/>
          </a:prstGeom>
          <a:solidFill>
            <a:srgbClr val="334155">
              <a:alpha val="72000"/>
            </a:srgbClr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30552" y="6079663"/>
            <a:ext cx="310896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33472" y="6210239"/>
            <a:ext cx="310896" cy="237744"/>
          </a:xfrm>
          <a:prstGeom prst="rect">
            <a:avLst/>
          </a:prstGeom>
          <a:solidFill>
            <a:srgbClr val="334155">
              <a:alpha val="72000"/>
            </a:srgbClr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36392" y="6166714"/>
            <a:ext cx="310896" cy="365760"/>
          </a:xfrm>
          <a:prstGeom prst="rect">
            <a:avLst/>
          </a:prstGeom>
          <a:solidFill>
            <a:srgbClr val="334155">
              <a:alpha val="72000"/>
            </a:srgbClr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39312" y="6123188"/>
            <a:ext cx="310896" cy="493776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42232" y="6079663"/>
            <a:ext cx="310896" cy="621792"/>
          </a:xfrm>
          <a:prstGeom prst="rect">
            <a:avLst/>
          </a:prstGeom>
          <a:solidFill>
            <a:srgbClr val="334155">
              <a:alpha val="72000"/>
            </a:srgbClr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5216" y="6400800"/>
            <a:ext cx="11021263" cy="0"/>
          </a:xfrm>
          <a:prstGeom prst="line">
            <a:avLst/>
          </a:prstGeom>
          <a:noFill/>
          <a:ln w="12700">
            <a:solidFill>
              <a:srgbClr val="334155">
                <a:alpha val="7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1188720"/>
            <a:ext cx="105156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6199632"/>
            <a:ext cx="201168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80760" y="1389888"/>
            <a:ext cx="22860" cy="4663440"/>
          </a:xfrm>
          <a:prstGeom prst="rect">
            <a:avLst/>
          </a:prstGeom>
          <a:solidFill>
            <a:srgbClr val="334155">
              <a:alpha val="90000"/>
            </a:srgbClr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1389888"/>
            <a:ext cx="73152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2194560"/>
            <a:ext cx="73152" cy="65836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2990088"/>
            <a:ext cx="73152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3794760"/>
            <a:ext cx="73152" cy="65836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4599432"/>
            <a:ext cx="73152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5394960"/>
            <a:ext cx="73152" cy="65836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72784" y="1389888"/>
            <a:ext cx="73152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72784" y="2194560"/>
            <a:ext cx="73152" cy="65836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72784" y="2990088"/>
            <a:ext cx="73152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72784" y="3794760"/>
            <a:ext cx="73152" cy="65836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72784" y="4599432"/>
            <a:ext cx="73152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72784" y="5394960"/>
            <a:ext cx="73152" cy="65836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31520" y="384048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Agenda</a:t>
            </a:r>
            <a:endParaRPr lang="en-US" sz="3800" dirty="0"/>
          </a:p>
        </p:txBody>
      </p:sp>
      <p:sp>
        <p:nvSpPr>
          <p:cNvPr id="29" name="Text 27"/>
          <p:cNvSpPr txBox="1"/>
          <p:nvPr/>
        </p:nvSpPr>
        <p:spPr>
          <a:xfrm>
            <a:off x="1042416" y="1481328"/>
            <a:ext cx="4645152" cy="4754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Preview Purpose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1042416" y="2286000"/>
            <a:ext cx="4645152" cy="4754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Composition Contract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1042416" y="3081528"/>
            <a:ext cx="4645152" cy="4754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Style Families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1042416" y="3886200"/>
            <a:ext cx="4645152" cy="4754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Semantic Blocks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1042416" y="4690872"/>
            <a:ext cx="4645152" cy="4754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 Pipeline Diagram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1042416" y="5486400"/>
            <a:ext cx="4645152" cy="4754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Table Coherence</a:t>
            </a:r>
            <a:endParaRPr lang="en-US" sz="1800" dirty="0"/>
          </a:p>
        </p:txBody>
      </p:sp>
      <p:sp>
        <p:nvSpPr>
          <p:cNvPr id="35" name="Text 33"/>
          <p:cNvSpPr txBox="1"/>
          <p:nvPr/>
        </p:nvSpPr>
        <p:spPr>
          <a:xfrm>
            <a:off x="6492240" y="1481328"/>
            <a:ext cx="4645152" cy="4754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 Chart and Table Pair</a:t>
            </a: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6492240" y="2286000"/>
            <a:ext cx="4645152" cy="4754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  Editable Proof Objects</a:t>
            </a:r>
            <a:endParaRPr lang="en-US" sz="1800" dirty="0"/>
          </a:p>
        </p:txBody>
      </p:sp>
      <p:sp>
        <p:nvSpPr>
          <p:cNvPr id="37" name="Text 35"/>
          <p:cNvSpPr txBox="1"/>
          <p:nvPr/>
        </p:nvSpPr>
        <p:spPr>
          <a:xfrm>
            <a:off x="6492240" y="3081528"/>
            <a:ext cx="4645152" cy="4754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Object Shape Grammar</a:t>
            </a:r>
            <a:endParaRPr lang="en-US" sz="1800" dirty="0"/>
          </a:p>
        </p:txBody>
      </p:sp>
      <p:sp>
        <p:nvSpPr>
          <p:cNvPr id="38" name="Text 36"/>
          <p:cNvSpPr txBox="1"/>
          <p:nvPr/>
        </p:nvSpPr>
        <p:spPr>
          <a:xfrm>
            <a:off x="6492240" y="3886200"/>
            <a:ext cx="4645152" cy="4754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 Icon and Text Aside</a:t>
            </a:r>
            <a:endParaRPr lang="en-US" sz="1800" dirty="0"/>
          </a:p>
        </p:txBody>
      </p:sp>
      <p:sp>
        <p:nvSpPr>
          <p:cNvPr id="39" name="Text 37"/>
          <p:cNvSpPr txBox="1"/>
          <p:nvPr/>
        </p:nvSpPr>
        <p:spPr>
          <a:xfrm>
            <a:off x="6492240" y="4690872"/>
            <a:ext cx="4645152" cy="4754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 Overflow Guard</a:t>
            </a:r>
            <a:endParaRPr lang="en-US" sz="1800" dirty="0"/>
          </a:p>
        </p:txBody>
      </p:sp>
      <p:sp>
        <p:nvSpPr>
          <p:cNvPr id="40" name="Text 38"/>
          <p:cNvSpPr txBox="1"/>
          <p:nvPr/>
        </p:nvSpPr>
        <p:spPr>
          <a:xfrm>
            <a:off x="6492240" y="5486400"/>
            <a:ext cx="4645152" cy="4754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 Actions Output Review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3504" y="310896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</a:rPr>
              <a:t>DATA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21792" y="6210239"/>
            <a:ext cx="310896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4712" y="6166714"/>
            <a:ext cx="310896" cy="365760"/>
          </a:xfrm>
          <a:prstGeom prst="rect">
            <a:avLst/>
          </a:prstGeom>
          <a:solidFill>
            <a:srgbClr val="334155">
              <a:alpha val="72000"/>
            </a:srgbClr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27632" y="6123188"/>
            <a:ext cx="310896" cy="493776"/>
          </a:xfrm>
          <a:prstGeom prst="rect">
            <a:avLst/>
          </a:prstGeom>
          <a:solidFill>
            <a:srgbClr val="334155">
              <a:alpha val="72000"/>
            </a:srgbClr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30552" y="6079663"/>
            <a:ext cx="310896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33472" y="6210239"/>
            <a:ext cx="310896" cy="237744"/>
          </a:xfrm>
          <a:prstGeom prst="rect">
            <a:avLst/>
          </a:prstGeom>
          <a:solidFill>
            <a:srgbClr val="334155">
              <a:alpha val="72000"/>
            </a:srgbClr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36392" y="6166714"/>
            <a:ext cx="310896" cy="365760"/>
          </a:xfrm>
          <a:prstGeom prst="rect">
            <a:avLst/>
          </a:prstGeom>
          <a:solidFill>
            <a:srgbClr val="334155">
              <a:alpha val="72000"/>
            </a:srgbClr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39312" y="6123188"/>
            <a:ext cx="310896" cy="493776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42232" y="6079663"/>
            <a:ext cx="310896" cy="621792"/>
          </a:xfrm>
          <a:prstGeom prst="rect">
            <a:avLst/>
          </a:prstGeom>
          <a:solidFill>
            <a:srgbClr val="334155">
              <a:alpha val="72000"/>
            </a:srgbClr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5216" y="6400800"/>
            <a:ext cx="11021263" cy="0"/>
          </a:xfrm>
          <a:prstGeom prst="line">
            <a:avLst/>
          </a:prstGeom>
          <a:noFill/>
          <a:ln w="12700">
            <a:solidFill>
              <a:srgbClr val="334155">
                <a:alpha val="7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3063240"/>
            <a:ext cx="1024128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132588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1046988" y="1549908"/>
            <a:ext cx="73152" cy="1060704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Preview Purpose</a:t>
            </a:r>
            <a:endParaRPr lang="en-US" sz="3400" dirty="0"/>
          </a:p>
        </p:txBody>
      </p:sp>
      <p:sp>
        <p:nvSpPr>
          <p:cNvPr id="17" name="Text 14"/>
          <p:cNvSpPr txBox="1"/>
          <p:nvPr/>
        </p:nvSpPr>
        <p:spPr>
          <a:xfrm>
            <a:off x="1298448" y="1545336"/>
            <a:ext cx="963777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Generated decks must prove hierarchy, evidence, and object grammar before decoration.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987552" y="3172968"/>
            <a:ext cx="10094976" cy="247802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59E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Fixture type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Actions theme preview source.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59E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Source shape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short bullets, bounded tables, and one-slide diagrams.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59E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Review target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readable, coherent, composition-aware output.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3504" y="310896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</a:rPr>
              <a:t>DATA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21792" y="6210239"/>
            <a:ext cx="310896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4712" y="6166714"/>
            <a:ext cx="310896" cy="365760"/>
          </a:xfrm>
          <a:prstGeom prst="rect">
            <a:avLst/>
          </a:prstGeom>
          <a:solidFill>
            <a:srgbClr val="334155">
              <a:alpha val="72000"/>
            </a:srgbClr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27632" y="6123188"/>
            <a:ext cx="310896" cy="493776"/>
          </a:xfrm>
          <a:prstGeom prst="rect">
            <a:avLst/>
          </a:prstGeom>
          <a:solidFill>
            <a:srgbClr val="334155">
              <a:alpha val="72000"/>
            </a:srgbClr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30552" y="6079663"/>
            <a:ext cx="310896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33472" y="6210239"/>
            <a:ext cx="310896" cy="237744"/>
          </a:xfrm>
          <a:prstGeom prst="rect">
            <a:avLst/>
          </a:prstGeom>
          <a:solidFill>
            <a:srgbClr val="334155">
              <a:alpha val="72000"/>
            </a:srgbClr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36392" y="6166714"/>
            <a:ext cx="310896" cy="365760"/>
          </a:xfrm>
          <a:prstGeom prst="rect">
            <a:avLst/>
          </a:prstGeom>
          <a:solidFill>
            <a:srgbClr val="334155">
              <a:alpha val="72000"/>
            </a:srgbClr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39312" y="6123188"/>
            <a:ext cx="310896" cy="493776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42232" y="6079663"/>
            <a:ext cx="310896" cy="621792"/>
          </a:xfrm>
          <a:prstGeom prst="rect">
            <a:avLst/>
          </a:prstGeom>
          <a:solidFill>
            <a:srgbClr val="334155">
              <a:alpha val="72000"/>
            </a:srgbClr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5216" y="6400800"/>
            <a:ext cx="11021263" cy="0"/>
          </a:xfrm>
          <a:prstGeom prst="line">
            <a:avLst/>
          </a:prstGeom>
          <a:noFill/>
          <a:ln w="12700">
            <a:solidFill>
              <a:srgbClr val="334155">
                <a:alpha val="7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6384" y="1956816"/>
            <a:ext cx="32004" cy="3483864"/>
          </a:xfrm>
          <a:prstGeom prst="rect">
            <a:avLst/>
          </a:prstGeom>
          <a:solidFill>
            <a:srgbClr val="38BDF8">
              <a:alpha val="80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1865376"/>
            <a:ext cx="73152" cy="10241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191256"/>
            <a:ext cx="73152" cy="10241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4507992"/>
            <a:ext cx="73152" cy="10241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865376"/>
            <a:ext cx="10241280" cy="1024128"/>
          </a:xfrm>
          <a:prstGeom prst="rect">
            <a:avLst/>
          </a:prstGeom>
        </p:spPr>
      </p:pic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3191256"/>
            <a:ext cx="10241280" cy="1024128"/>
          </a:xfrm>
          <a:prstGeom prst="rect">
            <a:avLst/>
          </a:prstGeom>
        </p:spPr>
      </p:pic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4507992"/>
            <a:ext cx="10241280" cy="1024128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Composition Contract</a:t>
            </a:r>
            <a:endParaRPr lang="en-US" sz="3400" dirty="0"/>
          </a:p>
        </p:txBody>
      </p:sp>
      <p:sp>
        <p:nvSpPr>
          <p:cNvPr id="21" name="Shape 16"/>
          <p:cNvSpPr/>
          <p:nvPr/>
        </p:nvSpPr>
        <p:spPr>
          <a:xfrm>
            <a:off x="1097280" y="214042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101820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22" name="Image 3" descr="article icon from tabler-icons (MIT)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0432" y="2213580"/>
            <a:ext cx="327721" cy="327721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699321" y="1957548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59E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Cover signal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title scale and first-viewport identity.</a:t>
            </a:r>
            <a:endParaRPr lang="en-US" sz="2200" dirty="0"/>
          </a:p>
        </p:txBody>
      </p:sp>
      <p:sp>
        <p:nvSpPr>
          <p:cNvPr id="24" name="Shape 18"/>
          <p:cNvSpPr/>
          <p:nvPr/>
        </p:nvSpPr>
        <p:spPr>
          <a:xfrm>
            <a:off x="1097280" y="346630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101820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25" name="Image 4" descr="chart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70432" y="3539460"/>
            <a:ext cx="327721" cy="327721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699321" y="3283428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59E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Evidence rhythm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chart, table, and proof objects stay connected.</a:t>
            </a:r>
            <a:endParaRPr lang="en-US" sz="2200" dirty="0"/>
          </a:p>
        </p:txBody>
      </p:sp>
      <p:sp>
        <p:nvSpPr>
          <p:cNvPr id="27" name="Shape 20"/>
          <p:cNvSpPr/>
          <p:nvPr/>
        </p:nvSpPr>
        <p:spPr>
          <a:xfrm>
            <a:off x="1097280" y="4783044"/>
            <a:ext cx="474025" cy="474025"/>
          </a:xfrm>
          <a:prstGeom prst="roundRect">
            <a:avLst>
              <a:gd name="adj" fmla="val 7716"/>
            </a:avLst>
          </a:prstGeom>
          <a:solidFill>
            <a:srgbClr val="101820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28" name="Image 5" descr="article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70432" y="4856196"/>
            <a:ext cx="327721" cy="327721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1699321" y="4600164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59E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 grammar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cards, tickets, flags, and panels vary coherently.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3504" y="310896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</a:rPr>
              <a:t>DATA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21792" y="6210239"/>
            <a:ext cx="310896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4712" y="6166714"/>
            <a:ext cx="310896" cy="365760"/>
          </a:xfrm>
          <a:prstGeom prst="rect">
            <a:avLst/>
          </a:prstGeom>
          <a:solidFill>
            <a:srgbClr val="334155">
              <a:alpha val="72000"/>
            </a:srgbClr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27632" y="6123188"/>
            <a:ext cx="310896" cy="493776"/>
          </a:xfrm>
          <a:prstGeom prst="rect">
            <a:avLst/>
          </a:prstGeom>
          <a:solidFill>
            <a:srgbClr val="334155">
              <a:alpha val="72000"/>
            </a:srgbClr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30552" y="6079663"/>
            <a:ext cx="310896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33472" y="6210239"/>
            <a:ext cx="310896" cy="237744"/>
          </a:xfrm>
          <a:prstGeom prst="rect">
            <a:avLst/>
          </a:prstGeom>
          <a:solidFill>
            <a:srgbClr val="334155">
              <a:alpha val="72000"/>
            </a:srgbClr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36392" y="6166714"/>
            <a:ext cx="310896" cy="365760"/>
          </a:xfrm>
          <a:prstGeom prst="rect">
            <a:avLst/>
          </a:prstGeom>
          <a:solidFill>
            <a:srgbClr val="334155">
              <a:alpha val="72000"/>
            </a:srgbClr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39312" y="6123188"/>
            <a:ext cx="310896" cy="493776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42232" y="6079663"/>
            <a:ext cx="310896" cy="621792"/>
          </a:xfrm>
          <a:prstGeom prst="rect">
            <a:avLst/>
          </a:prstGeom>
          <a:solidFill>
            <a:srgbClr val="334155">
              <a:alpha val="72000"/>
            </a:srgbClr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5216" y="6400800"/>
            <a:ext cx="11021263" cy="0"/>
          </a:xfrm>
          <a:prstGeom prst="line">
            <a:avLst/>
          </a:prstGeom>
          <a:noFill/>
          <a:ln w="12700">
            <a:solidFill>
              <a:srgbClr val="334155">
                <a:alpha val="7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Composition Contract (Cont. 2/2)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59E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Connector clarity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arrows attach to object boundaries.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59E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Bounds discipline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no region exceeds the slide.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3504" y="310896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</a:rPr>
              <a:t>DATA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21792" y="6210239"/>
            <a:ext cx="310896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4712" y="6166714"/>
            <a:ext cx="310896" cy="365760"/>
          </a:xfrm>
          <a:prstGeom prst="rect">
            <a:avLst/>
          </a:prstGeom>
          <a:solidFill>
            <a:srgbClr val="334155">
              <a:alpha val="72000"/>
            </a:srgbClr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27632" y="6123188"/>
            <a:ext cx="310896" cy="493776"/>
          </a:xfrm>
          <a:prstGeom prst="rect">
            <a:avLst/>
          </a:prstGeom>
          <a:solidFill>
            <a:srgbClr val="334155">
              <a:alpha val="72000"/>
            </a:srgbClr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30552" y="6079663"/>
            <a:ext cx="310896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33472" y="6210239"/>
            <a:ext cx="310896" cy="237744"/>
          </a:xfrm>
          <a:prstGeom prst="rect">
            <a:avLst/>
          </a:prstGeom>
          <a:solidFill>
            <a:srgbClr val="334155">
              <a:alpha val="72000"/>
            </a:srgbClr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36392" y="6166714"/>
            <a:ext cx="310896" cy="365760"/>
          </a:xfrm>
          <a:prstGeom prst="rect">
            <a:avLst/>
          </a:prstGeom>
          <a:solidFill>
            <a:srgbClr val="334155">
              <a:alpha val="72000"/>
            </a:srgbClr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39312" y="6123188"/>
            <a:ext cx="310896" cy="493776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42232" y="6079663"/>
            <a:ext cx="310896" cy="621792"/>
          </a:xfrm>
          <a:prstGeom prst="rect">
            <a:avLst/>
          </a:prstGeom>
          <a:solidFill>
            <a:srgbClr val="334155">
              <a:alpha val="72000"/>
            </a:srgbClr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5216" y="6400800"/>
            <a:ext cx="11021263" cy="0"/>
          </a:xfrm>
          <a:prstGeom prst="line">
            <a:avLst/>
          </a:prstGeom>
          <a:noFill/>
          <a:ln w="12700">
            <a:solidFill>
              <a:srgbClr val="334155">
                <a:alpha val="7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6384" y="1956816"/>
            <a:ext cx="32004" cy="3483864"/>
          </a:xfrm>
          <a:prstGeom prst="rect">
            <a:avLst/>
          </a:prstGeom>
          <a:solidFill>
            <a:srgbClr val="38BDF8">
              <a:alpha val="80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1865376"/>
            <a:ext cx="73152" cy="10241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191256"/>
            <a:ext cx="73152" cy="10241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4507992"/>
            <a:ext cx="73152" cy="10241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865376"/>
            <a:ext cx="10241280" cy="1024128"/>
          </a:xfrm>
          <a:prstGeom prst="rect">
            <a:avLst/>
          </a:prstGeom>
        </p:spPr>
      </p:pic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3191256"/>
            <a:ext cx="10241280" cy="1024128"/>
          </a:xfrm>
          <a:prstGeom prst="rect">
            <a:avLst/>
          </a:prstGeom>
        </p:spPr>
      </p:pic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4507992"/>
            <a:ext cx="10241280" cy="1024128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Style Families</a:t>
            </a:r>
            <a:endParaRPr lang="en-US" sz="3400" dirty="0"/>
          </a:p>
        </p:txBody>
      </p:sp>
      <p:sp>
        <p:nvSpPr>
          <p:cNvPr id="21" name="Shape 16"/>
          <p:cNvSpPr/>
          <p:nvPr/>
        </p:nvSpPr>
        <p:spPr>
          <a:xfrm>
            <a:off x="1097280" y="214042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101820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22" name="Image 3" descr="article icon from tabler-icons (MIT)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0432" y="2213580"/>
            <a:ext cx="327721" cy="327721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699321" y="1957548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59E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Clean / minimalism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restrained structural baselines.</a:t>
            </a:r>
            <a:endParaRPr lang="en-US" sz="2200" dirty="0"/>
          </a:p>
        </p:txBody>
      </p:sp>
      <p:sp>
        <p:nvSpPr>
          <p:cNvPr id="24" name="Shape 18"/>
          <p:cNvSpPr/>
          <p:nvPr/>
        </p:nvSpPr>
        <p:spPr>
          <a:xfrm>
            <a:off x="1097280" y="346630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101820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25" name="Image 4" descr="article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70432" y="3539460"/>
            <a:ext cx="327721" cy="327721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699321" y="3283428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59E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Executive / technical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structured operational hierarchy.</a:t>
            </a:r>
            <a:endParaRPr lang="en-US" sz="2200" dirty="0"/>
          </a:p>
        </p:txBody>
      </p:sp>
      <p:sp>
        <p:nvSpPr>
          <p:cNvPr id="27" name="Shape 20"/>
          <p:cNvSpPr/>
          <p:nvPr/>
        </p:nvSpPr>
        <p:spPr>
          <a:xfrm>
            <a:off x="1097280" y="4783044"/>
            <a:ext cx="474025" cy="474025"/>
          </a:xfrm>
          <a:prstGeom prst="roundRect">
            <a:avLst>
              <a:gd name="adj" fmla="val 7716"/>
            </a:avLst>
          </a:prstGeom>
          <a:solidFill>
            <a:srgbClr val="101820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28" name="Image 5" descr="article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70432" y="4856196"/>
            <a:ext cx="327721" cy="327721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1699321" y="4600164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59E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Editorial / magazine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warmer page rhythm.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3504" y="310896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</a:rPr>
              <a:t>DATA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21792" y="6210239"/>
            <a:ext cx="310896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4712" y="6166714"/>
            <a:ext cx="310896" cy="365760"/>
          </a:xfrm>
          <a:prstGeom prst="rect">
            <a:avLst/>
          </a:prstGeom>
          <a:solidFill>
            <a:srgbClr val="334155">
              <a:alpha val="72000"/>
            </a:srgbClr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27632" y="6123188"/>
            <a:ext cx="310896" cy="493776"/>
          </a:xfrm>
          <a:prstGeom prst="rect">
            <a:avLst/>
          </a:prstGeom>
          <a:solidFill>
            <a:srgbClr val="334155">
              <a:alpha val="72000"/>
            </a:srgbClr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30552" y="6079663"/>
            <a:ext cx="310896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33472" y="6210239"/>
            <a:ext cx="310896" cy="237744"/>
          </a:xfrm>
          <a:prstGeom prst="rect">
            <a:avLst/>
          </a:prstGeom>
          <a:solidFill>
            <a:srgbClr val="334155">
              <a:alpha val="72000"/>
            </a:srgbClr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36392" y="6166714"/>
            <a:ext cx="310896" cy="365760"/>
          </a:xfrm>
          <a:prstGeom prst="rect">
            <a:avLst/>
          </a:prstGeom>
          <a:solidFill>
            <a:srgbClr val="334155">
              <a:alpha val="72000"/>
            </a:srgbClr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39312" y="6123188"/>
            <a:ext cx="310896" cy="493776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42232" y="6079663"/>
            <a:ext cx="310896" cy="621792"/>
          </a:xfrm>
          <a:prstGeom prst="rect">
            <a:avLst/>
          </a:prstGeom>
          <a:solidFill>
            <a:srgbClr val="334155">
              <a:alpha val="72000"/>
            </a:srgbClr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5216" y="6400800"/>
            <a:ext cx="11021263" cy="0"/>
          </a:xfrm>
          <a:prstGeom prst="line">
            <a:avLst/>
          </a:prstGeom>
          <a:noFill/>
          <a:ln w="12700">
            <a:solidFill>
              <a:srgbClr val="334155">
                <a:alpha val="7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Style Families (Cont. 2/2)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59E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Minimalism / newmorphism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sparse or softly raised surfaces.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59E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Glass / grid / data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distinct surface and background grammar.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3504" y="310896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</a:rPr>
              <a:t>DATA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21792" y="6210239"/>
            <a:ext cx="310896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4712" y="6166714"/>
            <a:ext cx="310896" cy="365760"/>
          </a:xfrm>
          <a:prstGeom prst="rect">
            <a:avLst/>
          </a:prstGeom>
          <a:solidFill>
            <a:srgbClr val="334155">
              <a:alpha val="72000"/>
            </a:srgbClr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27632" y="6123188"/>
            <a:ext cx="310896" cy="493776"/>
          </a:xfrm>
          <a:prstGeom prst="rect">
            <a:avLst/>
          </a:prstGeom>
          <a:solidFill>
            <a:srgbClr val="334155">
              <a:alpha val="72000"/>
            </a:srgbClr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30552" y="6079663"/>
            <a:ext cx="310896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33472" y="6210239"/>
            <a:ext cx="310896" cy="237744"/>
          </a:xfrm>
          <a:prstGeom prst="rect">
            <a:avLst/>
          </a:prstGeom>
          <a:solidFill>
            <a:srgbClr val="334155">
              <a:alpha val="72000"/>
            </a:srgbClr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36392" y="6166714"/>
            <a:ext cx="310896" cy="365760"/>
          </a:xfrm>
          <a:prstGeom prst="rect">
            <a:avLst/>
          </a:prstGeom>
          <a:solidFill>
            <a:srgbClr val="334155">
              <a:alpha val="72000"/>
            </a:srgbClr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39312" y="6123188"/>
            <a:ext cx="310896" cy="493776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42232" y="6079663"/>
            <a:ext cx="310896" cy="621792"/>
          </a:xfrm>
          <a:prstGeom prst="rect">
            <a:avLst/>
          </a:prstGeom>
          <a:solidFill>
            <a:srgbClr val="334155">
              <a:alpha val="72000"/>
            </a:srgbClr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5216" y="6400800"/>
            <a:ext cx="11021263" cy="0"/>
          </a:xfrm>
          <a:prstGeom prst="line">
            <a:avLst/>
          </a:prstGeom>
          <a:noFill/>
          <a:ln w="12700">
            <a:solidFill>
              <a:srgbClr val="334155">
                <a:alpha val="7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1463040"/>
            <a:ext cx="73152" cy="1920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09360" y="1463040"/>
            <a:ext cx="73152" cy="19202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3749040"/>
            <a:ext cx="73152" cy="1920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0" y="3749040"/>
            <a:ext cx="73152" cy="19202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2960" y="1463040"/>
            <a:ext cx="5029200" cy="1920240"/>
          </a:xfrm>
          <a:prstGeom prst="rect">
            <a:avLst/>
          </a:prstGeom>
        </p:spPr>
      </p:pic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09360" y="1463040"/>
            <a:ext cx="5029200" cy="1920240"/>
          </a:xfrm>
          <a:prstGeom prst="rect">
            <a:avLst/>
          </a:prstGeom>
        </p:spPr>
      </p:pic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2960" y="3749040"/>
            <a:ext cx="5029200" cy="1920240"/>
          </a:xfrm>
          <a:prstGeom prst="rect">
            <a:avLst/>
          </a:prstGeom>
        </p:spPr>
      </p:pic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09360" y="3749040"/>
            <a:ext cx="5029200" cy="192024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Semantic Blocks</a:t>
            </a:r>
            <a:endParaRPr lang="en-US" sz="3400" dirty="0"/>
          </a:p>
        </p:txBody>
      </p:sp>
      <p:sp>
        <p:nvSpPr>
          <p:cNvPr id="22" name="Shape 16"/>
          <p:cNvSpPr/>
          <p:nvPr/>
        </p:nvSpPr>
        <p:spPr>
          <a:xfrm>
            <a:off x="9761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101820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23" name="Image 4" descr="table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49274" y="2203704"/>
            <a:ext cx="438912" cy="438912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6893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59E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Headings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stable slide boundaries.</a:t>
            </a:r>
            <a:endParaRPr lang="en-US" sz="2200" dirty="0"/>
          </a:p>
        </p:txBody>
      </p:sp>
      <p:sp>
        <p:nvSpPr>
          <p:cNvPr id="25" name="Shape 18"/>
          <p:cNvSpPr/>
          <p:nvPr/>
        </p:nvSpPr>
        <p:spPr>
          <a:xfrm>
            <a:off x="64625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101820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26" name="Image 5" descr="article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35674" y="2203704"/>
            <a:ext cx="438912" cy="438912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71757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59E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Lists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ordered and unordered structure.</a:t>
            </a:r>
            <a:endParaRPr lang="en-US" sz="2200" dirty="0"/>
          </a:p>
        </p:txBody>
      </p:sp>
      <p:sp>
        <p:nvSpPr>
          <p:cNvPr id="28" name="Shape 20"/>
          <p:cNvSpPr/>
          <p:nvPr/>
        </p:nvSpPr>
        <p:spPr>
          <a:xfrm>
            <a:off x="9761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101820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29" name="Image 6" descr="article icon from tabler-icons (MIT)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49274" y="4489704"/>
            <a:ext cx="438912" cy="438912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16893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59E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Constraint: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Indented description lines stay under the bold label.</a:t>
            </a:r>
            <a:endParaRPr lang="en-US" sz="2200" dirty="0"/>
          </a:p>
        </p:txBody>
      </p:sp>
      <p:sp>
        <p:nvSpPr>
          <p:cNvPr id="31" name="Shape 22"/>
          <p:cNvSpPr/>
          <p:nvPr/>
        </p:nvSpPr>
        <p:spPr>
          <a:xfrm>
            <a:off x="64625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101820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32" name="Image 7" descr="table icon from tabler-icons (MIT)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535674" y="4489704"/>
            <a:ext cx="438912" cy="438912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71757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59E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Emphasis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bold and italic remain editable.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3504" y="310896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</a:rPr>
              <a:t>DATA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21792" y="6210239"/>
            <a:ext cx="310896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4712" y="6166714"/>
            <a:ext cx="310896" cy="365760"/>
          </a:xfrm>
          <a:prstGeom prst="rect">
            <a:avLst/>
          </a:prstGeom>
          <a:solidFill>
            <a:srgbClr val="334155">
              <a:alpha val="72000"/>
            </a:srgbClr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27632" y="6123188"/>
            <a:ext cx="310896" cy="493776"/>
          </a:xfrm>
          <a:prstGeom prst="rect">
            <a:avLst/>
          </a:prstGeom>
          <a:solidFill>
            <a:srgbClr val="334155">
              <a:alpha val="72000"/>
            </a:srgbClr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30552" y="6079663"/>
            <a:ext cx="310896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33472" y="6210239"/>
            <a:ext cx="310896" cy="237744"/>
          </a:xfrm>
          <a:prstGeom prst="rect">
            <a:avLst/>
          </a:prstGeom>
          <a:solidFill>
            <a:srgbClr val="334155">
              <a:alpha val="72000"/>
            </a:srgbClr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36392" y="6166714"/>
            <a:ext cx="310896" cy="365760"/>
          </a:xfrm>
          <a:prstGeom prst="rect">
            <a:avLst/>
          </a:prstGeom>
          <a:solidFill>
            <a:srgbClr val="334155">
              <a:alpha val="72000"/>
            </a:srgbClr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39312" y="6123188"/>
            <a:ext cx="310896" cy="493776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42232" y="6079663"/>
            <a:ext cx="310896" cy="621792"/>
          </a:xfrm>
          <a:prstGeom prst="rect">
            <a:avLst/>
          </a:prstGeom>
          <a:solidFill>
            <a:srgbClr val="334155">
              <a:alpha val="72000"/>
            </a:srgbClr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5216" y="6400800"/>
            <a:ext cx="11021263" cy="0"/>
          </a:xfrm>
          <a:prstGeom prst="line">
            <a:avLst/>
          </a:prstGeom>
          <a:noFill/>
          <a:ln w="12700">
            <a:solidFill>
              <a:srgbClr val="334155">
                <a:alpha val="7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Pipeline Diagram</a:t>
            </a:r>
            <a:endParaRPr lang="en-US" sz="3400" dirty="0"/>
          </a:p>
        </p:txBody>
      </p:sp>
      <p:sp>
        <p:nvSpPr>
          <p:cNvPr id="14" name="Shape 12"/>
          <p:cNvSpPr/>
          <p:nvPr/>
        </p:nvSpPr>
        <p:spPr>
          <a:xfrm>
            <a:off x="4002024" y="3095244"/>
            <a:ext cx="45720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748016" y="3095244"/>
            <a:ext cx="45720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849612" y="3627791"/>
            <a:ext cx="0" cy="416235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748016" y="4576572"/>
            <a:ext cx="45720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  <a:headEnd type="triangle"/>
          </a:ln>
        </p:spPr>
      </p:sp>
      <p:sp>
        <p:nvSpPr>
          <p:cNvPr id="18" name="Shape 16"/>
          <p:cNvSpPr/>
          <p:nvPr/>
        </p:nvSpPr>
        <p:spPr>
          <a:xfrm>
            <a:off x="4002024" y="4576572"/>
            <a:ext cx="45720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  <a:headEnd type="triangle"/>
          </a:ln>
        </p:spPr>
      </p:sp>
      <p:sp>
        <p:nvSpPr>
          <p:cNvPr id="19" name="Shape 17"/>
          <p:cNvSpPr/>
          <p:nvPr/>
        </p:nvSpPr>
        <p:spPr>
          <a:xfrm>
            <a:off x="640080" y="2510028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162331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2510028"/>
            <a:ext cx="3435096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4672" y="2907975"/>
            <a:ext cx="374538" cy="37453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4672" y="2907975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018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325514" y="2638044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Markdown source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386072" y="2510028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162331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386072" y="2510028"/>
            <a:ext cx="3435096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50664" y="2907975"/>
            <a:ext cx="374538" cy="37453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50664" y="2907975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018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5071506" y="2638044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Parse blocks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132064" y="2510028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162331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132064" y="2510028"/>
            <a:ext cx="3435096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96656" y="2907975"/>
            <a:ext cx="374538" cy="37453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296656" y="2907975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018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817498" y="2638044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Split slides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132064" y="3991356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162331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132064" y="3991356"/>
            <a:ext cx="3435096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296656" y="4389303"/>
            <a:ext cx="374538" cy="37453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296656" y="4389303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018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8817498" y="4119372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Layout objects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386072" y="3991356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162331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386072" y="3991356"/>
            <a:ext cx="3435096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50664" y="4389303"/>
            <a:ext cx="374538" cy="37453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550664" y="4389303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018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5071506" y="4119372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Validate overflow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40080" y="3991356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162331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40080" y="3991356"/>
            <a:ext cx="3435096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04672" y="4389303"/>
            <a:ext cx="374538" cy="37453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804672" y="4389303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018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500" dirty="0"/>
          </a:p>
        </p:txBody>
      </p:sp>
      <p:sp>
        <p:nvSpPr>
          <p:cNvPr id="48" name="Text 46"/>
          <p:cNvSpPr txBox="1"/>
          <p:nvPr/>
        </p:nvSpPr>
        <p:spPr>
          <a:xfrm>
            <a:off x="1325514" y="4119372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Render PPTX HTML PDF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3504" y="310896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</a:rPr>
              <a:t>DATA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21792" y="6210239"/>
            <a:ext cx="310896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4712" y="6166714"/>
            <a:ext cx="310896" cy="365760"/>
          </a:xfrm>
          <a:prstGeom prst="rect">
            <a:avLst/>
          </a:prstGeom>
          <a:solidFill>
            <a:srgbClr val="334155">
              <a:alpha val="72000"/>
            </a:srgbClr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27632" y="6123188"/>
            <a:ext cx="310896" cy="493776"/>
          </a:xfrm>
          <a:prstGeom prst="rect">
            <a:avLst/>
          </a:prstGeom>
          <a:solidFill>
            <a:srgbClr val="334155">
              <a:alpha val="72000"/>
            </a:srgbClr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30552" y="6079663"/>
            <a:ext cx="310896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33472" y="6210239"/>
            <a:ext cx="310896" cy="237744"/>
          </a:xfrm>
          <a:prstGeom prst="rect">
            <a:avLst/>
          </a:prstGeom>
          <a:solidFill>
            <a:srgbClr val="334155">
              <a:alpha val="72000"/>
            </a:srgbClr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36392" y="6166714"/>
            <a:ext cx="310896" cy="365760"/>
          </a:xfrm>
          <a:prstGeom prst="rect">
            <a:avLst/>
          </a:prstGeom>
          <a:solidFill>
            <a:srgbClr val="334155">
              <a:alpha val="72000"/>
            </a:srgbClr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39312" y="6123188"/>
            <a:ext cx="310896" cy="493776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42232" y="6079663"/>
            <a:ext cx="310896" cy="621792"/>
          </a:xfrm>
          <a:prstGeom prst="rect">
            <a:avLst/>
          </a:prstGeom>
          <a:solidFill>
            <a:srgbClr val="334155">
              <a:alpha val="72000"/>
            </a:srgbClr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5216" y="6400800"/>
            <a:ext cx="11021263" cy="0"/>
          </a:xfrm>
          <a:prstGeom prst="line">
            <a:avLst/>
          </a:prstGeom>
          <a:noFill/>
          <a:ln w="12700">
            <a:solidFill>
              <a:srgbClr val="334155">
                <a:alpha val="7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Table Coherence</a:t>
            </a:r>
            <a:endParaRPr lang="en-US" sz="3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417320"/>
          <a:ext cx="10241280" cy="4526280"/>
        </p:xfrm>
        <a:graphic>
          <a:graphicData uri="http://schemas.openxmlformats.org/drawingml/2006/table">
            <a:tbl>
              <a:tblPr/>
              <a:tblGrid>
                <a:gridCol w="3413760"/>
                <a:gridCol w="3413760"/>
                <a:gridCol w="3413760"/>
              </a:tblGrid>
              <a:tr h="9052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Object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Renderer expectation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QA signal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Text box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editable, middle aligned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readable minimum size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Table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1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native table object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1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header fill and cell padding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1">
                        <a:alpha val="80000"/>
                      </a:srgbClr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Diagram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nodes and connectors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no clipped labels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Chart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1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theme-colored data object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1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contrast and value clarity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1">
                        <a:alpha val="8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0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3504" y="310896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</a:rPr>
              <a:t>DATA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21792" y="6210239"/>
            <a:ext cx="310896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4712" y="6166714"/>
            <a:ext cx="310896" cy="365760"/>
          </a:xfrm>
          <a:prstGeom prst="rect">
            <a:avLst/>
          </a:prstGeom>
          <a:solidFill>
            <a:srgbClr val="334155">
              <a:alpha val="72000"/>
            </a:srgbClr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27632" y="6123188"/>
            <a:ext cx="310896" cy="493776"/>
          </a:xfrm>
          <a:prstGeom prst="rect">
            <a:avLst/>
          </a:prstGeom>
          <a:solidFill>
            <a:srgbClr val="334155">
              <a:alpha val="72000"/>
            </a:srgbClr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30552" y="6079663"/>
            <a:ext cx="310896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33472" y="6210239"/>
            <a:ext cx="310896" cy="237744"/>
          </a:xfrm>
          <a:prstGeom prst="rect">
            <a:avLst/>
          </a:prstGeom>
          <a:solidFill>
            <a:srgbClr val="334155">
              <a:alpha val="72000"/>
            </a:srgbClr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36392" y="6166714"/>
            <a:ext cx="310896" cy="365760"/>
          </a:xfrm>
          <a:prstGeom prst="rect">
            <a:avLst/>
          </a:prstGeom>
          <a:solidFill>
            <a:srgbClr val="334155">
              <a:alpha val="72000"/>
            </a:srgbClr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39312" y="6123188"/>
            <a:ext cx="310896" cy="493776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42232" y="6079663"/>
            <a:ext cx="310896" cy="621792"/>
          </a:xfrm>
          <a:prstGeom prst="rect">
            <a:avLst/>
          </a:prstGeom>
          <a:solidFill>
            <a:srgbClr val="334155">
              <a:alpha val="72000"/>
            </a:srgbClr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5216" y="6400800"/>
            <a:ext cx="11021263" cy="0"/>
          </a:xfrm>
          <a:prstGeom prst="line">
            <a:avLst/>
          </a:prstGeom>
          <a:noFill/>
          <a:ln w="12700">
            <a:solidFill>
              <a:srgbClr val="334155">
                <a:alpha val="7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1248" y="1517904"/>
            <a:ext cx="382219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56048" y="1426464"/>
            <a:ext cx="6199632" cy="4407408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Chart and Table Pair</a:t>
            </a:r>
            <a:endParaRPr lang="en-US" sz="34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1627632"/>
            <a:ext cx="3675888" cy="400507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59E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Numeric evidence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chart and table stay side by side.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59E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Data density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values remain readable without shrinking below floor.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59E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Comparison goal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coverage and defects are visible together.</a:t>
            </a:r>
            <a:endParaRPr lang="en-US" sz="22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5084064" y="1572768"/>
          <a:ext cx="59436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0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3504" y="310896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</a:rPr>
              <a:t>DATA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21792" y="6210239"/>
            <a:ext cx="310896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4712" y="6166714"/>
            <a:ext cx="310896" cy="365760"/>
          </a:xfrm>
          <a:prstGeom prst="rect">
            <a:avLst/>
          </a:prstGeom>
          <a:solidFill>
            <a:srgbClr val="334155">
              <a:alpha val="72000"/>
            </a:srgbClr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27632" y="6123188"/>
            <a:ext cx="310896" cy="493776"/>
          </a:xfrm>
          <a:prstGeom prst="rect">
            <a:avLst/>
          </a:prstGeom>
          <a:solidFill>
            <a:srgbClr val="334155">
              <a:alpha val="72000"/>
            </a:srgbClr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30552" y="6079663"/>
            <a:ext cx="310896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33472" y="6210239"/>
            <a:ext cx="310896" cy="237744"/>
          </a:xfrm>
          <a:prstGeom prst="rect">
            <a:avLst/>
          </a:prstGeom>
          <a:solidFill>
            <a:srgbClr val="334155">
              <a:alpha val="72000"/>
            </a:srgbClr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36392" y="6166714"/>
            <a:ext cx="310896" cy="365760"/>
          </a:xfrm>
          <a:prstGeom prst="rect">
            <a:avLst/>
          </a:prstGeom>
          <a:solidFill>
            <a:srgbClr val="334155">
              <a:alpha val="72000"/>
            </a:srgbClr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39312" y="6123188"/>
            <a:ext cx="310896" cy="493776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42232" y="6079663"/>
            <a:ext cx="310896" cy="621792"/>
          </a:xfrm>
          <a:prstGeom prst="rect">
            <a:avLst/>
          </a:prstGeom>
          <a:solidFill>
            <a:srgbClr val="334155">
              <a:alpha val="72000"/>
            </a:srgbClr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5216" y="6400800"/>
            <a:ext cx="11021263" cy="0"/>
          </a:xfrm>
          <a:prstGeom prst="line">
            <a:avLst/>
          </a:prstGeom>
          <a:noFill/>
          <a:ln w="12700">
            <a:solidFill>
              <a:srgbClr val="334155">
                <a:alpha val="7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Chart and Table Pair (Cont. 2/2)</a:t>
            </a:r>
            <a:endParaRPr lang="en-US" sz="3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417320"/>
          <a:ext cx="10241280" cy="4526280"/>
        </p:xfrm>
        <a:graphic>
          <a:graphicData uri="http://schemas.openxmlformats.org/drawingml/2006/table">
            <a:tbl>
              <a:tblPr/>
              <a:tblGrid>
                <a:gridCol w="3413760"/>
                <a:gridCol w="3413760"/>
                <a:gridCol w="3413760"/>
              </a:tblGrid>
              <a:tr h="11315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Stage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Coverage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Defects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</a:tr>
              <a:tr h="11315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Parser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92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315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Layout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1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88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1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1">
                        <a:alpha val="80000"/>
                      </a:srgbClr>
                    </a:solidFill>
                  </a:tcPr>
                </a:tc>
              </a:tr>
              <a:tr h="11315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PPTX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95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0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3504" y="310896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</a:rPr>
              <a:t>DATA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21792" y="6210239"/>
            <a:ext cx="310896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4712" y="6166714"/>
            <a:ext cx="310896" cy="365760"/>
          </a:xfrm>
          <a:prstGeom prst="rect">
            <a:avLst/>
          </a:prstGeom>
          <a:solidFill>
            <a:srgbClr val="334155">
              <a:alpha val="72000"/>
            </a:srgbClr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27632" y="6123188"/>
            <a:ext cx="310896" cy="493776"/>
          </a:xfrm>
          <a:prstGeom prst="rect">
            <a:avLst/>
          </a:prstGeom>
          <a:solidFill>
            <a:srgbClr val="334155">
              <a:alpha val="72000"/>
            </a:srgbClr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30552" y="6079663"/>
            <a:ext cx="310896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33472" y="6210239"/>
            <a:ext cx="310896" cy="237744"/>
          </a:xfrm>
          <a:prstGeom prst="rect">
            <a:avLst/>
          </a:prstGeom>
          <a:solidFill>
            <a:srgbClr val="334155">
              <a:alpha val="72000"/>
            </a:srgbClr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36392" y="6166714"/>
            <a:ext cx="310896" cy="365760"/>
          </a:xfrm>
          <a:prstGeom prst="rect">
            <a:avLst/>
          </a:prstGeom>
          <a:solidFill>
            <a:srgbClr val="334155">
              <a:alpha val="72000"/>
            </a:srgbClr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39312" y="6123188"/>
            <a:ext cx="310896" cy="493776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42232" y="6079663"/>
            <a:ext cx="310896" cy="621792"/>
          </a:xfrm>
          <a:prstGeom prst="rect">
            <a:avLst/>
          </a:prstGeom>
          <a:solidFill>
            <a:srgbClr val="334155">
              <a:alpha val="72000"/>
            </a:srgbClr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5216" y="6400800"/>
            <a:ext cx="11021263" cy="0"/>
          </a:xfrm>
          <a:prstGeom prst="line">
            <a:avLst/>
          </a:prstGeom>
          <a:noFill/>
          <a:ln w="12700">
            <a:solidFill>
              <a:srgbClr val="334155">
                <a:alpha val="7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434340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Editable Proof Objects</a:t>
            </a:r>
            <a:endParaRPr lang="en-US" sz="3400" dirty="0"/>
          </a:p>
        </p:txBody>
      </p:sp>
      <p:sp>
        <p:nvSpPr>
          <p:cNvPr id="15" name="Shape 12"/>
          <p:cNvSpPr/>
          <p:nvPr/>
        </p:nvSpPr>
        <p:spPr>
          <a:xfrm>
            <a:off x="1309713" y="2551322"/>
            <a:ext cx="2075395" cy="2075395"/>
          </a:xfrm>
          <a:prstGeom prst="blockArc">
            <a:avLst>
              <a:gd name="adj1" fmla="val 0"/>
              <a:gd name="adj2" fmla="val 21540000"/>
              <a:gd name="adj3" fmla="val 12000"/>
            </a:avLst>
          </a:prstGeom>
          <a:solidFill>
            <a:srgbClr val="334155">
              <a:alpha val="82000"/>
            </a:srgbClr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309713" y="2551322"/>
            <a:ext cx="2075395" cy="2075395"/>
          </a:xfrm>
          <a:prstGeom prst="blockArc">
            <a:avLst>
              <a:gd name="adj1" fmla="val 16200000"/>
              <a:gd name="adj2" fmla="val 21540000"/>
              <a:gd name="adj3" fmla="val 12000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309713" y="2551322"/>
            <a:ext cx="2075395" cy="2075395"/>
          </a:xfrm>
          <a:prstGeom prst="blockArc">
            <a:avLst>
              <a:gd name="adj1" fmla="val 0"/>
              <a:gd name="adj2" fmla="val 12780000"/>
              <a:gd name="adj3" fmla="val 12000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514348" y="3049296"/>
            <a:ext cx="145278" cy="14527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10182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704039" y="2945647"/>
            <a:ext cx="1286745" cy="1286745"/>
          </a:xfrm>
          <a:prstGeom prst="ellipse">
            <a:avLst/>
          </a:prstGeom>
          <a:solidFill>
            <a:srgbClr val="101820"/>
          </a:solidFill>
          <a:ln w="12700">
            <a:solidFill>
              <a:srgbClr val="101820">
                <a:alpha val="0"/>
              </a:srgb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766300" y="3236203"/>
            <a:ext cx="1162221" cy="4980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84%</a:t>
            </a:r>
            <a:endParaRPr lang="en-US" sz="3000" dirty="0"/>
          </a:p>
        </p:txBody>
      </p:sp>
      <p:sp>
        <p:nvSpPr>
          <p:cNvPr id="21" name="Text 18"/>
          <p:cNvSpPr txBox="1"/>
          <p:nvPr/>
        </p:nvSpPr>
        <p:spPr>
          <a:xfrm>
            <a:off x="1683285" y="3755052"/>
            <a:ext cx="1328253" cy="373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Coverage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3796589" y="2567178"/>
            <a:ext cx="137160" cy="1371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025189" y="2416302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Validated 84%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3796589" y="3006090"/>
            <a:ext cx="137160" cy="13716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025189" y="2855214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Remaining 16%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6658990" y="3835908"/>
            <a:ext cx="4051962" cy="256032"/>
          </a:xfrm>
          <a:prstGeom prst="roundRect">
            <a:avLst>
              <a:gd name="adj" fmla="val 28571"/>
            </a:avLst>
          </a:prstGeom>
          <a:solidFill>
            <a:srgbClr val="334155">
              <a:alpha val="85000"/>
            </a:srgbClr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658990" y="3835908"/>
            <a:ext cx="3687286" cy="256032"/>
          </a:xfrm>
          <a:prstGeom prst="roundRect">
            <a:avLst>
              <a:gd name="adj" fmla="val 28571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0346276" y="3433572"/>
            <a:ext cx="0" cy="969264"/>
          </a:xfrm>
          <a:prstGeom prst="line">
            <a:avLst/>
          </a:prstGeom>
          <a:noFill/>
          <a:ln w="12700">
            <a:solidFill>
              <a:srgbClr val="F8FAFC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0199972" y="3817620"/>
            <a:ext cx="292608" cy="292608"/>
          </a:xfrm>
          <a:prstGeom prst="ellipse">
            <a:avLst/>
          </a:prstGeom>
          <a:solidFill>
            <a:srgbClr val="10182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658990" y="3744468"/>
            <a:ext cx="0" cy="438912"/>
          </a:xfrm>
          <a:prstGeom prst="line">
            <a:avLst/>
          </a:prstGeom>
          <a:noFill/>
          <a:ln w="12700">
            <a:solidFill>
              <a:srgbClr val="334155">
                <a:alpha val="9500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0710952" y="3744468"/>
            <a:ext cx="0" cy="438912"/>
          </a:xfrm>
          <a:prstGeom prst="line">
            <a:avLst/>
          </a:prstGeom>
          <a:noFill/>
          <a:ln w="12700">
            <a:solidFill>
              <a:srgbClr val="334155">
                <a:alpha val="95000"/>
              </a:srgbClr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955618" y="2217420"/>
            <a:ext cx="14587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91%</a:t>
            </a:r>
            <a:endParaRPr lang="en-US" sz="3200" dirty="0"/>
          </a:p>
        </p:txBody>
      </p:sp>
      <p:sp>
        <p:nvSpPr>
          <p:cNvPr id="33" name="Text 30"/>
          <p:cNvSpPr txBox="1"/>
          <p:nvPr/>
        </p:nvSpPr>
        <p:spPr>
          <a:xfrm>
            <a:off x="6658990" y="4530852"/>
            <a:ext cx="405196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Score · Readiness</a:t>
            </a:r>
            <a:endParaRPr lang="en-US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6658990" y="413766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10162312" y="413766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100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0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3504" y="310896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</a:rPr>
              <a:t>DATA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21792" y="6210239"/>
            <a:ext cx="310896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4712" y="6166714"/>
            <a:ext cx="310896" cy="365760"/>
          </a:xfrm>
          <a:prstGeom prst="rect">
            <a:avLst/>
          </a:prstGeom>
          <a:solidFill>
            <a:srgbClr val="334155">
              <a:alpha val="72000"/>
            </a:srgbClr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27632" y="6123188"/>
            <a:ext cx="310896" cy="493776"/>
          </a:xfrm>
          <a:prstGeom prst="rect">
            <a:avLst/>
          </a:prstGeom>
          <a:solidFill>
            <a:srgbClr val="334155">
              <a:alpha val="72000"/>
            </a:srgbClr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30552" y="6079663"/>
            <a:ext cx="310896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33472" y="6210239"/>
            <a:ext cx="310896" cy="237744"/>
          </a:xfrm>
          <a:prstGeom prst="rect">
            <a:avLst/>
          </a:prstGeom>
          <a:solidFill>
            <a:srgbClr val="334155">
              <a:alpha val="72000"/>
            </a:srgbClr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36392" y="6166714"/>
            <a:ext cx="310896" cy="365760"/>
          </a:xfrm>
          <a:prstGeom prst="rect">
            <a:avLst/>
          </a:prstGeom>
          <a:solidFill>
            <a:srgbClr val="334155">
              <a:alpha val="72000"/>
            </a:srgbClr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39312" y="6123188"/>
            <a:ext cx="310896" cy="493776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42232" y="6079663"/>
            <a:ext cx="310896" cy="621792"/>
          </a:xfrm>
          <a:prstGeom prst="rect">
            <a:avLst/>
          </a:prstGeom>
          <a:solidFill>
            <a:srgbClr val="334155">
              <a:alpha val="72000"/>
            </a:srgbClr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5216" y="6400800"/>
            <a:ext cx="11021263" cy="0"/>
          </a:xfrm>
          <a:prstGeom prst="line">
            <a:avLst/>
          </a:prstGeom>
          <a:noFill/>
          <a:ln w="12700">
            <a:solidFill>
              <a:srgbClr val="334155">
                <a:alpha val="7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434340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Editable Proof Objects (Cont. 2/2)</a:t>
            </a:r>
            <a:endParaRPr lang="en-US" sz="3400" dirty="0"/>
          </a:p>
        </p:txBody>
      </p:sp>
      <p:sp>
        <p:nvSpPr>
          <p:cNvPr id="15" name="Shape 12"/>
          <p:cNvSpPr/>
          <p:nvPr/>
        </p:nvSpPr>
        <p:spPr>
          <a:xfrm>
            <a:off x="1078992" y="2446020"/>
            <a:ext cx="2262957" cy="2286000"/>
          </a:xfrm>
          <a:prstGeom prst="roundRect">
            <a:avLst>
              <a:gd name="adj" fmla="val 2020"/>
            </a:avLst>
          </a:prstGeom>
          <a:solidFill>
            <a:srgbClr val="162331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280160" y="4347972"/>
            <a:ext cx="593815" cy="12801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261872" y="2574036"/>
            <a:ext cx="1897197" cy="914400"/>
          </a:xfrm>
          <a:prstGeom prst="rect">
            <a:avLst/>
          </a:prstGeom>
          <a:noFill/>
          <a:ln/>
        </p:spPr>
        <p:txBody>
          <a:bodyPr wrap="square" lIns="381" tIns="508" rIns="508" bIns="381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Parse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1261872" y="3543300"/>
            <a:ext cx="18971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59E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30%</a:t>
            </a:r>
            <a:endParaRPr lang="en-US" sz="2800" dirty="0"/>
          </a:p>
        </p:txBody>
      </p:sp>
      <p:sp>
        <p:nvSpPr>
          <p:cNvPr id="19" name="Shape 16"/>
          <p:cNvSpPr/>
          <p:nvPr/>
        </p:nvSpPr>
        <p:spPr>
          <a:xfrm>
            <a:off x="3628705" y="2446020"/>
            <a:ext cx="2262957" cy="2286000"/>
          </a:xfrm>
          <a:prstGeom prst="roundRect">
            <a:avLst>
              <a:gd name="adj" fmla="val 2020"/>
            </a:avLst>
          </a:prstGeom>
          <a:solidFill>
            <a:srgbClr val="162331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829873" y="4347972"/>
            <a:ext cx="1227218" cy="12801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811585" y="2574036"/>
            <a:ext cx="1897197" cy="914400"/>
          </a:xfrm>
          <a:prstGeom prst="rect">
            <a:avLst/>
          </a:prstGeom>
          <a:noFill/>
          <a:ln/>
        </p:spPr>
        <p:txBody>
          <a:bodyPr wrap="square" lIns="381" tIns="508" rIns="508" bIns="381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Plan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3811585" y="3543300"/>
            <a:ext cx="18971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38BD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62%</a:t>
            </a:r>
            <a:endParaRPr lang="en-US" sz="2800" dirty="0"/>
          </a:p>
        </p:txBody>
      </p:sp>
      <p:sp>
        <p:nvSpPr>
          <p:cNvPr id="23" name="Shape 20"/>
          <p:cNvSpPr/>
          <p:nvPr/>
        </p:nvSpPr>
        <p:spPr>
          <a:xfrm>
            <a:off x="6178418" y="2446020"/>
            <a:ext cx="2262957" cy="2286000"/>
          </a:xfrm>
          <a:prstGeom prst="roundRect">
            <a:avLst>
              <a:gd name="adj" fmla="val 2020"/>
            </a:avLst>
          </a:prstGeom>
          <a:solidFill>
            <a:srgbClr val="162331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379586" y="4347972"/>
            <a:ext cx="1702270" cy="12801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361298" y="2574036"/>
            <a:ext cx="1897197" cy="914400"/>
          </a:xfrm>
          <a:prstGeom prst="rect">
            <a:avLst/>
          </a:prstGeom>
          <a:noFill/>
          <a:ln/>
        </p:spPr>
        <p:txBody>
          <a:bodyPr wrap="square" lIns="381" tIns="508" rIns="508" bIns="381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Render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6361298" y="3543300"/>
            <a:ext cx="18971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59E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86%</a:t>
            </a:r>
            <a:endParaRPr lang="en-US" sz="2800" dirty="0"/>
          </a:p>
        </p:txBody>
      </p:sp>
      <p:sp>
        <p:nvSpPr>
          <p:cNvPr id="27" name="Shape 24"/>
          <p:cNvSpPr/>
          <p:nvPr/>
        </p:nvSpPr>
        <p:spPr>
          <a:xfrm>
            <a:off x="8728131" y="2446020"/>
            <a:ext cx="2262957" cy="2286000"/>
          </a:xfrm>
          <a:prstGeom prst="roundRect">
            <a:avLst>
              <a:gd name="adj" fmla="val 2020"/>
            </a:avLst>
          </a:prstGeom>
          <a:solidFill>
            <a:srgbClr val="162331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929299" y="4347972"/>
            <a:ext cx="1860621" cy="12801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911011" y="2574036"/>
            <a:ext cx="1897197" cy="914400"/>
          </a:xfrm>
          <a:prstGeom prst="rect">
            <a:avLst/>
          </a:prstGeom>
          <a:noFill/>
          <a:ln/>
        </p:spPr>
        <p:txBody>
          <a:bodyPr wrap="square" lIns="381" tIns="508" rIns="508" bIns="381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Review</a:t>
            </a:r>
            <a:endParaRPr lang="en-US" sz="1800" dirty="0"/>
          </a:p>
        </p:txBody>
      </p:sp>
      <p:sp>
        <p:nvSpPr>
          <p:cNvPr id="30" name="Text 27"/>
          <p:cNvSpPr txBox="1"/>
          <p:nvPr/>
        </p:nvSpPr>
        <p:spPr>
          <a:xfrm>
            <a:off x="8911011" y="3543300"/>
            <a:ext cx="18971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59E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94%</a:t>
            </a:r>
            <a:endParaRPr lang="en-US" sz="2800" dirty="0"/>
          </a:p>
        </p:txBody>
      </p:sp>
      <p:sp>
        <p:nvSpPr>
          <p:cNvPr id="31" name="Shape 28"/>
          <p:cNvSpPr/>
          <p:nvPr/>
        </p:nvSpPr>
        <p:spPr>
          <a:xfrm>
            <a:off x="3285375" y="3589020"/>
            <a:ext cx="399904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32" name="Shape 29"/>
          <p:cNvSpPr/>
          <p:nvPr/>
        </p:nvSpPr>
        <p:spPr>
          <a:xfrm>
            <a:off x="5835088" y="3589020"/>
            <a:ext cx="399904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33" name="Shape 30"/>
          <p:cNvSpPr/>
          <p:nvPr/>
        </p:nvSpPr>
        <p:spPr>
          <a:xfrm>
            <a:off x="8384801" y="3589020"/>
            <a:ext cx="399904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0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3504" y="310896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</a:rPr>
              <a:t>DATA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21792" y="6210239"/>
            <a:ext cx="310896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4712" y="6166714"/>
            <a:ext cx="310896" cy="365760"/>
          </a:xfrm>
          <a:prstGeom prst="rect">
            <a:avLst/>
          </a:prstGeom>
          <a:solidFill>
            <a:srgbClr val="334155">
              <a:alpha val="72000"/>
            </a:srgbClr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27632" y="6123188"/>
            <a:ext cx="310896" cy="493776"/>
          </a:xfrm>
          <a:prstGeom prst="rect">
            <a:avLst/>
          </a:prstGeom>
          <a:solidFill>
            <a:srgbClr val="334155">
              <a:alpha val="72000"/>
            </a:srgbClr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30552" y="6079663"/>
            <a:ext cx="310896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33472" y="6210239"/>
            <a:ext cx="310896" cy="237744"/>
          </a:xfrm>
          <a:prstGeom prst="rect">
            <a:avLst/>
          </a:prstGeom>
          <a:solidFill>
            <a:srgbClr val="334155">
              <a:alpha val="72000"/>
            </a:srgbClr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36392" y="6166714"/>
            <a:ext cx="310896" cy="365760"/>
          </a:xfrm>
          <a:prstGeom prst="rect">
            <a:avLst/>
          </a:prstGeom>
          <a:solidFill>
            <a:srgbClr val="334155">
              <a:alpha val="72000"/>
            </a:srgbClr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39312" y="6123188"/>
            <a:ext cx="310896" cy="493776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42232" y="6079663"/>
            <a:ext cx="310896" cy="621792"/>
          </a:xfrm>
          <a:prstGeom prst="rect">
            <a:avLst/>
          </a:prstGeom>
          <a:solidFill>
            <a:srgbClr val="334155">
              <a:alpha val="72000"/>
            </a:srgbClr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5216" y="6400800"/>
            <a:ext cx="11021263" cy="0"/>
          </a:xfrm>
          <a:prstGeom prst="line">
            <a:avLst/>
          </a:prstGeom>
          <a:noFill/>
          <a:ln w="12700">
            <a:solidFill>
              <a:srgbClr val="334155">
                <a:alpha val="7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1463040"/>
            <a:ext cx="1024128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 Shape Grammar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987552" y="1572768"/>
            <a:ext cx="10094976" cy="426110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59E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Method flag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short high-level step.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59E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Ticket panel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document-like evidence.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59E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Two-corner panel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linear grouping.</a:t>
            </a:r>
            <a:endParaRPr 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0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3504" y="310896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</a:rPr>
              <a:t>DATA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21792" y="6210239"/>
            <a:ext cx="310896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4712" y="6166714"/>
            <a:ext cx="310896" cy="365760"/>
          </a:xfrm>
          <a:prstGeom prst="rect">
            <a:avLst/>
          </a:prstGeom>
          <a:solidFill>
            <a:srgbClr val="334155">
              <a:alpha val="72000"/>
            </a:srgbClr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27632" y="6123188"/>
            <a:ext cx="310896" cy="493776"/>
          </a:xfrm>
          <a:prstGeom prst="rect">
            <a:avLst/>
          </a:prstGeom>
          <a:solidFill>
            <a:srgbClr val="334155">
              <a:alpha val="72000"/>
            </a:srgbClr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30552" y="6079663"/>
            <a:ext cx="310896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33472" y="6210239"/>
            <a:ext cx="310896" cy="237744"/>
          </a:xfrm>
          <a:prstGeom prst="rect">
            <a:avLst/>
          </a:prstGeom>
          <a:solidFill>
            <a:srgbClr val="334155">
              <a:alpha val="72000"/>
            </a:srgbClr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36392" y="6166714"/>
            <a:ext cx="310896" cy="365760"/>
          </a:xfrm>
          <a:prstGeom prst="rect">
            <a:avLst/>
          </a:prstGeom>
          <a:solidFill>
            <a:srgbClr val="334155">
              <a:alpha val="72000"/>
            </a:srgbClr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39312" y="6123188"/>
            <a:ext cx="310896" cy="493776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42232" y="6079663"/>
            <a:ext cx="310896" cy="621792"/>
          </a:xfrm>
          <a:prstGeom prst="rect">
            <a:avLst/>
          </a:prstGeom>
          <a:solidFill>
            <a:srgbClr val="334155">
              <a:alpha val="72000"/>
            </a:srgbClr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5216" y="6400800"/>
            <a:ext cx="11021263" cy="0"/>
          </a:xfrm>
          <a:prstGeom prst="line">
            <a:avLst/>
          </a:prstGeom>
          <a:noFill/>
          <a:ln w="12700">
            <a:solidFill>
              <a:srgbClr val="334155">
                <a:alpha val="7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 Shape Grammar (Cont. 2/2)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59E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Notched panel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technical constraint or code-like object.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59E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Rounded panel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neutral fallback surface.</a:t>
            </a:r>
            <a:endParaRPr lang="en-US" sz="2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0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3504" y="310896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</a:rPr>
              <a:t>DATA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21792" y="6210239"/>
            <a:ext cx="310896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4712" y="6166714"/>
            <a:ext cx="310896" cy="365760"/>
          </a:xfrm>
          <a:prstGeom prst="rect">
            <a:avLst/>
          </a:prstGeom>
          <a:solidFill>
            <a:srgbClr val="334155">
              <a:alpha val="72000"/>
            </a:srgbClr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27632" y="6123188"/>
            <a:ext cx="310896" cy="493776"/>
          </a:xfrm>
          <a:prstGeom prst="rect">
            <a:avLst/>
          </a:prstGeom>
          <a:solidFill>
            <a:srgbClr val="334155">
              <a:alpha val="72000"/>
            </a:srgbClr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30552" y="6079663"/>
            <a:ext cx="310896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33472" y="6210239"/>
            <a:ext cx="310896" cy="237744"/>
          </a:xfrm>
          <a:prstGeom prst="rect">
            <a:avLst/>
          </a:prstGeom>
          <a:solidFill>
            <a:srgbClr val="334155">
              <a:alpha val="72000"/>
            </a:srgbClr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36392" y="6166714"/>
            <a:ext cx="310896" cy="365760"/>
          </a:xfrm>
          <a:prstGeom prst="rect">
            <a:avLst/>
          </a:prstGeom>
          <a:solidFill>
            <a:srgbClr val="334155">
              <a:alpha val="72000"/>
            </a:srgbClr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39312" y="6123188"/>
            <a:ext cx="310896" cy="493776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42232" y="6079663"/>
            <a:ext cx="310896" cy="621792"/>
          </a:xfrm>
          <a:prstGeom prst="rect">
            <a:avLst/>
          </a:prstGeom>
          <a:solidFill>
            <a:srgbClr val="334155">
              <a:alpha val="72000"/>
            </a:srgbClr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5216" y="6400800"/>
            <a:ext cx="11021263" cy="0"/>
          </a:xfrm>
          <a:prstGeom prst="line">
            <a:avLst/>
          </a:prstGeom>
          <a:noFill/>
          <a:ln w="12700">
            <a:solidFill>
              <a:srgbClr val="334155">
                <a:alpha val="7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1463040"/>
            <a:ext cx="73152" cy="1920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09360" y="1463040"/>
            <a:ext cx="73152" cy="19202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3749040"/>
            <a:ext cx="73152" cy="1920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0" y="3749040"/>
            <a:ext cx="73152" cy="19202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2960" y="1463040"/>
            <a:ext cx="5029200" cy="1920240"/>
          </a:xfrm>
          <a:prstGeom prst="rect">
            <a:avLst/>
          </a:prstGeom>
        </p:spPr>
      </p:pic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09360" y="1463040"/>
            <a:ext cx="5029200" cy="1920240"/>
          </a:xfrm>
          <a:prstGeom prst="rect">
            <a:avLst/>
          </a:prstGeom>
        </p:spPr>
      </p:pic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2960" y="3749040"/>
            <a:ext cx="5029200" cy="1920240"/>
          </a:xfrm>
          <a:prstGeom prst="rect">
            <a:avLst/>
          </a:prstGeom>
        </p:spPr>
      </p:pic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09360" y="3749040"/>
            <a:ext cx="5029200" cy="192024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Icon and Text Aside</a:t>
            </a:r>
            <a:endParaRPr lang="en-US" sz="3400" dirty="0"/>
          </a:p>
        </p:txBody>
      </p:sp>
      <p:sp>
        <p:nvSpPr>
          <p:cNvPr id="22" name="Shape 16"/>
          <p:cNvSpPr/>
          <p:nvPr/>
        </p:nvSpPr>
        <p:spPr>
          <a:xfrm>
            <a:off x="9761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101820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23" name="Image 4" descr="article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49274" y="2203704"/>
            <a:ext cx="438912" cy="438912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6893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59E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Icon role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quiet monochrome anchor.</a:t>
            </a:r>
            <a:endParaRPr lang="en-US" sz="2200" dirty="0"/>
          </a:p>
        </p:txBody>
      </p:sp>
      <p:sp>
        <p:nvSpPr>
          <p:cNvPr id="25" name="Shape 18"/>
          <p:cNvSpPr/>
          <p:nvPr/>
        </p:nvSpPr>
        <p:spPr>
          <a:xfrm>
            <a:off x="64625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101820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26" name="Image 5" descr="article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35674" y="2203704"/>
            <a:ext cx="438912" cy="438912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71757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59E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Icon scale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secondary to title and body text.</a:t>
            </a:r>
            <a:endParaRPr lang="en-US" sz="2200" dirty="0"/>
          </a:p>
        </p:txBody>
      </p:sp>
      <p:sp>
        <p:nvSpPr>
          <p:cNvPr id="28" name="Shape 20"/>
          <p:cNvSpPr/>
          <p:nvPr/>
        </p:nvSpPr>
        <p:spPr>
          <a:xfrm>
            <a:off x="9761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101820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29" name="Image 6" descr="article icon from tabler-icons (MIT)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49274" y="4489704"/>
            <a:ext cx="438912" cy="438912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16893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59E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Placement rule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icon never fills empty space alone.</a:t>
            </a:r>
            <a:endParaRPr lang="en-US" sz="2200" dirty="0"/>
          </a:p>
        </p:txBody>
      </p:sp>
      <p:sp>
        <p:nvSpPr>
          <p:cNvPr id="31" name="Shape 22"/>
          <p:cNvSpPr/>
          <p:nvPr/>
        </p:nvSpPr>
        <p:spPr>
          <a:xfrm>
            <a:off x="64625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101820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32" name="Image 7" descr="table icon from tabler-icons (MIT)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535674" y="4489704"/>
            <a:ext cx="438912" cy="438912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71757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59E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Fit rule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icon and text share a stable center line.</a:t>
            </a:r>
            <a:endParaRPr lang="en-US" sz="2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0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3504" y="310896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</a:rPr>
              <a:t>DATA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21792" y="6210239"/>
            <a:ext cx="310896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4712" y="6166714"/>
            <a:ext cx="310896" cy="365760"/>
          </a:xfrm>
          <a:prstGeom prst="rect">
            <a:avLst/>
          </a:prstGeom>
          <a:solidFill>
            <a:srgbClr val="334155">
              <a:alpha val="72000"/>
            </a:srgbClr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27632" y="6123188"/>
            <a:ext cx="310896" cy="493776"/>
          </a:xfrm>
          <a:prstGeom prst="rect">
            <a:avLst/>
          </a:prstGeom>
          <a:solidFill>
            <a:srgbClr val="334155">
              <a:alpha val="72000"/>
            </a:srgbClr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30552" y="6079663"/>
            <a:ext cx="310896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33472" y="6210239"/>
            <a:ext cx="310896" cy="237744"/>
          </a:xfrm>
          <a:prstGeom prst="rect">
            <a:avLst/>
          </a:prstGeom>
          <a:solidFill>
            <a:srgbClr val="334155">
              <a:alpha val="72000"/>
            </a:srgbClr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36392" y="6166714"/>
            <a:ext cx="310896" cy="365760"/>
          </a:xfrm>
          <a:prstGeom prst="rect">
            <a:avLst/>
          </a:prstGeom>
          <a:solidFill>
            <a:srgbClr val="334155">
              <a:alpha val="72000"/>
            </a:srgbClr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39312" y="6123188"/>
            <a:ext cx="310896" cy="493776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42232" y="6079663"/>
            <a:ext cx="310896" cy="621792"/>
          </a:xfrm>
          <a:prstGeom prst="rect">
            <a:avLst/>
          </a:prstGeom>
          <a:solidFill>
            <a:srgbClr val="334155">
              <a:alpha val="72000"/>
            </a:srgbClr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5216" y="6400800"/>
            <a:ext cx="11021263" cy="0"/>
          </a:xfrm>
          <a:prstGeom prst="line">
            <a:avLst/>
          </a:prstGeom>
          <a:noFill/>
          <a:ln w="12700">
            <a:solidFill>
              <a:srgbClr val="334155">
                <a:alpha val="7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1463040"/>
            <a:ext cx="73152" cy="1920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09360" y="1463040"/>
            <a:ext cx="73152" cy="19202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3749040"/>
            <a:ext cx="73152" cy="1920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0" y="3749040"/>
            <a:ext cx="73152" cy="19202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2960" y="1463040"/>
            <a:ext cx="5029200" cy="1920240"/>
          </a:xfrm>
          <a:prstGeom prst="rect">
            <a:avLst/>
          </a:prstGeom>
        </p:spPr>
      </p:pic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09360" y="1463040"/>
            <a:ext cx="5029200" cy="1920240"/>
          </a:xfrm>
          <a:prstGeom prst="rect">
            <a:avLst/>
          </a:prstGeom>
        </p:spPr>
      </p:pic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2960" y="3749040"/>
            <a:ext cx="5029200" cy="1920240"/>
          </a:xfrm>
          <a:prstGeom prst="rect">
            <a:avLst/>
          </a:prstGeom>
        </p:spPr>
      </p:pic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09360" y="3749040"/>
            <a:ext cx="5029200" cy="192024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Overflow Guard</a:t>
            </a:r>
            <a:endParaRPr lang="en-US" sz="3400" dirty="0"/>
          </a:p>
        </p:txBody>
      </p:sp>
      <p:sp>
        <p:nvSpPr>
          <p:cNvPr id="22" name="Shape 16"/>
          <p:cNvSpPr/>
          <p:nvPr/>
        </p:nvSpPr>
        <p:spPr>
          <a:xfrm>
            <a:off x="9761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101820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23" name="Image 4" descr="verified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49274" y="2203704"/>
            <a:ext cx="438912" cy="438912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6893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59E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Text fit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region bounds are validated before output.</a:t>
            </a:r>
            <a:endParaRPr lang="en-US" sz="2200" dirty="0"/>
          </a:p>
        </p:txBody>
      </p:sp>
      <p:sp>
        <p:nvSpPr>
          <p:cNvPr id="25" name="Shape 18"/>
          <p:cNvSpPr/>
          <p:nvPr/>
        </p:nvSpPr>
        <p:spPr>
          <a:xfrm>
            <a:off x="64625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101820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26" name="Image 5" descr="table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35674" y="2203704"/>
            <a:ext cx="438912" cy="438912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71757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59E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Tables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cell text uses middle alignment and coherent margins.</a:t>
            </a:r>
            <a:endParaRPr lang="en-US" sz="2200" dirty="0"/>
          </a:p>
        </p:txBody>
      </p:sp>
      <p:sp>
        <p:nvSpPr>
          <p:cNvPr id="28" name="Shape 20"/>
          <p:cNvSpPr/>
          <p:nvPr/>
        </p:nvSpPr>
        <p:spPr>
          <a:xfrm>
            <a:off x="9761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101820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29" name="Image 6" descr="article icon from tabler-icons (MIT)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49274" y="4489704"/>
            <a:ext cx="438912" cy="438912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16893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59E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Continuation slides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dense content splits before unreadable shrink.</a:t>
            </a:r>
            <a:endParaRPr lang="en-US" sz="2200" dirty="0"/>
          </a:p>
        </p:txBody>
      </p:sp>
      <p:sp>
        <p:nvSpPr>
          <p:cNvPr id="31" name="Shape 22"/>
          <p:cNvSpPr/>
          <p:nvPr/>
        </p:nvSpPr>
        <p:spPr>
          <a:xfrm>
            <a:off x="64625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101820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32" name="Image 7" descr="article icon from tabler-icons (MIT)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535674" y="4489704"/>
            <a:ext cx="438912" cy="438912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71757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59E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Cleanup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decorative-only bullets and empty artifacts are removed.</a:t>
            </a:r>
            <a:endParaRPr lang="en-US" sz="2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0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3504" y="310896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</a:rPr>
              <a:t>DATA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21792" y="6210239"/>
            <a:ext cx="310896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4712" y="6166714"/>
            <a:ext cx="310896" cy="365760"/>
          </a:xfrm>
          <a:prstGeom prst="rect">
            <a:avLst/>
          </a:prstGeom>
          <a:solidFill>
            <a:srgbClr val="334155">
              <a:alpha val="72000"/>
            </a:srgbClr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27632" y="6123188"/>
            <a:ext cx="310896" cy="493776"/>
          </a:xfrm>
          <a:prstGeom prst="rect">
            <a:avLst/>
          </a:prstGeom>
          <a:solidFill>
            <a:srgbClr val="334155">
              <a:alpha val="72000"/>
            </a:srgbClr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30552" y="6079663"/>
            <a:ext cx="310896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33472" y="6210239"/>
            <a:ext cx="310896" cy="237744"/>
          </a:xfrm>
          <a:prstGeom prst="rect">
            <a:avLst/>
          </a:prstGeom>
          <a:solidFill>
            <a:srgbClr val="334155">
              <a:alpha val="72000"/>
            </a:srgbClr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36392" y="6166714"/>
            <a:ext cx="310896" cy="365760"/>
          </a:xfrm>
          <a:prstGeom prst="rect">
            <a:avLst/>
          </a:prstGeom>
          <a:solidFill>
            <a:srgbClr val="334155">
              <a:alpha val="72000"/>
            </a:srgbClr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39312" y="6123188"/>
            <a:ext cx="310896" cy="493776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42232" y="6079663"/>
            <a:ext cx="310896" cy="621792"/>
          </a:xfrm>
          <a:prstGeom prst="rect">
            <a:avLst/>
          </a:prstGeom>
          <a:solidFill>
            <a:srgbClr val="334155">
              <a:alpha val="72000"/>
            </a:srgbClr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5216" y="6400800"/>
            <a:ext cx="11021263" cy="0"/>
          </a:xfrm>
          <a:prstGeom prst="line">
            <a:avLst/>
          </a:prstGeom>
          <a:noFill/>
          <a:ln w="12700">
            <a:solidFill>
              <a:srgbClr val="334155">
                <a:alpha val="7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6384" y="1956816"/>
            <a:ext cx="32004" cy="3483864"/>
          </a:xfrm>
          <a:prstGeom prst="rect">
            <a:avLst/>
          </a:prstGeom>
          <a:solidFill>
            <a:srgbClr val="38BDF8">
              <a:alpha val="80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1865376"/>
            <a:ext cx="73152" cy="10241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191256"/>
            <a:ext cx="73152" cy="10241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4507992"/>
            <a:ext cx="73152" cy="10241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865376"/>
            <a:ext cx="10241280" cy="1024128"/>
          </a:xfrm>
          <a:prstGeom prst="rect">
            <a:avLst/>
          </a:prstGeom>
        </p:spPr>
      </p:pic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3191256"/>
            <a:ext cx="10241280" cy="1024128"/>
          </a:xfrm>
          <a:prstGeom prst="rect">
            <a:avLst/>
          </a:prstGeom>
        </p:spPr>
      </p:pic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4507992"/>
            <a:ext cx="10241280" cy="1024128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Actions Output Review</a:t>
            </a:r>
            <a:endParaRPr lang="en-US" sz="3400" dirty="0"/>
          </a:p>
        </p:txBody>
      </p:sp>
      <p:sp>
        <p:nvSpPr>
          <p:cNvPr id="21" name="Shape 16"/>
          <p:cNvSpPr/>
          <p:nvPr/>
        </p:nvSpPr>
        <p:spPr>
          <a:xfrm>
            <a:off x="1097280" y="214042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101820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22" name="Image 3" descr="flow icon from tabler-icons (MIT)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0432" y="2213580"/>
            <a:ext cx="327721" cy="327721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699321" y="1957548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59E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Workflow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Theme Preview builds this source across decoration styles.</a:t>
            </a:r>
            <a:endParaRPr lang="en-US" sz="2200" dirty="0"/>
          </a:p>
        </p:txBody>
      </p:sp>
      <p:sp>
        <p:nvSpPr>
          <p:cNvPr id="24" name="Shape 18"/>
          <p:cNvSpPr/>
          <p:nvPr/>
        </p:nvSpPr>
        <p:spPr>
          <a:xfrm>
            <a:off x="1097280" y="346630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101820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25" name="Image 4" descr="verified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70432" y="3539460"/>
            <a:ext cx="327721" cy="327721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699321" y="3283428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59E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Gallery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Pages shows each styled deck and object-check slide.</a:t>
            </a:r>
            <a:endParaRPr lang="en-US" sz="2200" dirty="0"/>
          </a:p>
        </p:txBody>
      </p:sp>
      <p:sp>
        <p:nvSpPr>
          <p:cNvPr id="27" name="Shape 20"/>
          <p:cNvSpPr/>
          <p:nvPr/>
        </p:nvSpPr>
        <p:spPr>
          <a:xfrm>
            <a:off x="1097280" y="4783044"/>
            <a:ext cx="474025" cy="474025"/>
          </a:xfrm>
          <a:prstGeom prst="roundRect">
            <a:avLst>
              <a:gd name="adj" fmla="val 7716"/>
            </a:avLst>
          </a:prstGeom>
          <a:solidFill>
            <a:srgbClr val="101820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28" name="Image 5" descr="spark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70432" y="4856196"/>
            <a:ext cx="327721" cy="327721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1699321" y="4600164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59E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Ownership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MDPR owns rendering; mdpr-skill may prepare hints.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F8FAFC"/>
      </a:dk1>
      <a:lt1>
        <a:srgbClr val="101820"/>
      </a:lt1>
      <a:dk2>
        <a:srgbClr val="CBD5E1"/>
      </a:dk2>
      <a:lt2>
        <a:srgbClr val="162331"/>
      </a:lt2>
      <a:accent1>
        <a:srgbClr val="F59E0B"/>
      </a:accent1>
      <a:accent2>
        <a:srgbClr val="38BDF8"/>
      </a:accent2>
      <a:accent3>
        <a:srgbClr val="F59E0B"/>
      </a:accent3>
      <a:accent4>
        <a:srgbClr val="CBD5E1"/>
      </a:accent4>
      <a:accent5>
        <a:srgbClr val="334155"/>
      </a:accent5>
      <a:accent6>
        <a:srgbClr val="F8FAFC"/>
      </a:accent6>
      <a:hlink>
        <a:srgbClr val="F59E0B"/>
      </a:hlink>
      <a:folHlink>
        <a:srgbClr val="38BDF8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mdpresent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MDPR Composition Grammar QA</dc:title>
  <dc:subject>Generated from Markdown through Presentation IR and Layout IR</dc:subject>
  <dc:creator>mdpresent</dc:creator>
  <cp:lastModifiedBy>mdpresent</cp:lastModifiedBy>
  <cp:revision>1</cp:revision>
  <dcterms:created xsi:type="dcterms:W3CDTF">2026-06-20T14:52:25Z</dcterms:created>
  <dcterms:modified xsi:type="dcterms:W3CDTF">2026-06-20T14:52:25Z</dcterms:modified>
</cp:coreProperties>
</file>