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13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charts/chart14.xml" ContentType="application/vnd.openxmlformats-officedocument.drawingml.chart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Coverage</c:v>
                </c:pt>
              </c:strCache>
            </c:strRef>
          </c:tx>
          <c:spPr>
            <a:solidFill>
              <a:srgbClr val="11111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92</c:v>
                </c:pt>
                <c:pt idx="1">
                  <c:v>88</c:v>
                </c:pt>
                <c:pt idx="2">
                  <c:v>95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Defects</c:v>
                </c:pt>
              </c:strCache>
            </c:strRef>
          </c:tx>
          <c:spPr>
            <a:solidFill>
              <a:srgbClr val="00A6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</c:v>
                </c:pt>
                <c:pt idx="1">
                  <c:v>5</c:v>
                </c:pt>
                <c:pt idx="2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11111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111111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888888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888888"/>
              </a:solidFill>
              <a:latin typeface="Pretendard"/>
              <a:cs typeface="Pretendar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Score</c:v>
                </c:pt>
              </c:strCache>
            </c:strRef>
          </c:tx>
          <c:spPr>
            <a:solidFill>
              <a:srgbClr val="11111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</c:v>
                  </c:pt>
                  <c:pt idx="1">
                    <c:v>Plan</c:v>
                  </c:pt>
                  <c:pt idx="2">
                    <c:v>Render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78</c:v>
                </c:pt>
                <c:pt idx="1">
                  <c:v>86</c:v>
                </c:pt>
                <c:pt idx="2">
                  <c:v>93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11111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111111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888888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svg"/><Relationship Id="rId3" Type="http://schemas.openxmlformats.org/officeDocument/2006/relationships/image" Target="../media/image-9-3.png"/><Relationship Id="rId4" Type="http://schemas.openxmlformats.org/officeDocument/2006/relationships/image" Target="../media/image-9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svg"/><Relationship Id="rId3" Type="http://schemas.openxmlformats.org/officeDocument/2006/relationships/image" Target="../media/image-10-3.png"/><Relationship Id="rId4" Type="http://schemas.openxmlformats.org/officeDocument/2006/relationships/image" Target="../media/image-10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13.xml"/><Relationship Id="rId1" Type="http://schemas.openxmlformats.org/officeDocument/2006/relationships/image" Target="../media/image-15-1.png"/><Relationship Id="rId2" Type="http://schemas.openxmlformats.org/officeDocument/2006/relationships/image" Target="../media/image-15-2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svg"/><Relationship Id="rId3" Type="http://schemas.openxmlformats.org/officeDocument/2006/relationships/image" Target="../media/image-21-3.png"/><Relationship Id="rId4" Type="http://schemas.openxmlformats.org/officeDocument/2006/relationships/image" Target="../media/image-21-4.svg"/><Relationship Id="rId5" Type="http://schemas.openxmlformats.org/officeDocument/2006/relationships/image" Target="../media/image-21-5.png"/><Relationship Id="rId6" Type="http://schemas.openxmlformats.org/officeDocument/2006/relationships/image" Target="../media/image-21-6.svg"/><Relationship Id="rId7" Type="http://schemas.openxmlformats.org/officeDocument/2006/relationships/image" Target="../media/image-21-7.png"/><Relationship Id="rId8" Type="http://schemas.openxmlformats.org/officeDocument/2006/relationships/image" Target="../media/image-21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svg"/><Relationship Id="rId3" Type="http://schemas.openxmlformats.org/officeDocument/2006/relationships/image" Target="../media/image-22-3.png"/><Relationship Id="rId4" Type="http://schemas.openxmlformats.org/officeDocument/2006/relationships/image" Target="../media/image-22-4.svg"/><Relationship Id="rId5" Type="http://schemas.openxmlformats.org/officeDocument/2006/relationships/image" Target="../media/image-22-5.png"/><Relationship Id="rId6" Type="http://schemas.openxmlformats.org/officeDocument/2006/relationships/image" Target="../media/image-22-6.svg"/><Relationship Id="rId7" Type="http://schemas.openxmlformats.org/officeDocument/2006/relationships/image" Target="../media/image-22-7.png"/><Relationship Id="rId8" Type="http://schemas.openxmlformats.org/officeDocument/2006/relationships/image" Target="../media/image-22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svg"/><Relationship Id="rId3" Type="http://schemas.openxmlformats.org/officeDocument/2006/relationships/image" Target="../media/image-23-3.png"/><Relationship Id="rId4" Type="http://schemas.openxmlformats.org/officeDocument/2006/relationships/image" Target="../media/image-23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7" Type="http://schemas.openxmlformats.org/officeDocument/2006/relationships/chart" Target="/ppt/charts/chart14.xml"/><Relationship Id="rId1" Type="http://schemas.openxmlformats.org/officeDocument/2006/relationships/image" Target="../media/image-24-1.png"/><Relationship Id="rId2" Type="http://schemas.openxmlformats.org/officeDocument/2006/relationships/image" Target="../media/image-24-2.svg"/><Relationship Id="rId3" Type="http://schemas.openxmlformats.org/officeDocument/2006/relationships/image" Target="../media/image-24-3.png"/><Relationship Id="rId4" Type="http://schemas.openxmlformats.org/officeDocument/2006/relationships/image" Target="../media/image-24-4.svg"/><Relationship Id="rId5" Type="http://schemas.openxmlformats.org/officeDocument/2006/relationships/image" Target="../media/image-24-5.png"/><Relationship Id="rId6" Type="http://schemas.openxmlformats.org/officeDocument/2006/relationships/image" Target="../media/image-24-6.svg"/><Relationship Id="rId8" Type="http://schemas.openxmlformats.org/officeDocument/2006/relationships/image" Target="../media/image-24-7.png"/><Relationship Id="rId9" Type="http://schemas.openxmlformats.org/officeDocument/2006/relationships/image" Target="../media/image-24-8.sv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365760"/>
            <a:ext cx="11423599" cy="6126480"/>
          </a:xfrm>
          <a:prstGeom prst="rect">
            <a:avLst/>
          </a:prstGeom>
          <a:solidFill>
            <a:srgbClr val="FFF200">
              <a:alpha val="0"/>
            </a:srgbClr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271455" y="457200"/>
            <a:ext cx="1097280" cy="310896"/>
          </a:xfrm>
          <a:prstGeom prst="rect">
            <a:avLst/>
          </a:prstGeom>
          <a:solidFill>
            <a:srgbClr val="00A6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033711" y="310896"/>
            <a:ext cx="1225296" cy="20116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362895" y="457200"/>
            <a:ext cx="859536" cy="201168"/>
          </a:xfrm>
          <a:prstGeom prst="rect">
            <a:avLst/>
          </a:prstGeom>
          <a:solidFill>
            <a:srgbClr val="00A6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75488" y="768096"/>
            <a:ext cx="1353312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75488" y="6364224"/>
            <a:ext cx="11240719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11" name="mdpr:mdpr-design-grammar-b3a462:title:__title:mdpr-design-grammar-b3a462"/>
          <p:cNvSpPr txBox="1"/>
          <p:nvPr/>
        </p:nvSpPr>
        <p:spPr>
          <a:xfrm>
            <a:off x="914400" y="205740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Design Grammar</a:t>
            </a:r>
            <a:endParaRPr lang="en-US" sz="4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2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365760"/>
            <a:ext cx="11423599" cy="6126480"/>
          </a:xfrm>
          <a:prstGeom prst="rect">
            <a:avLst/>
          </a:prstGeom>
          <a:solidFill>
            <a:srgbClr val="FFF200">
              <a:alpha val="0"/>
            </a:srgbClr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271455" y="457200"/>
            <a:ext cx="1097280" cy="310896"/>
          </a:xfrm>
          <a:prstGeom prst="rect">
            <a:avLst/>
          </a:prstGeom>
          <a:solidFill>
            <a:srgbClr val="00A6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033711" y="310896"/>
            <a:ext cx="1225296" cy="20116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362895" y="457200"/>
            <a:ext cx="859536" cy="201168"/>
          </a:xfrm>
          <a:prstGeom prst="rect">
            <a:avLst/>
          </a:prstGeom>
          <a:solidFill>
            <a:srgbClr val="00A6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75488" y="768096"/>
            <a:ext cx="1353312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75488" y="6364224"/>
            <a:ext cx="11240719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1737360"/>
            <a:ext cx="73152" cy="84124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2779776"/>
            <a:ext cx="73152" cy="841248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3822192"/>
            <a:ext cx="73152" cy="84124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4864608"/>
            <a:ext cx="73152" cy="841248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72784" y="1737360"/>
            <a:ext cx="73152" cy="84124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272784" y="2779776"/>
            <a:ext cx="73152" cy="841248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72784" y="3822192"/>
            <a:ext cx="73152" cy="84124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272784" y="4864608"/>
            <a:ext cx="73152" cy="841248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18" name="mdpr:1-2-0772f8:title:__title:1-2-0772f8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</a:t>
            </a:r>
            <a:endParaRPr lang="en-US" sz="3800" dirty="0"/>
          </a:p>
        </p:txBody>
      </p:sp>
      <p:sp>
        <p:nvSpPr>
          <p:cNvPr id="19" name="mdpr:1-2-0772f8:toc-item-1:toc-item-1"/>
          <p:cNvSpPr txBox="1"/>
          <p:nvPr/>
        </p:nvSpPr>
        <p:spPr>
          <a:xfrm>
            <a:off x="1042416" y="1828800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Teaser Summary</a:t>
            </a:r>
            <a:endParaRPr lang="en-US" sz="1800" dirty="0"/>
          </a:p>
        </p:txBody>
      </p:sp>
      <p:sp>
        <p:nvSpPr>
          <p:cNvPr id="20" name="mdpr:1-2-0772f8:toc-item-2:toc-item-2"/>
          <p:cNvSpPr txBox="1"/>
          <p:nvPr/>
        </p:nvSpPr>
        <p:spPr>
          <a:xfrm>
            <a:off x="1042416" y="2871216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Composition Contract</a:t>
            </a:r>
            <a:endParaRPr lang="en-US" sz="1800" dirty="0"/>
          </a:p>
        </p:txBody>
      </p:sp>
      <p:sp>
        <p:nvSpPr>
          <p:cNvPr id="21" name="mdpr:1-2-0772f8:toc-item-3:toc-item-3"/>
          <p:cNvSpPr txBox="1"/>
          <p:nvPr/>
        </p:nvSpPr>
        <p:spPr>
          <a:xfrm>
            <a:off x="1042416" y="3913632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Pruned Style Families</a:t>
            </a:r>
            <a:endParaRPr lang="en-US" sz="1800" dirty="0"/>
          </a:p>
        </p:txBody>
      </p:sp>
      <p:sp>
        <p:nvSpPr>
          <p:cNvPr id="22" name="mdpr:1-2-0772f8:toc-item-4:toc-item-4"/>
          <p:cNvSpPr txBox="1"/>
          <p:nvPr/>
        </p:nvSpPr>
        <p:spPr>
          <a:xfrm>
            <a:off x="1042416" y="4956048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Semantic Blocks</a:t>
            </a:r>
            <a:endParaRPr lang="en-US" sz="1800" dirty="0"/>
          </a:p>
        </p:txBody>
      </p:sp>
      <p:sp>
        <p:nvSpPr>
          <p:cNvPr id="23" name="mdpr:1-2-0772f8:toc-item-5:toc-item-5"/>
          <p:cNvSpPr txBox="1"/>
          <p:nvPr/>
        </p:nvSpPr>
        <p:spPr>
          <a:xfrm>
            <a:off x="6492240" y="1828800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Pipeline Diagram</a:t>
            </a:r>
            <a:endParaRPr lang="en-US" sz="1800" dirty="0"/>
          </a:p>
        </p:txBody>
      </p:sp>
      <p:sp>
        <p:nvSpPr>
          <p:cNvPr id="24" name="mdpr:1-2-0772f8:toc-item-6:toc-item-6"/>
          <p:cNvSpPr txBox="1"/>
          <p:nvPr/>
        </p:nvSpPr>
        <p:spPr>
          <a:xfrm>
            <a:off x="6492240" y="2871216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Decoration Pattern Catalog</a:t>
            </a:r>
            <a:endParaRPr lang="en-US" sz="1800" dirty="0"/>
          </a:p>
        </p:txBody>
      </p:sp>
      <p:sp>
        <p:nvSpPr>
          <p:cNvPr id="25" name="mdpr:1-2-0772f8:toc-item-7:toc-item-7"/>
          <p:cNvSpPr txBox="1"/>
          <p:nvPr/>
        </p:nvSpPr>
        <p:spPr>
          <a:xfrm>
            <a:off x="6492240" y="3913632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 Table Coherence</a:t>
            </a:r>
            <a:endParaRPr lang="en-US" sz="1800" dirty="0"/>
          </a:p>
        </p:txBody>
      </p:sp>
      <p:sp>
        <p:nvSpPr>
          <p:cNvPr id="26" name="mdpr:1-2-0772f8:toc-item-8:toc-item-8"/>
          <p:cNvSpPr txBox="1"/>
          <p:nvPr/>
        </p:nvSpPr>
        <p:spPr>
          <a:xfrm>
            <a:off x="6492240" y="4956048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  Chart and Table Pair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2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365760"/>
            <a:ext cx="11423599" cy="6126480"/>
          </a:xfrm>
          <a:prstGeom prst="rect">
            <a:avLst/>
          </a:prstGeom>
          <a:solidFill>
            <a:srgbClr val="FFF200">
              <a:alpha val="0"/>
            </a:srgbClr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271455" y="457200"/>
            <a:ext cx="1097280" cy="310896"/>
          </a:xfrm>
          <a:prstGeom prst="rect">
            <a:avLst/>
          </a:prstGeom>
          <a:solidFill>
            <a:srgbClr val="00A6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033711" y="310896"/>
            <a:ext cx="1225296" cy="20116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362895" y="457200"/>
            <a:ext cx="859536" cy="201168"/>
          </a:xfrm>
          <a:prstGeom prst="rect">
            <a:avLst/>
          </a:prstGeom>
          <a:solidFill>
            <a:srgbClr val="00A6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75488" y="768096"/>
            <a:ext cx="1353312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75488" y="6364224"/>
            <a:ext cx="11240719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1737360"/>
            <a:ext cx="73152" cy="84124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2779776"/>
            <a:ext cx="73152" cy="841248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3822192"/>
            <a:ext cx="73152" cy="84124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4864608"/>
            <a:ext cx="73152" cy="841248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72784" y="1737360"/>
            <a:ext cx="73152" cy="84124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272784" y="2779776"/>
            <a:ext cx="73152" cy="841248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72784" y="3822192"/>
            <a:ext cx="73152" cy="84124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7" name="mdpr:2-2-7bfb60:title:__title:2-2-7bfb60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</a:t>
            </a:r>
            <a:pPr algn="ctr"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8888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2/2)</a:t>
            </a:r>
            <a:endParaRPr lang="en-US" sz="3800" dirty="0"/>
          </a:p>
        </p:txBody>
      </p:sp>
      <p:sp>
        <p:nvSpPr>
          <p:cNvPr id="18" name="mdpr:2-2-7bfb60:toc-item-1:toc-item-9"/>
          <p:cNvSpPr txBox="1"/>
          <p:nvPr/>
        </p:nvSpPr>
        <p:spPr>
          <a:xfrm>
            <a:off x="1042416" y="1828800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Editable Proof Objects</a:t>
            </a:r>
            <a:endParaRPr lang="en-US" sz="1800" dirty="0"/>
          </a:p>
        </p:txBody>
      </p:sp>
      <p:sp>
        <p:nvSpPr>
          <p:cNvPr id="19" name="mdpr:2-2-7bfb60:toc-item-2:toc-item-10"/>
          <p:cNvSpPr txBox="1"/>
          <p:nvPr/>
        </p:nvSpPr>
        <p:spPr>
          <a:xfrm>
            <a:off x="1042416" y="2871216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 Object Shape Grammar</a:t>
            </a:r>
            <a:endParaRPr lang="en-US" sz="1800" dirty="0"/>
          </a:p>
        </p:txBody>
      </p:sp>
      <p:sp>
        <p:nvSpPr>
          <p:cNvPr id="20" name="mdpr:2-2-7bfb60:toc-item-3:toc-item-11"/>
          <p:cNvSpPr txBox="1"/>
          <p:nvPr/>
        </p:nvSpPr>
        <p:spPr>
          <a:xfrm>
            <a:off x="1042416" y="3913632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 Icon and Text Aside</a:t>
            </a:r>
            <a:endParaRPr lang="en-US" sz="1800" dirty="0"/>
          </a:p>
        </p:txBody>
      </p:sp>
      <p:sp>
        <p:nvSpPr>
          <p:cNvPr id="21" name="mdpr:2-2-7bfb60:toc-item-4:toc-item-12"/>
          <p:cNvSpPr txBox="1"/>
          <p:nvPr/>
        </p:nvSpPr>
        <p:spPr>
          <a:xfrm>
            <a:off x="1042416" y="4956048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 Overflow Guard</a:t>
            </a:r>
            <a:endParaRPr lang="en-US" sz="1800" dirty="0"/>
          </a:p>
        </p:txBody>
      </p:sp>
      <p:sp>
        <p:nvSpPr>
          <p:cNvPr id="22" name="mdpr:2-2-7bfb60:toc-item-5:toc-item-13"/>
          <p:cNvSpPr txBox="1"/>
          <p:nvPr/>
        </p:nvSpPr>
        <p:spPr>
          <a:xfrm>
            <a:off x="6492240" y="1828800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  Image Safe Frame</a:t>
            </a:r>
            <a:endParaRPr lang="en-US" sz="1800" dirty="0"/>
          </a:p>
        </p:txBody>
      </p:sp>
      <p:sp>
        <p:nvSpPr>
          <p:cNvPr id="23" name="mdpr:2-2-7bfb60:toc-item-6:toc-item-14"/>
          <p:cNvSpPr txBox="1"/>
          <p:nvPr/>
        </p:nvSpPr>
        <p:spPr>
          <a:xfrm>
            <a:off x="6492240" y="2871216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  Mixed Object Packing</a:t>
            </a:r>
            <a:endParaRPr lang="en-US" sz="1800" dirty="0"/>
          </a:p>
        </p:txBody>
      </p:sp>
      <p:sp>
        <p:nvSpPr>
          <p:cNvPr id="24" name="mdpr:2-2-7bfb60:toc-item-7:toc-item-15"/>
          <p:cNvSpPr txBox="1"/>
          <p:nvPr/>
        </p:nvSpPr>
        <p:spPr>
          <a:xfrm>
            <a:off x="6492240" y="3913632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  Actions Output Review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2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365760"/>
            <a:ext cx="11423599" cy="6126480"/>
          </a:xfrm>
          <a:prstGeom prst="rect">
            <a:avLst/>
          </a:prstGeom>
          <a:solidFill>
            <a:srgbClr val="FFF200">
              <a:alpha val="0"/>
            </a:srgbClr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271455" y="457200"/>
            <a:ext cx="1097280" cy="310896"/>
          </a:xfrm>
          <a:prstGeom prst="rect">
            <a:avLst/>
          </a:prstGeom>
          <a:solidFill>
            <a:srgbClr val="00A6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033711" y="310896"/>
            <a:ext cx="1225296" cy="20116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362895" y="457200"/>
            <a:ext cx="859536" cy="201168"/>
          </a:xfrm>
          <a:prstGeom prst="rect">
            <a:avLst/>
          </a:prstGeom>
          <a:solidFill>
            <a:srgbClr val="00A6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75488" y="768096"/>
            <a:ext cx="1353312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75488" y="6364224"/>
            <a:ext cx="11240719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1325880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1046988" y="1549908"/>
            <a:ext cx="73152" cy="1060704"/>
          </a:xfrm>
          <a:prstGeom prst="roundRect">
            <a:avLst>
              <a:gd name="adj" fmla="val 25000"/>
            </a:avLst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914400" y="3063240"/>
            <a:ext cx="10241280" cy="7315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3" name="mdpr:teaser-summary-7731dc:title:__title:teaser-summary-7731dc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Teaser Summary</a:t>
            </a:r>
            <a:endParaRPr lang="en-US" sz="3400" dirty="0"/>
          </a:p>
        </p:txBody>
      </p:sp>
      <p:sp>
        <p:nvSpPr>
          <p:cNvPr id="14" name="mdpr:teaser-summary-7731dc:key-message:block-3"/>
          <p:cNvSpPr txBox="1"/>
          <p:nvPr/>
        </p:nvSpPr>
        <p:spPr>
          <a:xfrm>
            <a:off x="1298448" y="1545336"/>
            <a:ext cx="9637776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Generated PPTX slides should show design range without sacrificing coherence.</a:t>
            </a:r>
            <a:endParaRPr lang="en-US" sz="2200" dirty="0"/>
          </a:p>
        </p:txBody>
      </p:sp>
      <p:sp>
        <p:nvSpPr>
          <p:cNvPr id="15" name="mdpr:teaser-summary-7731dc:body:block-4"/>
          <p:cNvSpPr txBox="1"/>
          <p:nvPr/>
        </p:nvSpPr>
        <p:spPr>
          <a:xfrm>
            <a:off x="987552" y="3172968"/>
            <a:ext cx="10094976" cy="24780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Preview styles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9 distinct decoration grammars, not palette-only swaps.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Pattern range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36+ decoration and layout patterns selected by content role.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Object support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native tables, charts, proof objects, diagrams, images, and icon slots.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Validation contract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readable text, bounded objects, aligned connectors, and editable PPTX output.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2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365760"/>
            <a:ext cx="11423599" cy="6126480"/>
          </a:xfrm>
          <a:prstGeom prst="rect">
            <a:avLst/>
          </a:prstGeom>
          <a:solidFill>
            <a:srgbClr val="FFF200">
              <a:alpha val="0"/>
            </a:srgbClr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271455" y="457200"/>
            <a:ext cx="1097280" cy="310896"/>
          </a:xfrm>
          <a:prstGeom prst="rect">
            <a:avLst/>
          </a:prstGeom>
          <a:solidFill>
            <a:srgbClr val="00A6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033711" y="310896"/>
            <a:ext cx="1225296" cy="20116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362895" y="457200"/>
            <a:ext cx="859536" cy="201168"/>
          </a:xfrm>
          <a:prstGeom prst="rect">
            <a:avLst/>
          </a:prstGeom>
          <a:solidFill>
            <a:srgbClr val="00A6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75488" y="768096"/>
            <a:ext cx="1353312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75488" y="6364224"/>
            <a:ext cx="11240719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1938528"/>
            <a:ext cx="73152" cy="251460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343400" y="1938528"/>
            <a:ext cx="73152" cy="2514600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863840" y="1938528"/>
            <a:ext cx="73152" cy="251460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3" name="mdpr:1-2-32ac08:title:__title:1-2-32ac0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</a:t>
            </a:r>
            <a:endParaRPr lang="en-US" sz="3400" dirty="0"/>
          </a:p>
        </p:txBody>
      </p:sp>
      <p:sp>
        <p:nvSpPr>
          <p:cNvPr id="14" name="mdpr:1-2-32ac08:item-1:block-6-chunk-1"/>
          <p:cNvSpPr txBox="1"/>
          <p:nvPr/>
        </p:nvSpPr>
        <p:spPr>
          <a:xfrm>
            <a:off x="1042416" y="2103120"/>
            <a:ext cx="2825496" cy="218541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 signal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title scale and first-viewport identity.</a:t>
            </a:r>
            <a:endParaRPr lang="en-US" sz="2200" dirty="0"/>
          </a:p>
        </p:txBody>
      </p:sp>
      <p:sp>
        <p:nvSpPr>
          <p:cNvPr id="15" name="mdpr:1-2-32ac08:item-2:block-6-chunk-1"/>
          <p:cNvSpPr txBox="1"/>
          <p:nvPr/>
        </p:nvSpPr>
        <p:spPr>
          <a:xfrm>
            <a:off x="4562856" y="2103120"/>
            <a:ext cx="2825496" cy="218541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Evidence rhythm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chart, table, and proof objects stay connected.</a:t>
            </a:r>
            <a:endParaRPr lang="en-US" sz="2200" dirty="0"/>
          </a:p>
        </p:txBody>
      </p:sp>
      <p:sp>
        <p:nvSpPr>
          <p:cNvPr id="16" name="mdpr:1-2-32ac08:item-3:block-6-chunk-1"/>
          <p:cNvSpPr txBox="1"/>
          <p:nvPr/>
        </p:nvSpPr>
        <p:spPr>
          <a:xfrm>
            <a:off x="8083296" y="2103120"/>
            <a:ext cx="2825496" cy="218541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grammar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cards, tickets, flags, and panels vary coherently.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2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365760"/>
            <a:ext cx="11423599" cy="6126480"/>
          </a:xfrm>
          <a:prstGeom prst="rect">
            <a:avLst/>
          </a:prstGeom>
          <a:solidFill>
            <a:srgbClr val="FFF200">
              <a:alpha val="0"/>
            </a:srgbClr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271455" y="457200"/>
            <a:ext cx="1097280" cy="310896"/>
          </a:xfrm>
          <a:prstGeom prst="rect">
            <a:avLst/>
          </a:prstGeom>
          <a:solidFill>
            <a:srgbClr val="00A6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033711" y="310896"/>
            <a:ext cx="1225296" cy="20116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362895" y="457200"/>
            <a:ext cx="859536" cy="201168"/>
          </a:xfrm>
          <a:prstGeom prst="rect">
            <a:avLst/>
          </a:prstGeom>
          <a:solidFill>
            <a:srgbClr val="00A6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75488" y="768096"/>
            <a:ext cx="1353312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75488" y="6364224"/>
            <a:ext cx="11240719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10" name="mdpr:2-2-14f8eb:title:__title:2-2-14f8eb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8888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2/2)</a:t>
            </a:r>
            <a:endParaRPr lang="en-US" sz="3400" dirty="0"/>
          </a:p>
        </p:txBody>
      </p:sp>
      <p:sp>
        <p:nvSpPr>
          <p:cNvPr id="11" name="mdpr:2-2-14f8eb:left:block-6-chunk-2"/>
          <p:cNvSpPr txBox="1"/>
          <p:nvPr/>
        </p:nvSpPr>
        <p:spPr>
          <a:xfrm>
            <a:off x="896112" y="1463040"/>
            <a:ext cx="4791456" cy="426110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Connector clarity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arrows attach to object boundaries.</a:t>
            </a:r>
            <a:endParaRPr lang="en-US" sz="2200" dirty="0"/>
          </a:p>
        </p:txBody>
      </p:sp>
      <p:sp>
        <p:nvSpPr>
          <p:cNvPr id="12" name="mdpr:2-2-14f8eb:right:block-6-chunk-2"/>
          <p:cNvSpPr txBox="1"/>
          <p:nvPr/>
        </p:nvSpPr>
        <p:spPr>
          <a:xfrm>
            <a:off x="6473952" y="1463040"/>
            <a:ext cx="4791456" cy="426110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Bounds discipline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no region exceeds the slide.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2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365760"/>
            <a:ext cx="11423599" cy="6126480"/>
          </a:xfrm>
          <a:prstGeom prst="rect">
            <a:avLst/>
          </a:prstGeom>
          <a:solidFill>
            <a:srgbClr val="FFF200">
              <a:alpha val="0"/>
            </a:srgbClr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271455" y="457200"/>
            <a:ext cx="1097280" cy="310896"/>
          </a:xfrm>
          <a:prstGeom prst="rect">
            <a:avLst/>
          </a:prstGeom>
          <a:solidFill>
            <a:srgbClr val="00A6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033711" y="310896"/>
            <a:ext cx="1225296" cy="20116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362895" y="457200"/>
            <a:ext cx="859536" cy="201168"/>
          </a:xfrm>
          <a:prstGeom prst="rect">
            <a:avLst/>
          </a:prstGeom>
          <a:solidFill>
            <a:srgbClr val="00A6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75488" y="768096"/>
            <a:ext cx="1353312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75488" y="6364224"/>
            <a:ext cx="11240719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1938528"/>
            <a:ext cx="73152" cy="251460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343400" y="1938528"/>
            <a:ext cx="73152" cy="2514600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863840" y="1938528"/>
            <a:ext cx="73152" cy="251460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3" name="mdpr:1-2-dfa474:title:__title:1-2-dfa47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Pruned Style Families</a:t>
            </a:r>
            <a:endParaRPr lang="en-US" sz="3400" dirty="0"/>
          </a:p>
        </p:txBody>
      </p:sp>
      <p:sp>
        <p:nvSpPr>
          <p:cNvPr id="14" name="mdpr:1-2-dfa474:item-1:block-8-chunk-1"/>
          <p:cNvSpPr txBox="1"/>
          <p:nvPr/>
        </p:nvSpPr>
        <p:spPr>
          <a:xfrm>
            <a:off x="1042416" y="2103120"/>
            <a:ext cx="2825496" cy="218541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Skeuomorphism / claymorphism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tactile depth, bevels, or puffy surfaces.</a:t>
            </a:r>
            <a:endParaRPr lang="en-US" sz="2200" dirty="0"/>
          </a:p>
        </p:txBody>
      </p:sp>
      <p:sp>
        <p:nvSpPr>
          <p:cNvPr id="15" name="mdpr:1-2-dfa474:item-2:block-8-chunk-1"/>
          <p:cNvSpPr txBox="1"/>
          <p:nvPr/>
        </p:nvSpPr>
        <p:spPr>
          <a:xfrm>
            <a:off x="4562856" y="2103120"/>
            <a:ext cx="2825496" cy="218541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Neomorphism / newmorphism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soft raised surfaces.</a:t>
            </a:r>
            <a:endParaRPr lang="en-US" sz="2200" dirty="0"/>
          </a:p>
        </p:txBody>
      </p:sp>
      <p:sp>
        <p:nvSpPr>
          <p:cNvPr id="16" name="mdpr:1-2-dfa474:item-3:block-8-chunk-1"/>
          <p:cNvSpPr txBox="1"/>
          <p:nvPr/>
        </p:nvSpPr>
        <p:spPr>
          <a:xfrm>
            <a:off x="8083296" y="2103120"/>
            <a:ext cx="2825496" cy="218541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Glassmorphism / liquid-glass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translucent panels and refractive highlights.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2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365760"/>
            <a:ext cx="11423599" cy="6126480"/>
          </a:xfrm>
          <a:prstGeom prst="rect">
            <a:avLst/>
          </a:prstGeom>
          <a:solidFill>
            <a:srgbClr val="FFF200">
              <a:alpha val="0"/>
            </a:srgbClr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271455" y="457200"/>
            <a:ext cx="1097280" cy="310896"/>
          </a:xfrm>
          <a:prstGeom prst="rect">
            <a:avLst/>
          </a:prstGeom>
          <a:solidFill>
            <a:srgbClr val="00A6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033711" y="310896"/>
            <a:ext cx="1225296" cy="20116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362895" y="457200"/>
            <a:ext cx="859536" cy="201168"/>
          </a:xfrm>
          <a:prstGeom prst="rect">
            <a:avLst/>
          </a:prstGeom>
          <a:solidFill>
            <a:srgbClr val="00A6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75488" y="768096"/>
            <a:ext cx="1353312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75488" y="6364224"/>
            <a:ext cx="11240719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10" name="mdpr:2-2-149bde:title:__title:2-2-149bde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Pruned Style Families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8888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2/2)</a:t>
            </a:r>
            <a:endParaRPr lang="en-US" sz="3400" dirty="0"/>
          </a:p>
        </p:txBody>
      </p:sp>
      <p:sp>
        <p:nvSpPr>
          <p:cNvPr id="11" name="mdpr:2-2-149bde:left:block-8-chunk-2"/>
          <p:cNvSpPr txBox="1"/>
          <p:nvPr/>
        </p:nvSpPr>
        <p:spPr>
          <a:xfrm>
            <a:off x="896112" y="1463040"/>
            <a:ext cx="4791456" cy="426110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Minimalism / brutalism / bentogrid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sparse rules, hard contrast, or tiled information rhythm.</a:t>
            </a:r>
            <a:endParaRPr lang="en-US" sz="2200" dirty="0"/>
          </a:p>
        </p:txBody>
      </p:sp>
      <p:sp>
        <p:nvSpPr>
          <p:cNvPr id="12" name="mdpr:2-2-149bde:right:block-8-chunk-2"/>
          <p:cNvSpPr txBox="1"/>
          <p:nvPr/>
        </p:nvSpPr>
        <p:spPr>
          <a:xfrm>
            <a:off x="6473952" y="1463040"/>
            <a:ext cx="4791456" cy="426110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Pruning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preview excludes styles that only change palette or background.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2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365760"/>
            <a:ext cx="11423599" cy="6126480"/>
          </a:xfrm>
          <a:prstGeom prst="rect">
            <a:avLst/>
          </a:prstGeom>
          <a:solidFill>
            <a:srgbClr val="FFF200">
              <a:alpha val="0"/>
            </a:srgbClr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271455" y="457200"/>
            <a:ext cx="1097280" cy="310896"/>
          </a:xfrm>
          <a:prstGeom prst="rect">
            <a:avLst/>
          </a:prstGeom>
          <a:solidFill>
            <a:srgbClr val="00A6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033711" y="310896"/>
            <a:ext cx="1225296" cy="20116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362895" y="457200"/>
            <a:ext cx="859536" cy="201168"/>
          </a:xfrm>
          <a:prstGeom prst="rect">
            <a:avLst/>
          </a:prstGeom>
          <a:solidFill>
            <a:srgbClr val="00A6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75488" y="768096"/>
            <a:ext cx="1353312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75488" y="6364224"/>
            <a:ext cx="11240719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2523744"/>
            <a:ext cx="10241280" cy="1024128"/>
          </a:xfrm>
          <a:prstGeom prst="rect">
            <a:avLst/>
          </a:prstGeom>
        </p:spPr>
      </p:pic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849624"/>
            <a:ext cx="10241280" cy="1024128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914400" y="2523744"/>
            <a:ext cx="73152" cy="102412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914400" y="3849624"/>
            <a:ext cx="73152" cy="1024128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14" name="mdpr:1-2-5a84f1:title:__title:1-2-5a84f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Blocks</a:t>
            </a:r>
            <a:endParaRPr lang="en-US" sz="3400" dirty="0"/>
          </a:p>
        </p:txBody>
      </p:sp>
      <p:sp>
        <p:nvSpPr>
          <p:cNvPr id="15" name="mdpr:1-2-5a84f1:item-1:block-10-chunk-1"/>
          <p:cNvSpPr txBox="1"/>
          <p:nvPr/>
        </p:nvSpPr>
        <p:spPr>
          <a:xfrm>
            <a:off x="1133856" y="2615916"/>
            <a:ext cx="9820656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Headings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stable slide boundaries.</a:t>
            </a:r>
            <a:endParaRPr lang="en-US" sz="2200" dirty="0"/>
          </a:p>
        </p:txBody>
      </p:sp>
      <p:sp>
        <p:nvSpPr>
          <p:cNvPr id="16" name="mdpr:1-2-5a84f1:item-2:block-10-chunk-1"/>
          <p:cNvSpPr txBox="1"/>
          <p:nvPr/>
        </p:nvSpPr>
        <p:spPr>
          <a:xfrm>
            <a:off x="1133856" y="3941796"/>
            <a:ext cx="9820656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Lists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ordered and unordered structure.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2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365760"/>
            <a:ext cx="11423599" cy="6126480"/>
          </a:xfrm>
          <a:prstGeom prst="rect">
            <a:avLst/>
          </a:prstGeom>
          <a:solidFill>
            <a:srgbClr val="FFF200">
              <a:alpha val="0"/>
            </a:srgbClr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271455" y="457200"/>
            <a:ext cx="1097280" cy="310896"/>
          </a:xfrm>
          <a:prstGeom prst="rect">
            <a:avLst/>
          </a:prstGeom>
          <a:solidFill>
            <a:srgbClr val="00A6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033711" y="310896"/>
            <a:ext cx="1225296" cy="20116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362895" y="457200"/>
            <a:ext cx="859536" cy="201168"/>
          </a:xfrm>
          <a:prstGeom prst="rect">
            <a:avLst/>
          </a:prstGeom>
          <a:solidFill>
            <a:srgbClr val="00A6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75488" y="768096"/>
            <a:ext cx="1353312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75488" y="6364224"/>
            <a:ext cx="11240719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2523744"/>
            <a:ext cx="10241280" cy="1024128"/>
          </a:xfrm>
          <a:prstGeom prst="rect">
            <a:avLst/>
          </a:prstGeom>
        </p:spPr>
      </p:pic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849624"/>
            <a:ext cx="10241280" cy="1024128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914400" y="2523744"/>
            <a:ext cx="73152" cy="102412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914400" y="3849624"/>
            <a:ext cx="73152" cy="1024128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14" name="mdpr:2-2-a9df10:title:__title:2-2-a9df1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Blocks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8888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2/2)</a:t>
            </a:r>
            <a:endParaRPr lang="en-US" sz="3400" dirty="0"/>
          </a:p>
        </p:txBody>
      </p:sp>
      <p:sp>
        <p:nvSpPr>
          <p:cNvPr id="15" name="mdpr:2-2-a9df10:item-1:block-10-chunk-2"/>
          <p:cNvSpPr txBox="1"/>
          <p:nvPr/>
        </p:nvSpPr>
        <p:spPr>
          <a:xfrm>
            <a:off x="1133856" y="2615916"/>
            <a:ext cx="9820656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Constraint: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Indented description lines stay under the bold label.</a:t>
            </a:r>
            <a:endParaRPr lang="en-US" sz="2200" dirty="0"/>
          </a:p>
        </p:txBody>
      </p:sp>
      <p:sp>
        <p:nvSpPr>
          <p:cNvPr id="16" name="mdpr:2-2-a9df10:item-2:block-10-chunk-2"/>
          <p:cNvSpPr txBox="1"/>
          <p:nvPr/>
        </p:nvSpPr>
        <p:spPr>
          <a:xfrm>
            <a:off x="1133856" y="3941796"/>
            <a:ext cx="9820656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Emphasis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bold and italic remain editable.</a:t>
            </a:r>
            <a:endParaRPr lang="en-US" sz="2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2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365760"/>
            <a:ext cx="11423599" cy="6126480"/>
          </a:xfrm>
          <a:prstGeom prst="rect">
            <a:avLst/>
          </a:prstGeom>
          <a:solidFill>
            <a:srgbClr val="FFF200">
              <a:alpha val="0"/>
            </a:srgbClr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271455" y="457200"/>
            <a:ext cx="1097280" cy="310896"/>
          </a:xfrm>
          <a:prstGeom prst="rect">
            <a:avLst/>
          </a:prstGeom>
          <a:solidFill>
            <a:srgbClr val="00A6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033711" y="310896"/>
            <a:ext cx="1225296" cy="20116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362895" y="457200"/>
            <a:ext cx="859536" cy="201168"/>
          </a:xfrm>
          <a:prstGeom prst="rect">
            <a:avLst/>
          </a:prstGeom>
          <a:solidFill>
            <a:srgbClr val="00A6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75488" y="768096"/>
            <a:ext cx="1353312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75488" y="6364224"/>
            <a:ext cx="11240719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10" name="mdpr:pipeline-diagram-51792c:title:__title:pipeline-diagram-51792c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Diagram</a:t>
            </a:r>
            <a:endParaRPr lang="en-US" sz="3400" dirty="0"/>
          </a:p>
        </p:txBody>
      </p:sp>
      <p:sp>
        <p:nvSpPr>
          <p:cNvPr id="11" name="Shape 9"/>
          <p:cNvSpPr/>
          <p:nvPr/>
        </p:nvSpPr>
        <p:spPr>
          <a:xfrm>
            <a:off x="4002024" y="3095244"/>
            <a:ext cx="457200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7748016" y="3095244"/>
            <a:ext cx="457200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9849612" y="3627791"/>
            <a:ext cx="0" cy="416235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7748016" y="4576572"/>
            <a:ext cx="457200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  <a:headEnd type="triangle"/>
          </a:ln>
        </p:spPr>
      </p:sp>
      <p:sp>
        <p:nvSpPr>
          <p:cNvPr id="15" name="Shape 13"/>
          <p:cNvSpPr/>
          <p:nvPr/>
        </p:nvSpPr>
        <p:spPr>
          <a:xfrm>
            <a:off x="4002024" y="4576572"/>
            <a:ext cx="457200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  <a:headEnd type="triangle"/>
          </a:ln>
        </p:spPr>
      </p:sp>
      <p:sp>
        <p:nvSpPr>
          <p:cNvPr id="16" name="Shape 14"/>
          <p:cNvSpPr/>
          <p:nvPr/>
        </p:nvSpPr>
        <p:spPr>
          <a:xfrm>
            <a:off x="640080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40080" y="2510028"/>
            <a:ext cx="3435096" cy="10972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04672" y="2907975"/>
            <a:ext cx="374538" cy="374538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04672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FF2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1325514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 source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4386072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386072" y="2510028"/>
            <a:ext cx="3435096" cy="10972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550664" y="2907975"/>
            <a:ext cx="374538" cy="374538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550664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FF2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5071506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 blocks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8132064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8132064" y="2510028"/>
            <a:ext cx="3435096" cy="10972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296656" y="2907975"/>
            <a:ext cx="374538" cy="374538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296656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FF2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8817498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Split slides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8132064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8132064" y="3991356"/>
            <a:ext cx="3435096" cy="10972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296656" y="4389303"/>
            <a:ext cx="374538" cy="374538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296656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FF2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600" dirty="0"/>
          </a:p>
        </p:txBody>
      </p:sp>
      <p:sp>
        <p:nvSpPr>
          <p:cNvPr id="35" name="Text 33"/>
          <p:cNvSpPr txBox="1"/>
          <p:nvPr/>
        </p:nvSpPr>
        <p:spPr>
          <a:xfrm>
            <a:off x="8817498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objects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4386072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4386072" y="3991356"/>
            <a:ext cx="3435096" cy="10972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550664" y="4389303"/>
            <a:ext cx="374538" cy="374538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4550664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FF2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600" dirty="0"/>
          </a:p>
        </p:txBody>
      </p:sp>
      <p:sp>
        <p:nvSpPr>
          <p:cNvPr id="40" name="Text 38"/>
          <p:cNvSpPr txBox="1"/>
          <p:nvPr/>
        </p:nvSpPr>
        <p:spPr>
          <a:xfrm>
            <a:off x="5071506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 overflow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640080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640080" y="3991356"/>
            <a:ext cx="3435096" cy="10972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804672" y="4389303"/>
            <a:ext cx="374538" cy="374538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804672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FF2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600" dirty="0"/>
          </a:p>
        </p:txBody>
      </p:sp>
      <p:sp>
        <p:nvSpPr>
          <p:cNvPr id="45" name="Text 43"/>
          <p:cNvSpPr txBox="1"/>
          <p:nvPr/>
        </p:nvSpPr>
        <p:spPr>
          <a:xfrm>
            <a:off x="1325514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 PPTX HTML PDF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2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365760"/>
            <a:ext cx="11423599" cy="6126480"/>
          </a:xfrm>
          <a:prstGeom prst="rect">
            <a:avLst/>
          </a:prstGeom>
          <a:solidFill>
            <a:srgbClr val="FFF200">
              <a:alpha val="0"/>
            </a:srgbClr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271455" y="457200"/>
            <a:ext cx="1097280" cy="310896"/>
          </a:xfrm>
          <a:prstGeom prst="rect">
            <a:avLst/>
          </a:prstGeom>
          <a:solidFill>
            <a:srgbClr val="00A6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033711" y="310896"/>
            <a:ext cx="1225296" cy="20116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362895" y="457200"/>
            <a:ext cx="859536" cy="201168"/>
          </a:xfrm>
          <a:prstGeom prst="rect">
            <a:avLst/>
          </a:prstGeom>
          <a:solidFill>
            <a:srgbClr val="00A6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75488" y="768096"/>
            <a:ext cx="1353312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75488" y="6364224"/>
            <a:ext cx="11240719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10" name="mdpr:1-2-e3669a:title:__title:1-2-e3669a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Decoration Pattern Catalog</a:t>
            </a:r>
            <a:endParaRPr lang="en-US" sz="3400" dirty="0"/>
          </a:p>
        </p:txBody>
      </p:sp>
      <p:sp>
        <p:nvSpPr>
          <p:cNvPr id="11" name="mdpr:1-2-e3669a:left:block-15-chunk-1-block-15-chunk-1"/>
          <p:cNvSpPr txBox="1"/>
          <p:nvPr/>
        </p:nvSpPr>
        <p:spPr>
          <a:xfrm>
            <a:off x="896112" y="1463040"/>
            <a:ext cx="4791456" cy="426110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Surfaces</a:t>
            </a:r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rounded-card, two-corner-card, flag-drop, ticket-panel, notched-panel, circle-vine.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Layouts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toc-strips, two-column-compare, three-card-grid, six-tile-grid, timeline-rail, pipeline-chain.</a:t>
            </a:r>
            <a:endParaRPr lang="en-US" sz="1800" dirty="0"/>
          </a:p>
        </p:txBody>
      </p:sp>
      <p:sp>
        <p:nvSpPr>
          <p:cNvPr id="12" name="mdpr:1-2-e3669a:right:block-15-chunk-1"/>
          <p:cNvSpPr txBox="1"/>
          <p:nvPr/>
        </p:nvSpPr>
        <p:spPr>
          <a:xfrm>
            <a:off x="6473952" y="1463040"/>
            <a:ext cx="4791456" cy="426110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Evidence</a:t>
            </a:r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chart-table-pair, metric-proof, arc-ring-proof, gauge-proof, connected-strip, mixed-object-pack.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2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365760"/>
            <a:ext cx="11423599" cy="6126480"/>
          </a:xfrm>
          <a:prstGeom prst="rect">
            <a:avLst/>
          </a:prstGeom>
          <a:solidFill>
            <a:srgbClr val="FFF200">
              <a:alpha val="0"/>
            </a:srgbClr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271455" y="457200"/>
            <a:ext cx="1097280" cy="310896"/>
          </a:xfrm>
          <a:prstGeom prst="rect">
            <a:avLst/>
          </a:prstGeom>
          <a:solidFill>
            <a:srgbClr val="00A6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033711" y="310896"/>
            <a:ext cx="1225296" cy="20116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362895" y="457200"/>
            <a:ext cx="859536" cy="201168"/>
          </a:xfrm>
          <a:prstGeom prst="rect">
            <a:avLst/>
          </a:prstGeom>
          <a:solidFill>
            <a:srgbClr val="00A6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75488" y="768096"/>
            <a:ext cx="1353312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75488" y="6364224"/>
            <a:ext cx="11240719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10" name="mdpr:2-2-c23e9b:title:__title:2-2-c23e9b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Decoration Pattern Catalog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8888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2/2)</a:t>
            </a:r>
            <a:endParaRPr lang="en-US" sz="3400" dirty="0"/>
          </a:p>
        </p:txBody>
      </p:sp>
      <p:sp>
        <p:nvSpPr>
          <p:cNvPr id="11" name="mdpr:2-2-c23e9b:left:block-15-chunk-2-block-15-chunk-2"/>
          <p:cNvSpPr txBox="1"/>
          <p:nvPr/>
        </p:nvSpPr>
        <p:spPr>
          <a:xfrm>
            <a:off x="896112" y="1463040"/>
            <a:ext cx="4791456" cy="426110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Connectors</a:t>
            </a:r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straight-arrow, elbow-arrow, boundary-attach, overlap-joint, parallel-flow, contrast-flow.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Icons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number-badge, mono-icon-slot, letter-disc, quiet-aside, image-safe-frame, brand-glyph.</a:t>
            </a:r>
            <a:endParaRPr lang="en-US" sz="1800" dirty="0"/>
          </a:p>
        </p:txBody>
      </p:sp>
      <p:sp>
        <p:nvSpPr>
          <p:cNvPr id="12" name="mdpr:2-2-c23e9b:right:block-15-chunk-2"/>
          <p:cNvSpPr txBox="1"/>
          <p:nvPr/>
        </p:nvSpPr>
        <p:spPr>
          <a:xfrm>
            <a:off x="6473952" y="1463040"/>
            <a:ext cx="4791456" cy="426110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Page grammar</a:t>
            </a:r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skeuomorphic-bevel, glassmorphism-surface, newmorphic-panel, clay-blob, bento-tile, liquid-lens.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2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365760"/>
            <a:ext cx="11423599" cy="6126480"/>
          </a:xfrm>
          <a:prstGeom prst="rect">
            <a:avLst/>
          </a:prstGeom>
          <a:solidFill>
            <a:srgbClr val="FFF200">
              <a:alpha val="0"/>
            </a:srgbClr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271455" y="457200"/>
            <a:ext cx="1097280" cy="310896"/>
          </a:xfrm>
          <a:prstGeom prst="rect">
            <a:avLst/>
          </a:prstGeom>
          <a:solidFill>
            <a:srgbClr val="00A6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033711" y="310896"/>
            <a:ext cx="1225296" cy="20116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362895" y="457200"/>
            <a:ext cx="859536" cy="201168"/>
          </a:xfrm>
          <a:prstGeom prst="rect">
            <a:avLst/>
          </a:prstGeom>
          <a:solidFill>
            <a:srgbClr val="00A6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75488" y="768096"/>
            <a:ext cx="1353312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75488" y="6364224"/>
            <a:ext cx="11240719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11" name="mdpr:table-coherence-2f9a7b:title:__title:table-coherence-2f9a7b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 Coherence</a:t>
            </a:r>
            <a:endParaRPr lang="en-US" sz="3400" dirty="0"/>
          </a:p>
        </p:txBody>
      </p:sp>
      <p:graphicFrame>
        <p:nvGraphicFramePr>
          <p:cNvPr id="15" name="mdpr:table-coherence-2f9a7b:table:block-1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9052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Renderer expectation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Validation signal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Text box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editable, middle aligned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readable minimum size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Table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native table 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header fill and cell padding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Diagram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nodes and connectors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 clipped labels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theme-colored data 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contrast and value clarity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2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365760"/>
            <a:ext cx="11423599" cy="6126480"/>
          </a:xfrm>
          <a:prstGeom prst="rect">
            <a:avLst/>
          </a:prstGeom>
          <a:solidFill>
            <a:srgbClr val="FFF200">
              <a:alpha val="0"/>
            </a:srgbClr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271455" y="457200"/>
            <a:ext cx="1097280" cy="310896"/>
          </a:xfrm>
          <a:prstGeom prst="rect">
            <a:avLst/>
          </a:prstGeom>
          <a:solidFill>
            <a:srgbClr val="00A6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033711" y="310896"/>
            <a:ext cx="1225296" cy="20116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362895" y="457200"/>
            <a:ext cx="859536" cy="201168"/>
          </a:xfrm>
          <a:prstGeom prst="rect">
            <a:avLst/>
          </a:prstGeom>
          <a:solidFill>
            <a:srgbClr val="00A6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75488" y="768096"/>
            <a:ext cx="1353312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75488" y="6364224"/>
            <a:ext cx="11240719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56048" y="1426464"/>
            <a:ext cx="6199632" cy="4407408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841248" y="1517904"/>
            <a:ext cx="3822192" cy="7315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2" name="mdpr:1-2-2ff3f0:title:__title:1-2-2ff3f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</a:t>
            </a:r>
            <a:endParaRPr lang="en-US" sz="3400" dirty="0"/>
          </a:p>
        </p:txBody>
      </p:sp>
      <p:sp>
        <p:nvSpPr>
          <p:cNvPr id="13" name="mdpr:1-2-2ff3f0:body:block-19"/>
          <p:cNvSpPr txBox="1"/>
          <p:nvPr/>
        </p:nvSpPr>
        <p:spPr>
          <a:xfrm>
            <a:off x="914400" y="1627632"/>
            <a:ext cx="3675888" cy="400507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Numeric evidence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 and table stay side by side.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Data density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values remain readable without shrinking below floor.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Comparison goal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coverage and defects are visible together.</a:t>
            </a:r>
            <a:endParaRPr lang="en-US" sz="2200" dirty="0"/>
          </a:p>
        </p:txBody>
      </p:sp>
      <p:graphicFrame>
        <p:nvGraphicFramePr>
          <p:cNvPr id="14" name="Chart 0" descr=""/>
          <p:cNvGraphicFramePr/>
          <p:nvPr/>
        </p:nvGraphicFramePr>
        <p:xfrm>
          <a:off x="5084064" y="1572768"/>
          <a:ext cx="59436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2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365760"/>
            <a:ext cx="11423599" cy="6126480"/>
          </a:xfrm>
          <a:prstGeom prst="rect">
            <a:avLst/>
          </a:prstGeom>
          <a:solidFill>
            <a:srgbClr val="FFF200">
              <a:alpha val="0"/>
            </a:srgbClr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271455" y="457200"/>
            <a:ext cx="1097280" cy="310896"/>
          </a:xfrm>
          <a:prstGeom prst="rect">
            <a:avLst/>
          </a:prstGeom>
          <a:solidFill>
            <a:srgbClr val="00A6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033711" y="310896"/>
            <a:ext cx="1225296" cy="20116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362895" y="457200"/>
            <a:ext cx="859536" cy="201168"/>
          </a:xfrm>
          <a:prstGeom prst="rect">
            <a:avLst/>
          </a:prstGeom>
          <a:solidFill>
            <a:srgbClr val="00A6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75488" y="768096"/>
            <a:ext cx="1353312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75488" y="6364224"/>
            <a:ext cx="11240719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11" name="mdpr:2-2-542095:title:__title:2-2-54209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8888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2/2)</a:t>
            </a:r>
            <a:endParaRPr lang="en-US" sz="3400" dirty="0"/>
          </a:p>
        </p:txBody>
      </p:sp>
      <p:graphicFrame>
        <p:nvGraphicFramePr>
          <p:cNvPr id="17" name="mdpr:2-2-542095:table:block-2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113157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Coverage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Defects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Parser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92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Layout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88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PPTX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95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2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365760"/>
            <a:ext cx="11423599" cy="6126480"/>
          </a:xfrm>
          <a:prstGeom prst="rect">
            <a:avLst/>
          </a:prstGeom>
          <a:solidFill>
            <a:srgbClr val="FFF200">
              <a:alpha val="0"/>
            </a:srgbClr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271455" y="457200"/>
            <a:ext cx="1097280" cy="310896"/>
          </a:xfrm>
          <a:prstGeom prst="rect">
            <a:avLst/>
          </a:prstGeom>
          <a:solidFill>
            <a:srgbClr val="00A6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033711" y="310896"/>
            <a:ext cx="1225296" cy="20116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362895" y="457200"/>
            <a:ext cx="859536" cy="201168"/>
          </a:xfrm>
          <a:prstGeom prst="rect">
            <a:avLst/>
          </a:prstGeom>
          <a:solidFill>
            <a:srgbClr val="00A6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75488" y="768096"/>
            <a:ext cx="1353312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75488" y="6364224"/>
            <a:ext cx="11240719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11" name="mdpr:1-2-b8955f:title:__title:1-2-b8955f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</a:t>
            </a:r>
            <a:endParaRPr lang="en-US" sz="3400" dirty="0"/>
          </a:p>
        </p:txBody>
      </p:sp>
      <p:sp>
        <p:nvSpPr>
          <p:cNvPr id="12" name="Shape 9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21540000"/>
              <a:gd name="adj3" fmla="val 12000"/>
            </a:avLst>
          </a:prstGeom>
          <a:solidFill>
            <a:srgbClr val="111111">
              <a:alpha val="82000"/>
            </a:srgbClr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16200000"/>
              <a:gd name="adj2" fmla="val 21540000"/>
              <a:gd name="adj3" fmla="val 12000"/>
            </a:avLst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12780000"/>
              <a:gd name="adj3" fmla="val 12000"/>
            </a:avLst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514348" y="3049296"/>
            <a:ext cx="145278" cy="145278"/>
          </a:xfrm>
          <a:prstGeom prst="ellipse">
            <a:avLst/>
          </a:prstGeom>
          <a:solidFill>
            <a:srgbClr val="00A6FF"/>
          </a:solidFill>
          <a:ln w="12700">
            <a:solidFill>
              <a:srgbClr val="FFF200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1704039" y="2945647"/>
            <a:ext cx="1286745" cy="1286745"/>
          </a:xfrm>
          <a:prstGeom prst="ellipse">
            <a:avLst/>
          </a:prstGeom>
          <a:solidFill>
            <a:srgbClr val="FFF200"/>
          </a:solidFill>
          <a:ln w="12700">
            <a:solidFill>
              <a:srgbClr val="FFF200">
                <a:alpha val="0"/>
              </a:srgbClr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766300" y="3236203"/>
            <a:ext cx="1162221" cy="4980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84%</a:t>
            </a:r>
            <a:endParaRPr lang="en-US" sz="3000" dirty="0"/>
          </a:p>
        </p:txBody>
      </p:sp>
      <p:sp>
        <p:nvSpPr>
          <p:cNvPr id="18" name="Text 15"/>
          <p:cNvSpPr txBox="1"/>
          <p:nvPr/>
        </p:nvSpPr>
        <p:spPr>
          <a:xfrm>
            <a:off x="1683285" y="3755052"/>
            <a:ext cx="1328253" cy="3735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8888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Coverage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3796589" y="2567178"/>
            <a:ext cx="137160" cy="137160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025189" y="2416302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Validated 84%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3796589" y="3006090"/>
            <a:ext cx="137160" cy="137160"/>
          </a:xfrm>
          <a:prstGeom prst="ellipse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025189" y="2855214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8888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Remaining 16%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6658990" y="3835908"/>
            <a:ext cx="4051962" cy="256032"/>
          </a:xfrm>
          <a:prstGeom prst="roundRect">
            <a:avLst>
              <a:gd name="adj" fmla="val 28571"/>
            </a:avLst>
          </a:prstGeom>
          <a:solidFill>
            <a:srgbClr val="111111">
              <a:alpha val="85000"/>
            </a:srgbClr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658990" y="3835908"/>
            <a:ext cx="3687286" cy="256032"/>
          </a:xfrm>
          <a:prstGeom prst="roundRect">
            <a:avLst>
              <a:gd name="adj" fmla="val 28571"/>
            </a:avLst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10346276" y="3433572"/>
            <a:ext cx="0" cy="969264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10199972" y="3817620"/>
            <a:ext cx="292608" cy="292608"/>
          </a:xfrm>
          <a:prstGeom prst="ellipse">
            <a:avLst/>
          </a:prstGeom>
          <a:solidFill>
            <a:srgbClr val="FFF200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6658990" y="3744468"/>
            <a:ext cx="0" cy="438912"/>
          </a:xfrm>
          <a:prstGeom prst="line">
            <a:avLst/>
          </a:prstGeom>
          <a:noFill/>
          <a:ln w="12700">
            <a:solidFill>
              <a:srgbClr val="111111">
                <a:alpha val="95000"/>
              </a:srgbClr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10710952" y="3744468"/>
            <a:ext cx="0" cy="438912"/>
          </a:xfrm>
          <a:prstGeom prst="line">
            <a:avLst/>
          </a:prstGeom>
          <a:noFill/>
          <a:ln w="12700">
            <a:solidFill>
              <a:srgbClr val="111111">
                <a:alpha val="95000"/>
              </a:srgbClr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7955618" y="2217420"/>
            <a:ext cx="145870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91%</a:t>
            </a:r>
            <a:endParaRPr lang="en-US" sz="3200" dirty="0"/>
          </a:p>
        </p:txBody>
      </p:sp>
      <p:sp>
        <p:nvSpPr>
          <p:cNvPr id="30" name="Text 27"/>
          <p:cNvSpPr txBox="1"/>
          <p:nvPr/>
        </p:nvSpPr>
        <p:spPr>
          <a:xfrm>
            <a:off x="6658990" y="4530852"/>
            <a:ext cx="405196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8888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Score · Readiness</a:t>
            </a:r>
            <a:endParaRPr lang="en-US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6658990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8888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10162312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8888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100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2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365760"/>
            <a:ext cx="11423599" cy="6126480"/>
          </a:xfrm>
          <a:prstGeom prst="rect">
            <a:avLst/>
          </a:prstGeom>
          <a:solidFill>
            <a:srgbClr val="FFF200">
              <a:alpha val="0"/>
            </a:srgbClr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271455" y="457200"/>
            <a:ext cx="1097280" cy="310896"/>
          </a:xfrm>
          <a:prstGeom prst="rect">
            <a:avLst/>
          </a:prstGeom>
          <a:solidFill>
            <a:srgbClr val="00A6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033711" y="310896"/>
            <a:ext cx="1225296" cy="20116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362895" y="457200"/>
            <a:ext cx="859536" cy="201168"/>
          </a:xfrm>
          <a:prstGeom prst="rect">
            <a:avLst/>
          </a:prstGeom>
          <a:solidFill>
            <a:srgbClr val="00A6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75488" y="768096"/>
            <a:ext cx="1353312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75488" y="6364224"/>
            <a:ext cx="11240719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11" name="mdpr:2-2-4dc4c1:title:__title:2-2-4dc4c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8888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2/2)</a:t>
            </a:r>
            <a:endParaRPr lang="en-US" sz="3400" dirty="0"/>
          </a:p>
        </p:txBody>
      </p:sp>
      <p:sp>
        <p:nvSpPr>
          <p:cNvPr id="12" name="Shape 9"/>
          <p:cNvSpPr/>
          <p:nvPr/>
        </p:nvSpPr>
        <p:spPr>
          <a:xfrm>
            <a:off x="1078992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280160" y="4347972"/>
            <a:ext cx="593815" cy="128016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261872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1261872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30%</a:t>
            </a:r>
            <a:endParaRPr lang="en-US" sz="2800" dirty="0"/>
          </a:p>
        </p:txBody>
      </p:sp>
      <p:sp>
        <p:nvSpPr>
          <p:cNvPr id="16" name="Shape 13"/>
          <p:cNvSpPr/>
          <p:nvPr/>
        </p:nvSpPr>
        <p:spPr>
          <a:xfrm>
            <a:off x="3628705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3829873" y="4347972"/>
            <a:ext cx="1227218" cy="128016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3811585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Plan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3811585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00A6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62%</a:t>
            </a:r>
            <a:endParaRPr lang="en-US" sz="2800" dirty="0"/>
          </a:p>
        </p:txBody>
      </p:sp>
      <p:sp>
        <p:nvSpPr>
          <p:cNvPr id="20" name="Shape 17"/>
          <p:cNvSpPr/>
          <p:nvPr/>
        </p:nvSpPr>
        <p:spPr>
          <a:xfrm>
            <a:off x="6178418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379586" y="4347972"/>
            <a:ext cx="1702270" cy="128016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361298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6361298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86%</a:t>
            </a:r>
            <a:endParaRPr lang="en-US" sz="2800" dirty="0"/>
          </a:p>
        </p:txBody>
      </p:sp>
      <p:sp>
        <p:nvSpPr>
          <p:cNvPr id="24" name="Shape 21"/>
          <p:cNvSpPr/>
          <p:nvPr/>
        </p:nvSpPr>
        <p:spPr>
          <a:xfrm>
            <a:off x="8728131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8929299" y="4347972"/>
            <a:ext cx="1860621" cy="128016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911011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Review</a:t>
            </a:r>
            <a:endParaRPr lang="en-US" sz="1800" dirty="0"/>
          </a:p>
        </p:txBody>
      </p:sp>
      <p:sp>
        <p:nvSpPr>
          <p:cNvPr id="27" name="Text 24"/>
          <p:cNvSpPr txBox="1"/>
          <p:nvPr/>
        </p:nvSpPr>
        <p:spPr>
          <a:xfrm>
            <a:off x="8911011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94%</a:t>
            </a:r>
            <a:endParaRPr lang="en-US" sz="2800" dirty="0"/>
          </a:p>
        </p:txBody>
      </p:sp>
      <p:sp>
        <p:nvSpPr>
          <p:cNvPr id="28" name="Shape 25"/>
          <p:cNvSpPr/>
          <p:nvPr/>
        </p:nvSpPr>
        <p:spPr>
          <a:xfrm>
            <a:off x="3285375" y="3589020"/>
            <a:ext cx="399904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  <a:tailEnd type="triangle"/>
          </a:ln>
        </p:spPr>
      </p:sp>
      <p:sp>
        <p:nvSpPr>
          <p:cNvPr id="29" name="Shape 26"/>
          <p:cNvSpPr/>
          <p:nvPr/>
        </p:nvSpPr>
        <p:spPr>
          <a:xfrm>
            <a:off x="5835088" y="3589020"/>
            <a:ext cx="399904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  <a:tailEnd type="triangle"/>
          </a:ln>
        </p:spPr>
      </p:sp>
      <p:sp>
        <p:nvSpPr>
          <p:cNvPr id="30" name="Shape 27"/>
          <p:cNvSpPr/>
          <p:nvPr/>
        </p:nvSpPr>
        <p:spPr>
          <a:xfrm>
            <a:off x="8384801" y="3589020"/>
            <a:ext cx="399904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2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365760"/>
            <a:ext cx="11423599" cy="6126480"/>
          </a:xfrm>
          <a:prstGeom prst="rect">
            <a:avLst/>
          </a:prstGeom>
          <a:solidFill>
            <a:srgbClr val="FFF200">
              <a:alpha val="0"/>
            </a:srgbClr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271455" y="457200"/>
            <a:ext cx="1097280" cy="310896"/>
          </a:xfrm>
          <a:prstGeom prst="rect">
            <a:avLst/>
          </a:prstGeom>
          <a:solidFill>
            <a:srgbClr val="00A6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033711" y="310896"/>
            <a:ext cx="1225296" cy="20116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362895" y="457200"/>
            <a:ext cx="859536" cy="201168"/>
          </a:xfrm>
          <a:prstGeom prst="rect">
            <a:avLst/>
          </a:prstGeom>
          <a:solidFill>
            <a:srgbClr val="00A6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75488" y="768096"/>
            <a:ext cx="1353312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75488" y="6364224"/>
            <a:ext cx="11240719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1938528"/>
            <a:ext cx="73152" cy="251460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343400" y="1938528"/>
            <a:ext cx="73152" cy="2514600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863840" y="1938528"/>
            <a:ext cx="73152" cy="251460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3" name="mdpr:1-2-ea42c8:title:__title:1-2-ea42c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</a:t>
            </a:r>
            <a:endParaRPr lang="en-US" sz="3400" dirty="0"/>
          </a:p>
        </p:txBody>
      </p:sp>
      <p:sp>
        <p:nvSpPr>
          <p:cNvPr id="14" name="mdpr:1-2-ea42c8:item-1:block-27-chunk-1"/>
          <p:cNvSpPr txBox="1"/>
          <p:nvPr/>
        </p:nvSpPr>
        <p:spPr>
          <a:xfrm>
            <a:off x="1042416" y="2103120"/>
            <a:ext cx="2825496" cy="218541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Method flag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short high-level step.</a:t>
            </a:r>
            <a:endParaRPr lang="en-US" sz="2200" dirty="0"/>
          </a:p>
        </p:txBody>
      </p:sp>
      <p:sp>
        <p:nvSpPr>
          <p:cNvPr id="15" name="mdpr:1-2-ea42c8:item-2:block-27-chunk-1"/>
          <p:cNvSpPr txBox="1"/>
          <p:nvPr/>
        </p:nvSpPr>
        <p:spPr>
          <a:xfrm>
            <a:off x="4562856" y="2103120"/>
            <a:ext cx="2825496" cy="218541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Ticket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document-like evidence.</a:t>
            </a:r>
            <a:endParaRPr lang="en-US" sz="2200" dirty="0"/>
          </a:p>
        </p:txBody>
      </p:sp>
      <p:sp>
        <p:nvSpPr>
          <p:cNvPr id="16" name="mdpr:1-2-ea42c8:item-3:block-27-chunk-1"/>
          <p:cNvSpPr txBox="1"/>
          <p:nvPr/>
        </p:nvSpPr>
        <p:spPr>
          <a:xfrm>
            <a:off x="8083296" y="2103120"/>
            <a:ext cx="2825496" cy="218541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Two-corner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linear grouping.</a:t>
            </a:r>
            <a:endParaRPr lang="en-US" sz="2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2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365760"/>
            <a:ext cx="11423599" cy="6126480"/>
          </a:xfrm>
          <a:prstGeom prst="rect">
            <a:avLst/>
          </a:prstGeom>
          <a:solidFill>
            <a:srgbClr val="FFF200">
              <a:alpha val="0"/>
            </a:srgbClr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271455" y="457200"/>
            <a:ext cx="1097280" cy="310896"/>
          </a:xfrm>
          <a:prstGeom prst="rect">
            <a:avLst/>
          </a:prstGeom>
          <a:solidFill>
            <a:srgbClr val="00A6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033711" y="310896"/>
            <a:ext cx="1225296" cy="20116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362895" y="457200"/>
            <a:ext cx="859536" cy="201168"/>
          </a:xfrm>
          <a:prstGeom prst="rect">
            <a:avLst/>
          </a:prstGeom>
          <a:solidFill>
            <a:srgbClr val="00A6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75488" y="768096"/>
            <a:ext cx="1353312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75488" y="6364224"/>
            <a:ext cx="11240719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1" name="mdpr:2-2-4f71ba:title:__title:2-2-4f71ba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8888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2/2)</a:t>
            </a:r>
            <a:endParaRPr lang="en-US" sz="3400" dirty="0"/>
          </a:p>
        </p:txBody>
      </p:sp>
      <p:sp>
        <p:nvSpPr>
          <p:cNvPr id="12" name="mdpr:2-2-4f71ba:body:block-27-chunk-2"/>
          <p:cNvSpPr txBox="1"/>
          <p:nvPr/>
        </p:nvSpPr>
        <p:spPr>
          <a:xfrm>
            <a:off x="987552" y="1572768"/>
            <a:ext cx="10094976" cy="426110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Notched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technical constraint or code-like object.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Rounded panel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neutral fallback surface.</a:t>
            </a:r>
            <a:endParaRPr lang="en-US" sz="2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2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365760"/>
            <a:ext cx="11423599" cy="6126480"/>
          </a:xfrm>
          <a:prstGeom prst="rect">
            <a:avLst/>
          </a:prstGeom>
          <a:solidFill>
            <a:srgbClr val="FFF200">
              <a:alpha val="0"/>
            </a:srgbClr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271455" y="457200"/>
            <a:ext cx="1097280" cy="310896"/>
          </a:xfrm>
          <a:prstGeom prst="rect">
            <a:avLst/>
          </a:prstGeom>
          <a:solidFill>
            <a:srgbClr val="00A6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033711" y="310896"/>
            <a:ext cx="1225296" cy="20116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362895" y="457200"/>
            <a:ext cx="859536" cy="201168"/>
          </a:xfrm>
          <a:prstGeom prst="rect">
            <a:avLst/>
          </a:prstGeom>
          <a:solidFill>
            <a:srgbClr val="00A6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75488" y="768096"/>
            <a:ext cx="1353312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75488" y="6364224"/>
            <a:ext cx="11240719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5" name="Shape 9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16" name="Shape 10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7" name="Shape 11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18" name="mdpr:icon-and-text-aside-8429fc:title:__title:icon-and-text-aside-8429fc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and Text Aside</a:t>
            </a:r>
            <a:endParaRPr lang="en-US" sz="3400" dirty="0"/>
          </a:p>
        </p:txBody>
      </p:sp>
      <p:sp>
        <p:nvSpPr>
          <p:cNvPr id="19" name="mdpr:icon-and-text-aside-8429fc:item-1:block-29"/>
          <p:cNvSpPr txBox="1"/>
          <p:nvPr/>
        </p:nvSpPr>
        <p:spPr>
          <a:xfrm>
            <a:off x="1042416" y="1627632"/>
            <a:ext cx="4608576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role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quiet monochrome anchor.</a:t>
            </a:r>
            <a:endParaRPr lang="en-US" sz="2200" dirty="0"/>
          </a:p>
        </p:txBody>
      </p:sp>
      <p:sp>
        <p:nvSpPr>
          <p:cNvPr id="20" name="mdpr:icon-and-text-aside-8429fc:item-2:block-29"/>
          <p:cNvSpPr txBox="1"/>
          <p:nvPr/>
        </p:nvSpPr>
        <p:spPr>
          <a:xfrm>
            <a:off x="6528816" y="1627632"/>
            <a:ext cx="4608576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scale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secondary to title and body text.</a:t>
            </a:r>
            <a:endParaRPr lang="en-US" sz="2200" dirty="0"/>
          </a:p>
        </p:txBody>
      </p:sp>
      <p:sp>
        <p:nvSpPr>
          <p:cNvPr id="21" name="mdpr:icon-and-text-aside-8429fc:item-3:block-29"/>
          <p:cNvSpPr txBox="1"/>
          <p:nvPr/>
        </p:nvSpPr>
        <p:spPr>
          <a:xfrm>
            <a:off x="1042416" y="3913632"/>
            <a:ext cx="4608576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Placement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never fills empty space alone.</a:t>
            </a:r>
            <a:endParaRPr lang="en-US" sz="2200" dirty="0"/>
          </a:p>
        </p:txBody>
      </p:sp>
      <p:sp>
        <p:nvSpPr>
          <p:cNvPr id="22" name="mdpr:icon-and-text-aside-8429fc:item-4:block-29"/>
          <p:cNvSpPr txBox="1"/>
          <p:nvPr/>
        </p:nvSpPr>
        <p:spPr>
          <a:xfrm>
            <a:off x="6528816" y="3913632"/>
            <a:ext cx="4608576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and text share a stable center line.</a:t>
            </a:r>
            <a:endParaRPr lang="en-US" sz="2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2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365760"/>
            <a:ext cx="11423599" cy="6126480"/>
          </a:xfrm>
          <a:prstGeom prst="rect">
            <a:avLst/>
          </a:prstGeom>
          <a:solidFill>
            <a:srgbClr val="FFF200">
              <a:alpha val="0"/>
            </a:srgbClr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271455" y="457200"/>
            <a:ext cx="1097280" cy="310896"/>
          </a:xfrm>
          <a:prstGeom prst="rect">
            <a:avLst/>
          </a:prstGeom>
          <a:solidFill>
            <a:srgbClr val="00A6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033711" y="310896"/>
            <a:ext cx="1225296" cy="20116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362895" y="457200"/>
            <a:ext cx="859536" cy="201168"/>
          </a:xfrm>
          <a:prstGeom prst="rect">
            <a:avLst/>
          </a:prstGeom>
          <a:solidFill>
            <a:srgbClr val="00A6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75488" y="768096"/>
            <a:ext cx="1353312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75488" y="6364224"/>
            <a:ext cx="11240719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5" name="Shape 9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16" name="Shape 10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7" name="Shape 11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18" name="mdpr:overflow-guard-f8d03e:title:__title:overflow-guard-f8d03e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Overflow Guard</a:t>
            </a:r>
            <a:endParaRPr lang="en-US" sz="3400" dirty="0"/>
          </a:p>
        </p:txBody>
      </p:sp>
      <p:sp>
        <p:nvSpPr>
          <p:cNvPr id="19" name="mdpr:overflow-guard-f8d03e:item-1:block-31"/>
          <p:cNvSpPr txBox="1"/>
          <p:nvPr/>
        </p:nvSpPr>
        <p:spPr>
          <a:xfrm>
            <a:off x="1042416" y="1627632"/>
            <a:ext cx="4608576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 fit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region bounds are validated before output.</a:t>
            </a:r>
            <a:endParaRPr lang="en-US" sz="2200" dirty="0"/>
          </a:p>
        </p:txBody>
      </p:sp>
      <p:sp>
        <p:nvSpPr>
          <p:cNvPr id="20" name="mdpr:overflow-guard-f8d03e:item-2:block-31"/>
          <p:cNvSpPr txBox="1"/>
          <p:nvPr/>
        </p:nvSpPr>
        <p:spPr>
          <a:xfrm>
            <a:off x="6528816" y="1627632"/>
            <a:ext cx="4608576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cell text uses middle alignment and coherent margins.</a:t>
            </a:r>
            <a:endParaRPr lang="en-US" sz="2200" dirty="0"/>
          </a:p>
        </p:txBody>
      </p:sp>
      <p:sp>
        <p:nvSpPr>
          <p:cNvPr id="21" name="mdpr:overflow-guard-f8d03e:item-3:block-31"/>
          <p:cNvSpPr txBox="1"/>
          <p:nvPr/>
        </p:nvSpPr>
        <p:spPr>
          <a:xfrm>
            <a:off x="1042416" y="3913632"/>
            <a:ext cx="4608576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Continuation slides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dense content splits before unreadable shrink.</a:t>
            </a:r>
            <a:endParaRPr lang="en-US" sz="2200" dirty="0"/>
          </a:p>
        </p:txBody>
      </p:sp>
      <p:sp>
        <p:nvSpPr>
          <p:cNvPr id="22" name="mdpr:overflow-guard-f8d03e:item-4:block-31"/>
          <p:cNvSpPr txBox="1"/>
          <p:nvPr/>
        </p:nvSpPr>
        <p:spPr>
          <a:xfrm>
            <a:off x="6528816" y="3913632"/>
            <a:ext cx="4608576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Cleanup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decorative-only bullets and empty artifacts are removed.</a:t>
            </a:r>
            <a:endParaRPr lang="en-US" sz="2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2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365760"/>
            <a:ext cx="11423599" cy="6126480"/>
          </a:xfrm>
          <a:prstGeom prst="rect">
            <a:avLst/>
          </a:prstGeom>
          <a:solidFill>
            <a:srgbClr val="FFF200">
              <a:alpha val="0"/>
            </a:srgbClr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271455" y="457200"/>
            <a:ext cx="1097280" cy="310896"/>
          </a:xfrm>
          <a:prstGeom prst="rect">
            <a:avLst/>
          </a:prstGeom>
          <a:solidFill>
            <a:srgbClr val="00A6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033711" y="310896"/>
            <a:ext cx="1225296" cy="20116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362895" y="457200"/>
            <a:ext cx="859536" cy="201168"/>
          </a:xfrm>
          <a:prstGeom prst="rect">
            <a:avLst/>
          </a:prstGeom>
          <a:solidFill>
            <a:srgbClr val="00A6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75488" y="768096"/>
            <a:ext cx="1353312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75488" y="6364224"/>
            <a:ext cx="11240719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812280" y="1463040"/>
            <a:ext cx="4434840" cy="4526280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822960" y="1463040"/>
            <a:ext cx="5623560" cy="7315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2" name="mdpr:image-safe-frame-d4d6a4:title:__title:image-safe-frame-d4d6a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Image Safe Frame</a:t>
            </a:r>
            <a:endParaRPr lang="en-US" sz="3400" dirty="0"/>
          </a:p>
        </p:txBody>
      </p:sp>
      <p:sp>
        <p:nvSpPr>
          <p:cNvPr id="13" name="mdpr:image-safe-frame-d4d6a4:body:block-33-block-33-block-33"/>
          <p:cNvSpPr txBox="1"/>
          <p:nvPr/>
        </p:nvSpPr>
        <p:spPr>
          <a:xfrm>
            <a:off x="896112" y="1572768"/>
            <a:ext cx="5477256" cy="43068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Image role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picture content uses an internal safe frame.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Surface rule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background decoration stays outside the picture bounds.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Bounds rule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child images never exceed their owning image region.</a:t>
            </a:r>
            <a:endParaRPr lang="en-US" sz="2200" dirty="0"/>
          </a:p>
        </p:txBody>
      </p:sp>
      <p:pic>
        <p:nvPicPr>
          <p:cNvPr id="14" name="mdpr:image-safe-frame-d4d6a4:image-1:block-34" descr="{&quot;mdpr&quot;:{&quot;slideId&quot;:&quot;image-safe-frame-d4d6a4&quot;,&quot;layoutSlideId&quot;:&quot;layout-image-safe-frame-d4d6a4&quot;,&quot;regionId&quot;:&quot;image-1&quot;,&quot;blockIds&quot;:[&quot;block-34&quot;],&quot;objectKind&quot;:&quot;native-image&quot;,&quot;role&quot;:&quot;image&quot;,&quot;editable&quot;:false}}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940296" y="1591056"/>
            <a:ext cx="4178808" cy="4270248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2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365760"/>
            <a:ext cx="11423599" cy="6126480"/>
          </a:xfrm>
          <a:prstGeom prst="rect">
            <a:avLst/>
          </a:prstGeom>
          <a:solidFill>
            <a:srgbClr val="FFF200">
              <a:alpha val="0"/>
            </a:srgbClr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271455" y="457200"/>
            <a:ext cx="1097280" cy="310896"/>
          </a:xfrm>
          <a:prstGeom prst="rect">
            <a:avLst/>
          </a:prstGeom>
          <a:solidFill>
            <a:srgbClr val="00A6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033711" y="310896"/>
            <a:ext cx="1225296" cy="20116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362895" y="457200"/>
            <a:ext cx="859536" cy="201168"/>
          </a:xfrm>
          <a:prstGeom prst="rect">
            <a:avLst/>
          </a:prstGeom>
          <a:solidFill>
            <a:srgbClr val="00A6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75488" y="768096"/>
            <a:ext cx="1353312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75488" y="6364224"/>
            <a:ext cx="11240719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49808" y="1444752"/>
            <a:ext cx="4617720" cy="2359152"/>
          </a:xfrm>
          <a:prstGeom prst="rect">
            <a:avLst/>
          </a:prstGeom>
        </p:spPr>
      </p:pic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577840" y="1481328"/>
            <a:ext cx="5532120" cy="2212848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577840" y="3913632"/>
            <a:ext cx="5532120" cy="201168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841248" y="4041648"/>
            <a:ext cx="4572000" cy="7315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4" name="mdpr:mixed-object-packing-438299:title:__title:mixed-object-packing-43829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Mixed Object Packing</a:t>
            </a:r>
            <a:endParaRPr lang="en-US" sz="3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877824" y="1591056"/>
          <a:ext cx="4361688" cy="20665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graphicFrame>
        <p:nvGraphicFramePr>
          <p:cNvPr id="25" name="mdpr:mixed-object-packing-438299:table:block-3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77840" y="1481328"/>
          <a:ext cx="5532120" cy="2212848"/>
        </p:xfrm>
        <a:graphic>
          <a:graphicData uri="http://schemas.openxmlformats.org/drawingml/2006/table">
            <a:tbl>
              <a:tblPr/>
              <a:tblGrid>
                <a:gridCol w="2766060"/>
                <a:gridCol w="2766060"/>
              </a:tblGrid>
              <a:tr h="73761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Signal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737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trend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7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Image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bounded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17" name="mdpr:mixed-object-packing-438299:body:block-36"/>
          <p:cNvSpPr txBox="1"/>
          <p:nvPr/>
        </p:nvSpPr>
        <p:spPr>
          <a:xfrm>
            <a:off x="914400" y="4151376"/>
            <a:ext cx="4425696" cy="149961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Reading order</a:t>
            </a:r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 and table remain the primary evidence.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Image role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visual evidence stays bounded in a separate safe frame.</a:t>
            </a:r>
            <a:endParaRPr lang="en-US" sz="1800" dirty="0"/>
          </a:p>
        </p:txBody>
      </p:sp>
      <p:pic>
        <p:nvPicPr>
          <p:cNvPr id="18" name="mdpr:mixed-object-packing-438299:image-1:block-39" descr="{&quot;mdpr&quot;:{&quot;slideId&quot;:&quot;mixed-object-packing-438299&quot;,&quot;layoutSlideId&quot;:&quot;layout-mixed-object-packing-438299&quot;,&quot;regionId&quot;:&quot;image-1&quot;,&quot;blockIds&quot;:[&quot;block-39&quot;],&quot;objectKind&quot;:&quot;native-image&quot;,&quot;role&quot;:&quot;image&quot;,&quot;editable&quot;:false}}">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648249" y="3984041"/>
            <a:ext cx="5391302" cy="1870862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2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365760"/>
            <a:ext cx="11423599" cy="6126480"/>
          </a:xfrm>
          <a:prstGeom prst="rect">
            <a:avLst/>
          </a:prstGeom>
          <a:solidFill>
            <a:srgbClr val="FFF200">
              <a:alpha val="0"/>
            </a:srgbClr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271455" y="457200"/>
            <a:ext cx="1097280" cy="310896"/>
          </a:xfrm>
          <a:prstGeom prst="rect">
            <a:avLst/>
          </a:prstGeom>
          <a:solidFill>
            <a:srgbClr val="00A6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033711" y="310896"/>
            <a:ext cx="1225296" cy="20116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362895" y="457200"/>
            <a:ext cx="859536" cy="201168"/>
          </a:xfrm>
          <a:prstGeom prst="rect">
            <a:avLst/>
          </a:prstGeom>
          <a:solidFill>
            <a:srgbClr val="00A6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75488" y="768096"/>
            <a:ext cx="1353312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75488" y="6364224"/>
            <a:ext cx="11240719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1938528"/>
            <a:ext cx="73152" cy="251460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343400" y="1938528"/>
            <a:ext cx="73152" cy="2514600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863840" y="1938528"/>
            <a:ext cx="73152" cy="251460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3" name="mdpr:actions-output-review-326e07:title:__title:actions-output-review-326e0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Actions Output Review</a:t>
            </a:r>
            <a:endParaRPr lang="en-US" sz="3400" dirty="0"/>
          </a:p>
        </p:txBody>
      </p:sp>
      <p:sp>
        <p:nvSpPr>
          <p:cNvPr id="14" name="mdpr:actions-output-review-326e07:item-1:block-41"/>
          <p:cNvSpPr txBox="1"/>
          <p:nvPr/>
        </p:nvSpPr>
        <p:spPr>
          <a:xfrm>
            <a:off x="1042416" y="2103120"/>
            <a:ext cx="2825496" cy="218541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Workflow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Theme Preview builds this source across decoration styles.</a:t>
            </a:r>
            <a:endParaRPr lang="en-US" sz="2200" dirty="0"/>
          </a:p>
        </p:txBody>
      </p:sp>
      <p:sp>
        <p:nvSpPr>
          <p:cNvPr id="15" name="mdpr:actions-output-review-326e07:item-2:block-41"/>
          <p:cNvSpPr txBox="1"/>
          <p:nvPr/>
        </p:nvSpPr>
        <p:spPr>
          <a:xfrm>
            <a:off x="4562856" y="2103120"/>
            <a:ext cx="2825496" cy="218541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Gallery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Pages shows each styled deck and object-check slide.</a:t>
            </a:r>
            <a:endParaRPr lang="en-US" sz="2200" dirty="0"/>
          </a:p>
        </p:txBody>
      </p:sp>
      <p:sp>
        <p:nvSpPr>
          <p:cNvPr id="16" name="mdpr:actions-output-review-326e07:item-3:block-41"/>
          <p:cNvSpPr txBox="1"/>
          <p:nvPr/>
        </p:nvSpPr>
        <p:spPr>
          <a:xfrm>
            <a:off x="8083296" y="2103120"/>
            <a:ext cx="2825496" cy="218541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Ownership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MDPR owns rendering; mdpr-skill may prepare hints.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11111"/>
      </a:dk1>
      <a:lt1>
        <a:srgbClr val="FFF200"/>
      </a:lt1>
      <a:dk2>
        <a:srgbClr val="888888"/>
      </a:dk2>
      <a:lt2>
        <a:srgbClr val="FFFFFF"/>
      </a:lt2>
      <a:accent1>
        <a:srgbClr val="111111"/>
      </a:accent1>
      <a:accent2>
        <a:srgbClr val="00A6FF"/>
      </a:accent2>
      <a:accent3>
        <a:srgbClr val="111111"/>
      </a:accent3>
      <a:accent4>
        <a:srgbClr val="888888"/>
      </a:accent4>
      <a:accent5>
        <a:srgbClr val="111111"/>
      </a:accent5>
      <a:accent6>
        <a:srgbClr val="111111"/>
      </a:accent6>
      <a:hlink>
        <a:srgbClr val="111111"/>
      </a:hlink>
      <a:folHlink>
        <a:srgbClr val="00A6FF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mdpresent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MDPR Design Grammar</dc:title>
  <dc:subject>Generated from Markdown through Presentation IR and Layout IR</dc:subject>
  <dc:creator>mdpresent</dc:creator>
  <cp:lastModifiedBy>mdpresent</cp:lastModifiedBy>
  <cp:revision>1</cp:revision>
  <dcterms:created xsi:type="dcterms:W3CDTF">2026-07-13T19:16:26Z</dcterms:created>
  <dcterms:modified xsi:type="dcterms:W3CDTF">2026-07-13T19:16:26Z</dcterms:modified>
</cp:coreProperties>
</file>