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1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Coverage</c:v>
                </c:pt>
              </c:strCache>
            </c:strRef>
          </c:tx>
          <c:spPr>
            <a:solidFill>
              <a:srgbClr val="2563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Parser</c:v>
                  </c:pt>
                  <c:pt idx="1">
                    <c:v>Layout</c:v>
                  </c:pt>
                  <c:pt idx="2">
                    <c:v>PPTX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92</c:v>
                </c:pt>
                <c:pt idx="1">
                  <c:v>88</c:v>
                </c:pt>
                <c:pt idx="2">
                  <c:v>95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Defects</c:v>
                </c:pt>
              </c:strCache>
            </c:strRef>
          </c:tx>
          <c:spPr>
            <a:solidFill>
              <a:srgbClr val="DBEAF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Parser</c:v>
                  </c:pt>
                  <c:pt idx="1">
                    <c:v>Layout</c:v>
                  </c:pt>
                  <c:pt idx="2">
                    <c:v>PPTX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3</c:v>
                </c:pt>
                <c:pt idx="1">
                  <c:v>5</c:v>
                </c:pt>
                <c:pt idx="2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11827"/>
                </a:solidFill>
                <a:latin typeface="Pretendar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475569"/>
                </a:solidFill>
                <a:latin typeface="Pretendar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475569"/>
              </a:solidFill>
              <a:latin typeface="Pretendard"/>
              <a:cs typeface="Pretendard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image" Target="../media/image-4-3.png"/><Relationship Id="rId4" Type="http://schemas.openxmlformats.org/officeDocument/2006/relationships/image" Target="../media/image-4-4.svg"/><Relationship Id="rId5" Type="http://schemas.openxmlformats.org/officeDocument/2006/relationships/image" Target="../media/image-4-5.png"/><Relationship Id="rId6" Type="http://schemas.openxmlformats.org/officeDocument/2006/relationships/image" Target="../media/image-4-6.svg"/><Relationship Id="rId7" Type="http://schemas.openxmlformats.org/officeDocument/2006/relationships/image" Target="../media/image-4-7.png"/><Relationship Id="rId8" Type="http://schemas.openxmlformats.org/officeDocument/2006/relationships/image" Target="../media/image-4-8.svg"/><Relationship Id="rId9" Type="http://schemas.openxmlformats.org/officeDocument/2006/relationships/image" Target="../media/image-4-9.png"/><Relationship Id="rId10" Type="http://schemas.openxmlformats.org/officeDocument/2006/relationships/image" Target="../media/image-4-10.svg"/><Relationship Id="rId11" Type="http://schemas.openxmlformats.org/officeDocument/2006/relationships/image" Target="../media/image-4-11.png"/><Relationship Id="rId12" Type="http://schemas.openxmlformats.org/officeDocument/2006/relationships/image" Target="../media/image-4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svg"/><Relationship Id="rId3" Type="http://schemas.openxmlformats.org/officeDocument/2006/relationships/image" Target="../media/image-6-3.png"/><Relationship Id="rId4" Type="http://schemas.openxmlformats.org/officeDocument/2006/relationships/image" Target="../media/image-6-4.svg"/><Relationship Id="rId5" Type="http://schemas.openxmlformats.org/officeDocument/2006/relationships/image" Target="../media/image-6-5.png"/><Relationship Id="rId6" Type="http://schemas.openxmlformats.org/officeDocument/2006/relationships/image" Target="../media/image-6-6.svg"/><Relationship Id="rId7" Type="http://schemas.openxmlformats.org/officeDocument/2006/relationships/image" Target="../media/image-6-7.png"/><Relationship Id="rId8" Type="http://schemas.openxmlformats.org/officeDocument/2006/relationships/image" Target="../media/image-6-8.svg"/><Relationship Id="rId9" Type="http://schemas.openxmlformats.org/officeDocument/2006/relationships/image" Target="../media/image-6-9.png"/><Relationship Id="rId10" Type="http://schemas.openxmlformats.org/officeDocument/2006/relationships/image" Target="../media/image-6-10.svg"/><Relationship Id="rId11" Type="http://schemas.openxmlformats.org/officeDocument/2006/relationships/image" Target="../media/image-6-11.png"/><Relationship Id="rId12" Type="http://schemas.openxmlformats.org/officeDocument/2006/relationships/image" Target="../media/image-6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svg"/><Relationship Id="rId3" Type="http://schemas.openxmlformats.org/officeDocument/2006/relationships/image" Target="../media/image-8-3.png"/><Relationship Id="rId4" Type="http://schemas.openxmlformats.org/officeDocument/2006/relationships/image" Target="../media/image-8-4.svg"/><Relationship Id="rId5" Type="http://schemas.openxmlformats.org/officeDocument/2006/relationships/image" Target="../media/image-8-5.png"/><Relationship Id="rId6" Type="http://schemas.openxmlformats.org/officeDocument/2006/relationships/image" Target="../media/image-8-6.svg"/><Relationship Id="rId7" Type="http://schemas.openxmlformats.org/officeDocument/2006/relationships/image" Target="../media/image-8-7.png"/><Relationship Id="rId8" Type="http://schemas.openxmlformats.org/officeDocument/2006/relationships/image" Target="../media/image-8-8.svg"/><Relationship Id="rId9" Type="http://schemas.openxmlformats.org/officeDocument/2006/relationships/image" Target="../media/image-8-9.png"/><Relationship Id="rId10" Type="http://schemas.openxmlformats.org/officeDocument/2006/relationships/image" Target="../media/image-8-10.svg"/><Relationship Id="rId11" Type="http://schemas.openxmlformats.org/officeDocument/2006/relationships/image" Target="../media/image-8-11.png"/><Relationship Id="rId12" Type="http://schemas.openxmlformats.org/officeDocument/2006/relationships/image" Target="../media/image-8-12.svg"/><Relationship Id="rId13" Type="http://schemas.openxmlformats.org/officeDocument/2006/relationships/image" Target="../media/image-8-13.png"/><Relationship Id="rId14" Type="http://schemas.openxmlformats.org/officeDocument/2006/relationships/image" Target="../media/image-8-14.svg"/><Relationship Id="rId15" Type="http://schemas.openxmlformats.org/officeDocument/2006/relationships/image" Target="../media/image-8-15.png"/><Relationship Id="rId16" Type="http://schemas.openxmlformats.org/officeDocument/2006/relationships/image" Target="../media/image-8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chart" Target="/ppt/charts/chart1.xml"/><Relationship Id="rId1" Type="http://schemas.openxmlformats.org/officeDocument/2006/relationships/image" Target="../media/image-11-1.png"/><Relationship Id="rId2" Type="http://schemas.openxmlformats.org/officeDocument/2006/relationships/image" Target="../media/image-11-2.sv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svg"/><Relationship Id="rId3" Type="http://schemas.openxmlformats.org/officeDocument/2006/relationships/image" Target="../media/image-17-3.png"/><Relationship Id="rId4" Type="http://schemas.openxmlformats.org/officeDocument/2006/relationships/image" Target="../media/image-17-4.svg"/><Relationship Id="rId5" Type="http://schemas.openxmlformats.org/officeDocument/2006/relationships/image" Target="../media/image-17-5.png"/><Relationship Id="rId6" Type="http://schemas.openxmlformats.org/officeDocument/2006/relationships/image" Target="../media/image-17-6.svg"/><Relationship Id="rId7" Type="http://schemas.openxmlformats.org/officeDocument/2006/relationships/image" Target="../media/image-17-7.png"/><Relationship Id="rId8" Type="http://schemas.openxmlformats.org/officeDocument/2006/relationships/image" Target="../media/image-17-8.svg"/><Relationship Id="rId9" Type="http://schemas.openxmlformats.org/officeDocument/2006/relationships/image" Target="../media/image-17-9.png"/><Relationship Id="rId10" Type="http://schemas.openxmlformats.org/officeDocument/2006/relationships/image" Target="../media/image-17-10.svg"/><Relationship Id="rId11" Type="http://schemas.openxmlformats.org/officeDocument/2006/relationships/image" Target="../media/image-17-11.png"/><Relationship Id="rId12" Type="http://schemas.openxmlformats.org/officeDocument/2006/relationships/image" Target="../media/image-17-12.svg"/><Relationship Id="rId13" Type="http://schemas.openxmlformats.org/officeDocument/2006/relationships/image" Target="../media/image-17-13.png"/><Relationship Id="rId14" Type="http://schemas.openxmlformats.org/officeDocument/2006/relationships/image" Target="../media/image-17-14.svg"/><Relationship Id="rId15" Type="http://schemas.openxmlformats.org/officeDocument/2006/relationships/image" Target="../media/image-17-15.png"/><Relationship Id="rId16" Type="http://schemas.openxmlformats.org/officeDocument/2006/relationships/image" Target="../media/image-17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svg"/><Relationship Id="rId3" Type="http://schemas.openxmlformats.org/officeDocument/2006/relationships/image" Target="../media/image-18-3.png"/><Relationship Id="rId4" Type="http://schemas.openxmlformats.org/officeDocument/2006/relationships/image" Target="../media/image-18-4.svg"/><Relationship Id="rId5" Type="http://schemas.openxmlformats.org/officeDocument/2006/relationships/image" Target="../media/image-18-5.png"/><Relationship Id="rId6" Type="http://schemas.openxmlformats.org/officeDocument/2006/relationships/image" Target="../media/image-18-6.svg"/><Relationship Id="rId7" Type="http://schemas.openxmlformats.org/officeDocument/2006/relationships/image" Target="../media/image-18-7.png"/><Relationship Id="rId8" Type="http://schemas.openxmlformats.org/officeDocument/2006/relationships/image" Target="../media/image-18-8.svg"/><Relationship Id="rId9" Type="http://schemas.openxmlformats.org/officeDocument/2006/relationships/image" Target="../media/image-18-9.png"/><Relationship Id="rId10" Type="http://schemas.openxmlformats.org/officeDocument/2006/relationships/image" Target="../media/image-18-10.svg"/><Relationship Id="rId11" Type="http://schemas.openxmlformats.org/officeDocument/2006/relationships/image" Target="../media/image-18-11.png"/><Relationship Id="rId12" Type="http://schemas.openxmlformats.org/officeDocument/2006/relationships/image" Target="../media/image-18-12.svg"/><Relationship Id="rId13" Type="http://schemas.openxmlformats.org/officeDocument/2006/relationships/image" Target="../media/image-18-13.png"/><Relationship Id="rId14" Type="http://schemas.openxmlformats.org/officeDocument/2006/relationships/image" Target="../media/image-18-14.svg"/><Relationship Id="rId15" Type="http://schemas.openxmlformats.org/officeDocument/2006/relationships/image" Target="../media/image-18-15.png"/><Relationship Id="rId16" Type="http://schemas.openxmlformats.org/officeDocument/2006/relationships/image" Target="../media/image-18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svg"/><Relationship Id="rId3" Type="http://schemas.openxmlformats.org/officeDocument/2006/relationships/image" Target="../media/image-19-3.png"/><Relationship Id="rId4" Type="http://schemas.openxmlformats.org/officeDocument/2006/relationships/image" Target="../media/image-19-4.svg"/><Relationship Id="rId5" Type="http://schemas.openxmlformats.org/officeDocument/2006/relationships/image" Target="../media/image-19-5.png"/><Relationship Id="rId6" Type="http://schemas.openxmlformats.org/officeDocument/2006/relationships/image" Target="../media/image-19-6.svg"/><Relationship Id="rId7" Type="http://schemas.openxmlformats.org/officeDocument/2006/relationships/image" Target="../media/image-19-7.png"/><Relationship Id="rId8" Type="http://schemas.openxmlformats.org/officeDocument/2006/relationships/image" Target="../media/image-19-8.svg"/><Relationship Id="rId9" Type="http://schemas.openxmlformats.org/officeDocument/2006/relationships/image" Target="../media/image-19-9.png"/><Relationship Id="rId10" Type="http://schemas.openxmlformats.org/officeDocument/2006/relationships/image" Target="../media/image-19-10.svg"/><Relationship Id="rId11" Type="http://schemas.openxmlformats.org/officeDocument/2006/relationships/image" Target="../media/image-19-11.png"/><Relationship Id="rId12" Type="http://schemas.openxmlformats.org/officeDocument/2006/relationships/image" Target="../media/image-19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563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357055" y="6528816"/>
            <a:ext cx="2148840" cy="73152"/>
          </a:xfrm>
          <a:prstGeom prst="rect">
            <a:avLst/>
          </a:prstGeom>
          <a:solidFill>
            <a:srgbClr val="FFFFFF">
              <a:alpha val="9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14400" y="2057400"/>
            <a:ext cx="103327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4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 Composition Grammar QA</a:t>
            </a:r>
            <a:endParaRPr lang="en-US" sz="4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188720"/>
            <a:ext cx="10515600" cy="4572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6199632"/>
            <a:ext cx="2011680" cy="4572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080760" y="1389888"/>
            <a:ext cx="22860" cy="4663440"/>
          </a:xfrm>
          <a:prstGeom prst="rect">
            <a:avLst/>
          </a:prstGeom>
          <a:solidFill>
            <a:srgbClr val="E2E8F0">
              <a:alpha val="9000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1389888"/>
            <a:ext cx="73152" cy="65836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2194560"/>
            <a:ext cx="73152" cy="65836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2960" y="2990088"/>
            <a:ext cx="73152" cy="65836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2960" y="3794760"/>
            <a:ext cx="73152" cy="65836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22960" y="4599432"/>
            <a:ext cx="73152" cy="65836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22960" y="5394960"/>
            <a:ext cx="73152" cy="65836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72784" y="1389888"/>
            <a:ext cx="73152" cy="65836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72784" y="2194560"/>
            <a:ext cx="73152" cy="65836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272784" y="2990088"/>
            <a:ext cx="73152" cy="65836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272784" y="3794760"/>
            <a:ext cx="73152" cy="65836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72784" y="4599432"/>
            <a:ext cx="73152" cy="65836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272784" y="5394960"/>
            <a:ext cx="73152" cy="65836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31520" y="384048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8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Agenda</a:t>
            </a:r>
            <a:endParaRPr lang="en-US" sz="3800" dirty="0"/>
          </a:p>
        </p:txBody>
      </p:sp>
      <p:sp>
        <p:nvSpPr>
          <p:cNvPr id="19" name="Text 17"/>
          <p:cNvSpPr txBox="1"/>
          <p:nvPr/>
        </p:nvSpPr>
        <p:spPr>
          <a:xfrm>
            <a:off x="1042416" y="1481328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 Preview Purpose</a:t>
            </a:r>
            <a:endParaRPr lang="en-US" sz="1800" dirty="0"/>
          </a:p>
        </p:txBody>
      </p:sp>
      <p:sp>
        <p:nvSpPr>
          <p:cNvPr id="20" name="Text 18"/>
          <p:cNvSpPr txBox="1"/>
          <p:nvPr/>
        </p:nvSpPr>
        <p:spPr>
          <a:xfrm>
            <a:off x="1042416" y="2286000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 Composition Contract</a:t>
            </a:r>
            <a:endParaRPr lang="en-US" sz="1800" dirty="0"/>
          </a:p>
        </p:txBody>
      </p:sp>
      <p:sp>
        <p:nvSpPr>
          <p:cNvPr id="21" name="Text 19"/>
          <p:cNvSpPr txBox="1"/>
          <p:nvPr/>
        </p:nvSpPr>
        <p:spPr>
          <a:xfrm>
            <a:off x="1042416" y="3081528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 Style Families</a:t>
            </a:r>
            <a:endParaRPr lang="en-US" sz="1800" dirty="0"/>
          </a:p>
        </p:txBody>
      </p:sp>
      <p:sp>
        <p:nvSpPr>
          <p:cNvPr id="22" name="Text 20"/>
          <p:cNvSpPr txBox="1"/>
          <p:nvPr/>
        </p:nvSpPr>
        <p:spPr>
          <a:xfrm>
            <a:off x="1042416" y="3886200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  Semantic Blocks</a:t>
            </a:r>
            <a:endParaRPr lang="en-US" sz="1800" dirty="0"/>
          </a:p>
        </p:txBody>
      </p:sp>
      <p:sp>
        <p:nvSpPr>
          <p:cNvPr id="23" name="Text 21"/>
          <p:cNvSpPr txBox="1"/>
          <p:nvPr/>
        </p:nvSpPr>
        <p:spPr>
          <a:xfrm>
            <a:off x="1042416" y="4690872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  Pipeline Diagram</a:t>
            </a:r>
            <a:endParaRPr lang="en-US" sz="1800" dirty="0"/>
          </a:p>
        </p:txBody>
      </p:sp>
      <p:sp>
        <p:nvSpPr>
          <p:cNvPr id="24" name="Text 22"/>
          <p:cNvSpPr txBox="1"/>
          <p:nvPr/>
        </p:nvSpPr>
        <p:spPr>
          <a:xfrm>
            <a:off x="1042416" y="5486400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  Table Coherence</a:t>
            </a:r>
            <a:endParaRPr lang="en-US" sz="1800" dirty="0"/>
          </a:p>
        </p:txBody>
      </p:sp>
      <p:sp>
        <p:nvSpPr>
          <p:cNvPr id="25" name="Text 23"/>
          <p:cNvSpPr txBox="1"/>
          <p:nvPr/>
        </p:nvSpPr>
        <p:spPr>
          <a:xfrm>
            <a:off x="6492240" y="1481328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  Chart and Table Pair</a:t>
            </a:r>
            <a:endParaRPr lang="en-US" sz="1800" dirty="0"/>
          </a:p>
        </p:txBody>
      </p:sp>
      <p:sp>
        <p:nvSpPr>
          <p:cNvPr id="26" name="Text 24"/>
          <p:cNvSpPr txBox="1"/>
          <p:nvPr/>
        </p:nvSpPr>
        <p:spPr>
          <a:xfrm>
            <a:off x="6492240" y="2286000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  Editable Proof Objects</a:t>
            </a:r>
            <a:endParaRPr lang="en-US" sz="1800" dirty="0"/>
          </a:p>
        </p:txBody>
      </p:sp>
      <p:sp>
        <p:nvSpPr>
          <p:cNvPr id="27" name="Text 25"/>
          <p:cNvSpPr txBox="1"/>
          <p:nvPr/>
        </p:nvSpPr>
        <p:spPr>
          <a:xfrm>
            <a:off x="6492240" y="3081528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  Object Shape Grammar</a:t>
            </a:r>
            <a:endParaRPr lang="en-US" sz="1800" dirty="0"/>
          </a:p>
        </p:txBody>
      </p:sp>
      <p:sp>
        <p:nvSpPr>
          <p:cNvPr id="28" name="Text 26"/>
          <p:cNvSpPr txBox="1"/>
          <p:nvPr/>
        </p:nvSpPr>
        <p:spPr>
          <a:xfrm>
            <a:off x="6492240" y="3886200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  Icon and Text Aside</a:t>
            </a:r>
            <a:endParaRPr lang="en-US" sz="1800" dirty="0"/>
          </a:p>
        </p:txBody>
      </p:sp>
      <p:sp>
        <p:nvSpPr>
          <p:cNvPr id="29" name="Text 27"/>
          <p:cNvSpPr txBox="1"/>
          <p:nvPr/>
        </p:nvSpPr>
        <p:spPr>
          <a:xfrm>
            <a:off x="6492240" y="4690872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  Overflow Guard</a:t>
            </a:r>
            <a:endParaRPr lang="en-US" sz="1800" dirty="0"/>
          </a:p>
        </p:txBody>
      </p:sp>
      <p:sp>
        <p:nvSpPr>
          <p:cNvPr id="30" name="Text 28"/>
          <p:cNvSpPr txBox="1"/>
          <p:nvPr/>
        </p:nvSpPr>
        <p:spPr>
          <a:xfrm>
            <a:off x="6492240" y="5486400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  Actions Output Review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14400" y="3063240"/>
            <a:ext cx="10241280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13258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914400" y="1417320"/>
            <a:ext cx="10241280" cy="132588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1046988" y="1549908"/>
            <a:ext cx="73152" cy="1060704"/>
          </a:xfrm>
          <a:prstGeom prst="roundRect">
            <a:avLst>
              <a:gd name="adj" fmla="val 25000"/>
            </a:avLst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Preview Purpose</a:t>
            </a:r>
            <a:endParaRPr lang="en-US" sz="3400" dirty="0"/>
          </a:p>
        </p:txBody>
      </p:sp>
      <p:sp>
        <p:nvSpPr>
          <p:cNvPr id="8" name="Text 5"/>
          <p:cNvSpPr txBox="1"/>
          <p:nvPr/>
        </p:nvSpPr>
        <p:spPr>
          <a:xfrm>
            <a:off x="1298448" y="1545336"/>
            <a:ext cx="9637776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Generated decks must prove hierarchy, evidence, and object grammar before decoration.</a:t>
            </a:r>
            <a:endParaRPr lang="en-US" sz="2200" dirty="0"/>
          </a:p>
        </p:txBody>
      </p:sp>
      <p:sp>
        <p:nvSpPr>
          <p:cNvPr id="9" name="Text 6"/>
          <p:cNvSpPr txBox="1"/>
          <p:nvPr/>
        </p:nvSpPr>
        <p:spPr>
          <a:xfrm>
            <a:off x="987552" y="3172968"/>
            <a:ext cx="10094976" cy="247802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Fixture type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Actions theme preview source.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Source shape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short bullets, bounded tables, and one-slide diagrams.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Review target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readable, coherent, composition-aware output.</a:t>
            </a:r>
            <a:endParaRPr lang="en-US" sz="2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DBEAFE">
              <a:alpha val="80000"/>
            </a:srgbClr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3" name="Text 8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Composition Contract</a:t>
            </a:r>
            <a:endParaRPr lang="en-US" sz="3400" dirty="0"/>
          </a:p>
        </p:txBody>
      </p:sp>
      <p:sp>
        <p:nvSpPr>
          <p:cNvPr id="14" name="Shape 9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15" name="Image 3" descr="article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1699321" y="1957548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Cover signal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title scale and first-viewport identity.</a:t>
            </a:r>
            <a:endParaRPr lang="en-US" sz="2200" dirty="0"/>
          </a:p>
        </p:txBody>
      </p:sp>
      <p:sp>
        <p:nvSpPr>
          <p:cNvPr id="17" name="Shape 11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18" name="Image 4" descr="chart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1699321" y="3283428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Evidence rhythm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chart, table, and proof objects stay connected.</a:t>
            </a:r>
            <a:endParaRPr lang="en-US" sz="2200" dirty="0"/>
          </a:p>
        </p:txBody>
      </p:sp>
      <p:sp>
        <p:nvSpPr>
          <p:cNvPr id="20" name="Shape 13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21" name="Image 5" descr="artic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22" name="Text 14"/>
          <p:cNvSpPr txBox="1"/>
          <p:nvPr/>
        </p:nvSpPr>
        <p:spPr>
          <a:xfrm>
            <a:off x="1699321" y="4600164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grammar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cards, tickets, flags, and panels vary coherently.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Composition Contract (Cont. 2/2)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Connector clarity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arrows attach to object boundaries.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Bounds discipline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no region exceeds the slide.</a:t>
            </a:r>
            <a:endParaRPr lang="en-US" sz="2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DBEAFE">
              <a:alpha val="80000"/>
            </a:srgbClr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3" name="Text 8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Style Families</a:t>
            </a:r>
            <a:endParaRPr lang="en-US" sz="3400" dirty="0"/>
          </a:p>
        </p:txBody>
      </p:sp>
      <p:sp>
        <p:nvSpPr>
          <p:cNvPr id="14" name="Shape 9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15" name="Image 3" descr="article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1699321" y="1957548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Clean / minimalism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restrained structural baselines.</a:t>
            </a:r>
            <a:endParaRPr lang="en-US" sz="2200" dirty="0"/>
          </a:p>
        </p:txBody>
      </p:sp>
      <p:sp>
        <p:nvSpPr>
          <p:cNvPr id="17" name="Shape 11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18" name="Image 4" descr="article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1699321" y="3283428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Executive / technical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structured operational hierarchy.</a:t>
            </a:r>
            <a:endParaRPr lang="en-US" sz="2200" dirty="0"/>
          </a:p>
        </p:txBody>
      </p:sp>
      <p:sp>
        <p:nvSpPr>
          <p:cNvPr id="20" name="Shape 13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21" name="Image 5" descr="artic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22" name="Text 14"/>
          <p:cNvSpPr txBox="1"/>
          <p:nvPr/>
        </p:nvSpPr>
        <p:spPr>
          <a:xfrm>
            <a:off x="1699321" y="4600164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Editorial / magazine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warmer page rhythm.</a:t>
            </a:r>
            <a:endParaRPr lang="en-US" sz="2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Style Families (Cont. 2/2)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Minimalism / newmorphism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sparse or softly raised surfaces.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Glass / grid / data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distinct surface and background grammar.</a:t>
            </a:r>
            <a:endParaRPr lang="en-US" sz="2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14" name="Shape 8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5" name="Text 9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Semantic Blocks</a:t>
            </a:r>
            <a:endParaRPr lang="en-US" sz="3400" dirty="0"/>
          </a:p>
        </p:txBody>
      </p:sp>
      <p:sp>
        <p:nvSpPr>
          <p:cNvPr id="16" name="Shape 10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17" name="Image 4" descr="table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16893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Headings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stable slide boundaries.</a:t>
            </a:r>
            <a:endParaRPr lang="en-US" sz="2200" dirty="0"/>
          </a:p>
        </p:txBody>
      </p:sp>
      <p:sp>
        <p:nvSpPr>
          <p:cNvPr id="19" name="Shape 12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20" name="Image 5" descr="artic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21" name="Text 13"/>
          <p:cNvSpPr txBox="1"/>
          <p:nvPr/>
        </p:nvSpPr>
        <p:spPr>
          <a:xfrm>
            <a:off x="71757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Lists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ordered and unordered structure.</a:t>
            </a:r>
            <a:endParaRPr lang="en-US" sz="2200" dirty="0"/>
          </a:p>
        </p:txBody>
      </p:sp>
      <p:sp>
        <p:nvSpPr>
          <p:cNvPr id="22" name="Shape 14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23" name="Image 6" descr="article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24" name="Text 15"/>
          <p:cNvSpPr txBox="1"/>
          <p:nvPr/>
        </p:nvSpPr>
        <p:spPr>
          <a:xfrm>
            <a:off x="16893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Constraint: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Indented description lines stay under the bold label.</a:t>
            </a:r>
            <a:endParaRPr lang="en-US" sz="2200" dirty="0"/>
          </a:p>
        </p:txBody>
      </p:sp>
      <p:sp>
        <p:nvSpPr>
          <p:cNvPr id="25" name="Shape 16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26" name="Image 7" descr="table icon from tabler-icons (MIT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27" name="Text 17"/>
          <p:cNvSpPr txBox="1"/>
          <p:nvPr/>
        </p:nvSpPr>
        <p:spPr>
          <a:xfrm>
            <a:off x="71757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Emphasis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bold and italic remain editable.</a:t>
            </a:r>
            <a:endParaRPr lang="en-US" sz="2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Pipeline Diagram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4002024" y="3095244"/>
            <a:ext cx="457200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tailEnd type="triangle"/>
          </a:ln>
        </p:spPr>
      </p:sp>
      <p:sp>
        <p:nvSpPr>
          <p:cNvPr id="5" name="Shape 3"/>
          <p:cNvSpPr/>
          <p:nvPr/>
        </p:nvSpPr>
        <p:spPr>
          <a:xfrm>
            <a:off x="7748016" y="3095244"/>
            <a:ext cx="457200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tailEnd type="triangle"/>
          </a:ln>
        </p:spPr>
      </p:sp>
      <p:sp>
        <p:nvSpPr>
          <p:cNvPr id="6" name="Shape 4"/>
          <p:cNvSpPr/>
          <p:nvPr/>
        </p:nvSpPr>
        <p:spPr>
          <a:xfrm>
            <a:off x="9849612" y="3627791"/>
            <a:ext cx="0" cy="416235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7748016" y="4576572"/>
            <a:ext cx="457200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headEnd type="triangle"/>
          </a:ln>
        </p:spPr>
      </p:sp>
      <p:sp>
        <p:nvSpPr>
          <p:cNvPr id="8" name="Shape 6"/>
          <p:cNvSpPr/>
          <p:nvPr/>
        </p:nvSpPr>
        <p:spPr>
          <a:xfrm>
            <a:off x="4002024" y="4576572"/>
            <a:ext cx="457200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headEnd type="triangle"/>
          </a:ln>
        </p:spPr>
      </p:sp>
      <p:sp>
        <p:nvSpPr>
          <p:cNvPr id="9" name="Shape 7"/>
          <p:cNvSpPr/>
          <p:nvPr/>
        </p:nvSpPr>
        <p:spPr>
          <a:xfrm>
            <a:off x="640080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40080" y="2510028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04672" y="2907975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04672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325514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Markdown source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4386072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386072" y="2510028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550664" y="2907975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550664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5071506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Parse blocks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8132064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8132064" y="2510028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296656" y="2907975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8296656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8817498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Split slides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8132064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8132064" y="3991356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296656" y="4389303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8296656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500" dirty="0"/>
          </a:p>
        </p:txBody>
      </p:sp>
      <p:sp>
        <p:nvSpPr>
          <p:cNvPr id="28" name="Text 26"/>
          <p:cNvSpPr txBox="1"/>
          <p:nvPr/>
        </p:nvSpPr>
        <p:spPr>
          <a:xfrm>
            <a:off x="8817498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Layout objects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4386072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4386072" y="3991356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550664" y="4389303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4550664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500" dirty="0"/>
          </a:p>
        </p:txBody>
      </p:sp>
      <p:sp>
        <p:nvSpPr>
          <p:cNvPr id="33" name="Text 31"/>
          <p:cNvSpPr txBox="1"/>
          <p:nvPr/>
        </p:nvSpPr>
        <p:spPr>
          <a:xfrm>
            <a:off x="5071506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Validate overflow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0080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640080" y="3991356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804672" y="4389303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804672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</a:t>
            </a:r>
            <a:endParaRPr lang="en-US" sz="1500" dirty="0"/>
          </a:p>
        </p:txBody>
      </p:sp>
      <p:sp>
        <p:nvSpPr>
          <p:cNvPr id="38" name="Text 36"/>
          <p:cNvSpPr txBox="1"/>
          <p:nvPr/>
        </p:nvSpPr>
        <p:spPr>
          <a:xfrm>
            <a:off x="1325514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Render PPTX HTML PDF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14400" y="1463040"/>
            <a:ext cx="10241280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Table Coherence</a:t>
            </a:r>
            <a:endParaRPr lang="en-US" sz="34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463040"/>
          <a:ext cx="10241280" cy="4480560"/>
        </p:xfrm>
        <a:graphic>
          <a:graphicData uri="http://schemas.openxmlformats.org/drawingml/2006/table">
            <a:tbl>
              <a:tblPr/>
              <a:tblGrid>
                <a:gridCol w="3413760"/>
                <a:gridCol w="3413760"/>
                <a:gridCol w="3413760"/>
              </a:tblGrid>
              <a:tr h="8961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Object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Renderer expectation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QA signal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</a:tr>
              <a:tr h="8961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Text box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editable, middle aligned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readable minimum size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961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Table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native table object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header fill and cell padding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</a:tr>
              <a:tr h="8961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Diagram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nodes and connectors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no clipped labels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961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Chart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theme-colored data object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contrast and value clarity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41248" y="1517904"/>
            <a:ext cx="3822192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956048" y="1426464"/>
            <a:ext cx="6199632" cy="440740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956048" y="1426464"/>
            <a:ext cx="6199632" cy="440740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Chart and Table Pair</a:t>
            </a:r>
            <a:endParaRPr lang="en-US" sz="340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1627632"/>
            <a:ext cx="3675888" cy="400507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Numeric evidence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 and table stay side by side.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Data density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values remain readable without shrinking below floor.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Comparison goal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coverage and defects are visible together.</a:t>
            </a:r>
            <a:endParaRPr lang="en-US" sz="22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5084064" y="1572768"/>
          <a:ext cx="594360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14400" y="1463040"/>
            <a:ext cx="10241280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Chart and Table Pair (Cont. 2/2)</a:t>
            </a:r>
            <a:endParaRPr lang="en-US" sz="34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463040"/>
          <a:ext cx="10241280" cy="4480560"/>
        </p:xfrm>
        <a:graphic>
          <a:graphicData uri="http://schemas.openxmlformats.org/drawingml/2006/table">
            <a:tbl>
              <a:tblPr/>
              <a:tblGrid>
                <a:gridCol w="3413760"/>
                <a:gridCol w="3413760"/>
                <a:gridCol w="3413760"/>
              </a:tblGrid>
              <a:tr h="1120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Stage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Coverage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Defects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</a:tr>
              <a:tr h="11201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Parser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2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92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2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201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Layout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2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88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2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</a:tr>
              <a:tr h="11201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PPTX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2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95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2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3434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914400" y="1417320"/>
            <a:ext cx="10241280" cy="43434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5" name="Text 2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Editable Proof Objects</a:t>
            </a:r>
            <a:endParaRPr lang="en-US" sz="3400" dirty="0"/>
          </a:p>
        </p:txBody>
      </p:sp>
      <p:sp>
        <p:nvSpPr>
          <p:cNvPr id="6" name="Shape 3"/>
          <p:cNvSpPr/>
          <p:nvPr/>
        </p:nvSpPr>
        <p:spPr>
          <a:xfrm>
            <a:off x="1309713" y="2551322"/>
            <a:ext cx="2075395" cy="2075395"/>
          </a:xfrm>
          <a:prstGeom prst="blockArc">
            <a:avLst>
              <a:gd name="adj1" fmla="val 0"/>
              <a:gd name="adj2" fmla="val 21540000"/>
              <a:gd name="adj3" fmla="val 12000"/>
            </a:avLst>
          </a:prstGeom>
          <a:solidFill>
            <a:srgbClr val="E2E8F0">
              <a:alpha val="8200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309713" y="2551322"/>
            <a:ext cx="2075395" cy="2075395"/>
          </a:xfrm>
          <a:prstGeom prst="blockArc">
            <a:avLst>
              <a:gd name="adj1" fmla="val 16200000"/>
              <a:gd name="adj2" fmla="val 21540000"/>
              <a:gd name="adj3" fmla="val 12000"/>
            </a:avLst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309713" y="2551322"/>
            <a:ext cx="2075395" cy="2075395"/>
          </a:xfrm>
          <a:prstGeom prst="blockArc">
            <a:avLst>
              <a:gd name="adj1" fmla="val 0"/>
              <a:gd name="adj2" fmla="val 12780000"/>
              <a:gd name="adj3" fmla="val 12000"/>
            </a:avLst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514348" y="3049296"/>
            <a:ext cx="145278" cy="145278"/>
          </a:xfrm>
          <a:prstGeom prst="ellipse">
            <a:avLst/>
          </a:prstGeom>
          <a:solidFill>
            <a:srgbClr val="DBEAFE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704039" y="2945647"/>
            <a:ext cx="1286745" cy="1286745"/>
          </a:xfrm>
          <a:prstGeom prst="ellipse">
            <a:avLst/>
          </a:prstGeom>
          <a:solidFill>
            <a:srgbClr val="F8FAFC"/>
          </a:solidFill>
          <a:ln w="12700">
            <a:solidFill>
              <a:srgbClr val="F8FAFC">
                <a:alpha val="0"/>
              </a:srgbClr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766300" y="3236203"/>
            <a:ext cx="1162221" cy="49809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84%</a:t>
            </a:r>
            <a:endParaRPr lang="en-US" sz="3000" dirty="0"/>
          </a:p>
        </p:txBody>
      </p:sp>
      <p:sp>
        <p:nvSpPr>
          <p:cNvPr id="12" name="Text 9"/>
          <p:cNvSpPr txBox="1"/>
          <p:nvPr/>
        </p:nvSpPr>
        <p:spPr>
          <a:xfrm>
            <a:off x="1683285" y="3755052"/>
            <a:ext cx="1328253" cy="3735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4755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Coverage</a:t>
            </a:r>
            <a:endParaRPr lang="en-US" sz="1600" dirty="0"/>
          </a:p>
        </p:txBody>
      </p:sp>
      <p:sp>
        <p:nvSpPr>
          <p:cNvPr id="13" name="Shape 10"/>
          <p:cNvSpPr/>
          <p:nvPr/>
        </p:nvSpPr>
        <p:spPr>
          <a:xfrm>
            <a:off x="3796589" y="2567178"/>
            <a:ext cx="137160" cy="137160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025189" y="2416302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Validated 84%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3796589" y="3006090"/>
            <a:ext cx="137160" cy="137160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025189" y="2855214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4755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Remaining 16%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6658990" y="3835908"/>
            <a:ext cx="4051962" cy="256032"/>
          </a:xfrm>
          <a:prstGeom prst="roundRect">
            <a:avLst>
              <a:gd name="adj" fmla="val 28571"/>
            </a:avLst>
          </a:prstGeom>
          <a:solidFill>
            <a:srgbClr val="E2E8F0">
              <a:alpha val="8500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6658990" y="3835908"/>
            <a:ext cx="3687286" cy="256032"/>
          </a:xfrm>
          <a:prstGeom prst="roundRect">
            <a:avLst>
              <a:gd name="adj" fmla="val 28571"/>
            </a:avLst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10346276" y="3433572"/>
            <a:ext cx="0" cy="969264"/>
          </a:xfrm>
          <a:prstGeom prst="line">
            <a:avLst/>
          </a:prstGeom>
          <a:noFill/>
          <a:ln w="12700">
            <a:solidFill>
              <a:srgbClr val="111827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10199972" y="3817620"/>
            <a:ext cx="292608" cy="292608"/>
          </a:xfrm>
          <a:prstGeom prst="ellipse">
            <a:avLst/>
          </a:prstGeom>
          <a:solidFill>
            <a:srgbClr val="F8FAFC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6658990" y="3744468"/>
            <a:ext cx="0" cy="438912"/>
          </a:xfrm>
          <a:prstGeom prst="line">
            <a:avLst/>
          </a:prstGeom>
          <a:noFill/>
          <a:ln w="12700">
            <a:solidFill>
              <a:srgbClr val="E2E8F0">
                <a:alpha val="95000"/>
              </a:srgbClr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10710952" y="3744468"/>
            <a:ext cx="0" cy="438912"/>
          </a:xfrm>
          <a:prstGeom prst="line">
            <a:avLst/>
          </a:prstGeom>
          <a:noFill/>
          <a:ln w="12700">
            <a:solidFill>
              <a:srgbClr val="E2E8F0">
                <a:alpha val="95000"/>
              </a:srgbClr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7955618" y="2217420"/>
            <a:ext cx="145870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91%</a:t>
            </a:r>
            <a:endParaRPr lang="en-US" sz="3200" dirty="0"/>
          </a:p>
        </p:txBody>
      </p:sp>
      <p:sp>
        <p:nvSpPr>
          <p:cNvPr id="24" name="Text 21"/>
          <p:cNvSpPr txBox="1"/>
          <p:nvPr/>
        </p:nvSpPr>
        <p:spPr>
          <a:xfrm>
            <a:off x="6658990" y="4530852"/>
            <a:ext cx="405196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4755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Score · Readiness</a:t>
            </a:r>
            <a:endParaRPr lang="en-US" sz="1700" dirty="0"/>
          </a:p>
        </p:txBody>
      </p:sp>
      <p:sp>
        <p:nvSpPr>
          <p:cNvPr id="25" name="Text 22"/>
          <p:cNvSpPr txBox="1"/>
          <p:nvPr/>
        </p:nvSpPr>
        <p:spPr>
          <a:xfrm>
            <a:off x="6658990" y="413766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4755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10162312" y="413766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4755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100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3434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914400" y="1417320"/>
            <a:ext cx="10241280" cy="43434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5" name="Text 2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Editable Proof Objects (Cont. 2/2)</a:t>
            </a:r>
            <a:endParaRPr lang="en-US" sz="3400" dirty="0"/>
          </a:p>
        </p:txBody>
      </p:sp>
      <p:sp>
        <p:nvSpPr>
          <p:cNvPr id="6" name="Shape 3"/>
          <p:cNvSpPr/>
          <p:nvPr/>
        </p:nvSpPr>
        <p:spPr>
          <a:xfrm>
            <a:off x="1078992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280160" y="4347972"/>
            <a:ext cx="593815" cy="128016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1261872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Parse</a:t>
            </a:r>
            <a:endParaRPr lang="en-US" sz="1800" dirty="0"/>
          </a:p>
        </p:txBody>
      </p:sp>
      <p:sp>
        <p:nvSpPr>
          <p:cNvPr id="9" name="Text 6"/>
          <p:cNvSpPr txBox="1"/>
          <p:nvPr/>
        </p:nvSpPr>
        <p:spPr>
          <a:xfrm>
            <a:off x="1261872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30%</a:t>
            </a:r>
            <a:endParaRPr lang="en-US" sz="2800" dirty="0"/>
          </a:p>
        </p:txBody>
      </p:sp>
      <p:sp>
        <p:nvSpPr>
          <p:cNvPr id="10" name="Shape 7"/>
          <p:cNvSpPr/>
          <p:nvPr/>
        </p:nvSpPr>
        <p:spPr>
          <a:xfrm>
            <a:off x="3628705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3829873" y="4347972"/>
            <a:ext cx="1227218" cy="128016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3811585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Plan</a:t>
            </a:r>
            <a:endParaRPr lang="en-US" sz="1800" dirty="0"/>
          </a:p>
        </p:txBody>
      </p:sp>
      <p:sp>
        <p:nvSpPr>
          <p:cNvPr id="13" name="Text 10"/>
          <p:cNvSpPr txBox="1"/>
          <p:nvPr/>
        </p:nvSpPr>
        <p:spPr>
          <a:xfrm>
            <a:off x="3811585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DBEAF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62%</a:t>
            </a:r>
            <a:endParaRPr lang="en-US" sz="2800" dirty="0"/>
          </a:p>
        </p:txBody>
      </p:sp>
      <p:sp>
        <p:nvSpPr>
          <p:cNvPr id="14" name="Shape 11"/>
          <p:cNvSpPr/>
          <p:nvPr/>
        </p:nvSpPr>
        <p:spPr>
          <a:xfrm>
            <a:off x="6178418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6379586" y="4347972"/>
            <a:ext cx="1702270" cy="128016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361298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Render</a:t>
            </a:r>
            <a:endParaRPr lang="en-US" sz="1800" dirty="0"/>
          </a:p>
        </p:txBody>
      </p:sp>
      <p:sp>
        <p:nvSpPr>
          <p:cNvPr id="17" name="Text 14"/>
          <p:cNvSpPr txBox="1"/>
          <p:nvPr/>
        </p:nvSpPr>
        <p:spPr>
          <a:xfrm>
            <a:off x="6361298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86%</a:t>
            </a:r>
            <a:endParaRPr lang="en-US" sz="2800" dirty="0"/>
          </a:p>
        </p:txBody>
      </p:sp>
      <p:sp>
        <p:nvSpPr>
          <p:cNvPr id="18" name="Shape 15"/>
          <p:cNvSpPr/>
          <p:nvPr/>
        </p:nvSpPr>
        <p:spPr>
          <a:xfrm>
            <a:off x="8728131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8929299" y="4347972"/>
            <a:ext cx="1860621" cy="128016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8911011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Review</a:t>
            </a:r>
            <a:endParaRPr lang="en-US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8911011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94%</a:t>
            </a:r>
            <a:endParaRPr lang="en-US" sz="2800" dirty="0"/>
          </a:p>
        </p:txBody>
      </p:sp>
      <p:sp>
        <p:nvSpPr>
          <p:cNvPr id="22" name="Shape 19"/>
          <p:cNvSpPr/>
          <p:nvPr/>
        </p:nvSpPr>
        <p:spPr>
          <a:xfrm>
            <a:off x="3285375" y="3589020"/>
            <a:ext cx="399904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tailEnd type="triangle"/>
          </a:ln>
        </p:spPr>
      </p:sp>
      <p:sp>
        <p:nvSpPr>
          <p:cNvPr id="23" name="Shape 20"/>
          <p:cNvSpPr/>
          <p:nvPr/>
        </p:nvSpPr>
        <p:spPr>
          <a:xfrm>
            <a:off x="5835088" y="3589020"/>
            <a:ext cx="399904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tailEnd type="triangle"/>
          </a:ln>
        </p:spPr>
      </p:sp>
      <p:sp>
        <p:nvSpPr>
          <p:cNvPr id="24" name="Shape 21"/>
          <p:cNvSpPr/>
          <p:nvPr/>
        </p:nvSpPr>
        <p:spPr>
          <a:xfrm>
            <a:off x="8384801" y="3589020"/>
            <a:ext cx="399904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tailEnd type="triangle"/>
          </a:ln>
        </p:spPr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14400" y="1463040"/>
            <a:ext cx="10241280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Shape Grammar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987552" y="1572768"/>
            <a:ext cx="10094976" cy="426110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Method flag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short high-level step.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Ticket panel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document-like evidence.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Two-corner panel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linear grouping.</a:t>
            </a:r>
            <a:endParaRPr lang="en-US" sz="2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Shape Grammar (Cont. 2/2)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Notched panel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technical constraint or code-like object.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Rounded panel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neutral fallback surface.</a:t>
            </a:r>
            <a:endParaRPr lang="en-US" sz="2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14" name="Shape 8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5" name="Text 9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and Text Aside</a:t>
            </a:r>
            <a:endParaRPr lang="en-US" sz="3400" dirty="0"/>
          </a:p>
        </p:txBody>
      </p:sp>
      <p:sp>
        <p:nvSpPr>
          <p:cNvPr id="16" name="Shape 10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17" name="Image 4" descr="article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16893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role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quiet monochrome anchor.</a:t>
            </a:r>
            <a:endParaRPr lang="en-US" sz="2200" dirty="0"/>
          </a:p>
        </p:txBody>
      </p:sp>
      <p:sp>
        <p:nvSpPr>
          <p:cNvPr id="19" name="Shape 12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20" name="Image 5" descr="artic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21" name="Text 13"/>
          <p:cNvSpPr txBox="1"/>
          <p:nvPr/>
        </p:nvSpPr>
        <p:spPr>
          <a:xfrm>
            <a:off x="71757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scale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secondary to title and body text.</a:t>
            </a:r>
            <a:endParaRPr lang="en-US" sz="2200" dirty="0"/>
          </a:p>
        </p:txBody>
      </p:sp>
      <p:sp>
        <p:nvSpPr>
          <p:cNvPr id="22" name="Shape 14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23" name="Image 6" descr="article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24" name="Text 15"/>
          <p:cNvSpPr txBox="1"/>
          <p:nvPr/>
        </p:nvSpPr>
        <p:spPr>
          <a:xfrm>
            <a:off x="16893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Placement rule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icon never fills empty space alone.</a:t>
            </a:r>
            <a:endParaRPr lang="en-US" sz="2200" dirty="0"/>
          </a:p>
        </p:txBody>
      </p:sp>
      <p:sp>
        <p:nvSpPr>
          <p:cNvPr id="25" name="Shape 16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26" name="Image 7" descr="table icon from tabler-icons (MIT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27" name="Text 17"/>
          <p:cNvSpPr txBox="1"/>
          <p:nvPr/>
        </p:nvSpPr>
        <p:spPr>
          <a:xfrm>
            <a:off x="71757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Fit rule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icon and text share a stable center line.</a:t>
            </a:r>
            <a:endParaRPr lang="en-US" sz="2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14" name="Shape 8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5" name="Text 9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Overflow Guard</a:t>
            </a:r>
            <a:endParaRPr lang="en-US" sz="3400" dirty="0"/>
          </a:p>
        </p:txBody>
      </p:sp>
      <p:sp>
        <p:nvSpPr>
          <p:cNvPr id="16" name="Shape 10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17" name="Image 4" descr="verified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16893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Text fit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region bounds are validated before output.</a:t>
            </a:r>
            <a:endParaRPr lang="en-US" sz="2200" dirty="0"/>
          </a:p>
        </p:txBody>
      </p:sp>
      <p:sp>
        <p:nvSpPr>
          <p:cNvPr id="19" name="Shape 12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20" name="Image 5" descr="tab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21" name="Text 13"/>
          <p:cNvSpPr txBox="1"/>
          <p:nvPr/>
        </p:nvSpPr>
        <p:spPr>
          <a:xfrm>
            <a:off x="71757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Tables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cell text uses middle alignment and coherent margins.</a:t>
            </a:r>
            <a:endParaRPr lang="en-US" sz="2200" dirty="0"/>
          </a:p>
        </p:txBody>
      </p:sp>
      <p:sp>
        <p:nvSpPr>
          <p:cNvPr id="22" name="Shape 14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23" name="Image 6" descr="article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24" name="Text 15"/>
          <p:cNvSpPr txBox="1"/>
          <p:nvPr/>
        </p:nvSpPr>
        <p:spPr>
          <a:xfrm>
            <a:off x="16893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Continuation slides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dense content splits before unreadable shrink.</a:t>
            </a:r>
            <a:endParaRPr lang="en-US" sz="2200" dirty="0"/>
          </a:p>
        </p:txBody>
      </p:sp>
      <p:sp>
        <p:nvSpPr>
          <p:cNvPr id="25" name="Shape 16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26" name="Image 7" descr="article icon from tabler-icons (MIT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27" name="Text 17"/>
          <p:cNvSpPr txBox="1"/>
          <p:nvPr/>
        </p:nvSpPr>
        <p:spPr>
          <a:xfrm>
            <a:off x="71757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Cleanup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decorative-only bullets and empty artifacts are removed.</a:t>
            </a:r>
            <a:endParaRPr lang="en-US" sz="2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DBEAFE">
              <a:alpha val="80000"/>
            </a:srgbClr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3" name="Text 8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Actions Output Review</a:t>
            </a:r>
            <a:endParaRPr lang="en-US" sz="3400" dirty="0"/>
          </a:p>
        </p:txBody>
      </p:sp>
      <p:sp>
        <p:nvSpPr>
          <p:cNvPr id="14" name="Shape 9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15" name="Image 3" descr="flow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1699321" y="1957548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Workflow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Theme Preview builds this source across decoration styles.</a:t>
            </a:r>
            <a:endParaRPr lang="en-US" sz="2200" dirty="0"/>
          </a:p>
        </p:txBody>
      </p:sp>
      <p:sp>
        <p:nvSpPr>
          <p:cNvPr id="17" name="Shape 11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18" name="Image 4" descr="verified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1699321" y="3283428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Gallery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Pages shows each styled deck and object-check slide.</a:t>
            </a:r>
            <a:endParaRPr lang="en-US" sz="2200" dirty="0"/>
          </a:p>
        </p:txBody>
      </p:sp>
      <p:sp>
        <p:nvSpPr>
          <p:cNvPr id="20" name="Shape 13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21" name="Image 5" descr="spark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22" name="Text 14"/>
          <p:cNvSpPr txBox="1"/>
          <p:nvPr/>
        </p:nvSpPr>
        <p:spPr>
          <a:xfrm>
            <a:off x="1699321" y="4600164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Ownership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MDPR owns rendering; mdpr-skill may prepare hints.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111827"/>
      </a:dk1>
      <a:lt1>
        <a:srgbClr val="F8FAFC"/>
      </a:lt1>
      <a:dk2>
        <a:srgbClr val="475569"/>
      </a:dk2>
      <a:lt2>
        <a:srgbClr val="FFFFFF"/>
      </a:lt2>
      <a:accent1>
        <a:srgbClr val="2563EB"/>
      </a:accent1>
      <a:accent2>
        <a:srgbClr val="DBEAFE"/>
      </a:accent2>
      <a:accent3>
        <a:srgbClr val="2563EB"/>
      </a:accent3>
      <a:accent4>
        <a:srgbClr val="475569"/>
      </a:accent4>
      <a:accent5>
        <a:srgbClr val="E2E8F0"/>
      </a:accent5>
      <a:accent6>
        <a:srgbClr val="111827"/>
      </a:accent6>
      <a:hlink>
        <a:srgbClr val="2563EB"/>
      </a:hlink>
      <a:folHlink>
        <a:srgbClr val="DBEAFE"/>
      </a:folHlink>
    </a:clrScheme>
    <a:fontScheme name="Office">
      <a:majorFont>
        <a:latin typeface="Pretendar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retendard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mdpresent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MDPR Composition Grammar QA</dc:title>
  <dc:subject>Generated from Markdown through Presentation IR and Layout IR</dc:subject>
  <dc:creator>mdpresent</dc:creator>
  <cp:lastModifiedBy>mdpresent</cp:lastModifiedBy>
  <cp:revision>1</cp:revision>
  <dcterms:created xsi:type="dcterms:W3CDTF">2026-06-20T14:35:00Z</dcterms:created>
  <dcterms:modified xsi:type="dcterms:W3CDTF">2026-06-20T14:35:00Z</dcterms:modified>
</cp:coreProperties>
</file>