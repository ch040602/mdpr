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Current</c:v>
                </c:pt>
              </c:strCache>
            </c:strRef>
          </c:tx>
          <c:spPr>
            <a:solidFill>
              <a:srgbClr val="0F76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Styles</c:v>
                  </c:pt>
                  <c:pt idx="1">
                    <c:v>Patterns</c:v>
                  </c:pt>
                  <c:pt idx="2">
                    <c:v>Object families</c:v>
                  </c:pt>
                  <c:pt idx="3">
                    <c:v>Checks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</c:v>
                </c:pt>
                <c:pt idx="1">
                  <c:v>36</c:v>
                </c:pt>
                <c:pt idx="2">
                  <c:v>12</c:v>
                </c:pt>
                <c:pt idx="3">
                  <c:v>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11111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BCCDD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919191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5" Type="http://schemas.openxmlformats.org/officeDocument/2006/relationships/chart" Target="/ppt/charts/chart1.xml"/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image" Target="../media/image-1-3.png"/><Relationship Id="rId4" Type="http://schemas.openxmlformats.org/officeDocument/2006/relationships/image" Target="../media/image-1-4.sv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30352"/>
            <a:ext cx="0" cy="5797296"/>
          </a:xfrm>
          <a:prstGeom prst="line">
            <a:avLst/>
          </a:prstGeom>
          <a:noFill/>
          <a:ln w="12700">
            <a:solidFill>
              <a:srgbClr val="BCCDD8">
                <a:alpha val="18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61288" y="530352"/>
            <a:ext cx="0" cy="5797296"/>
          </a:xfrm>
          <a:prstGeom prst="line">
            <a:avLst/>
          </a:prstGeom>
          <a:noFill/>
          <a:ln w="12700">
            <a:solidFill>
              <a:srgbClr val="BCCDD8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28216" y="530352"/>
            <a:ext cx="0" cy="5797296"/>
          </a:xfrm>
          <a:prstGeom prst="line">
            <a:avLst/>
          </a:prstGeom>
          <a:noFill/>
          <a:ln w="12700">
            <a:solidFill>
              <a:srgbClr val="BCCDD8">
                <a:alpha val="1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295144" y="530352"/>
            <a:ext cx="0" cy="5797296"/>
          </a:xfrm>
          <a:prstGeom prst="line">
            <a:avLst/>
          </a:prstGeom>
          <a:noFill/>
          <a:ln w="12700">
            <a:solidFill>
              <a:srgbClr val="BCCDD8">
                <a:alpha val="1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862072" y="530352"/>
            <a:ext cx="0" cy="5797296"/>
          </a:xfrm>
          <a:prstGeom prst="line">
            <a:avLst/>
          </a:prstGeom>
          <a:noFill/>
          <a:ln w="12700">
            <a:solidFill>
              <a:srgbClr val="BCCDD8">
                <a:alpha val="18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29000" y="530352"/>
            <a:ext cx="0" cy="5797296"/>
          </a:xfrm>
          <a:prstGeom prst="line">
            <a:avLst/>
          </a:prstGeom>
          <a:noFill/>
          <a:ln w="12700">
            <a:solidFill>
              <a:srgbClr val="BCCDD8">
                <a:alpha val="1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995928" y="530352"/>
            <a:ext cx="0" cy="5797296"/>
          </a:xfrm>
          <a:prstGeom prst="line">
            <a:avLst/>
          </a:prstGeom>
          <a:noFill/>
          <a:ln w="12700">
            <a:solidFill>
              <a:srgbClr val="BCCDD8">
                <a:alpha val="18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62856" y="530352"/>
            <a:ext cx="0" cy="5797296"/>
          </a:xfrm>
          <a:prstGeom prst="line">
            <a:avLst/>
          </a:prstGeom>
          <a:noFill/>
          <a:ln w="12700">
            <a:solidFill>
              <a:srgbClr val="BCCDD8">
                <a:alpha val="1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129784" y="530352"/>
            <a:ext cx="0" cy="5797296"/>
          </a:xfrm>
          <a:prstGeom prst="line">
            <a:avLst/>
          </a:prstGeom>
          <a:noFill/>
          <a:ln w="12700">
            <a:solidFill>
              <a:srgbClr val="BCCDD8">
                <a:alpha val="18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96712" y="530352"/>
            <a:ext cx="0" cy="5797296"/>
          </a:xfrm>
          <a:prstGeom prst="line">
            <a:avLst/>
          </a:prstGeom>
          <a:noFill/>
          <a:ln w="12700">
            <a:solidFill>
              <a:srgbClr val="BCCDD8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63640" y="530352"/>
            <a:ext cx="0" cy="5797296"/>
          </a:xfrm>
          <a:prstGeom prst="line">
            <a:avLst/>
          </a:prstGeom>
          <a:noFill/>
          <a:ln w="12700">
            <a:solidFill>
              <a:srgbClr val="BCCDD8">
                <a:alpha val="18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30568" y="530352"/>
            <a:ext cx="0" cy="5797296"/>
          </a:xfrm>
          <a:prstGeom prst="line">
            <a:avLst/>
          </a:prstGeom>
          <a:noFill/>
          <a:ln w="12700">
            <a:solidFill>
              <a:srgbClr val="BCCDD8">
                <a:alpha val="18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97496" y="530352"/>
            <a:ext cx="0" cy="5797296"/>
          </a:xfrm>
          <a:prstGeom prst="line">
            <a:avLst/>
          </a:prstGeom>
          <a:noFill/>
          <a:ln w="12700">
            <a:solidFill>
              <a:srgbClr val="BCCDD8">
                <a:alpha val="18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64424" y="530352"/>
            <a:ext cx="0" cy="5797296"/>
          </a:xfrm>
          <a:prstGeom prst="line">
            <a:avLst/>
          </a:prstGeom>
          <a:noFill/>
          <a:ln w="12700">
            <a:solidFill>
              <a:srgbClr val="BCCDD8">
                <a:alpha val="18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31352" y="530352"/>
            <a:ext cx="0" cy="5797296"/>
          </a:xfrm>
          <a:prstGeom prst="line">
            <a:avLst/>
          </a:prstGeom>
          <a:noFill/>
          <a:ln w="12700">
            <a:solidFill>
              <a:srgbClr val="BCCDD8">
                <a:alpha val="18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098280" y="530352"/>
            <a:ext cx="0" cy="5797296"/>
          </a:xfrm>
          <a:prstGeom prst="line">
            <a:avLst/>
          </a:prstGeom>
          <a:noFill/>
          <a:ln w="12700">
            <a:solidFill>
              <a:srgbClr val="BCCDD8">
                <a:alpha val="18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665208" y="530352"/>
            <a:ext cx="0" cy="5797296"/>
          </a:xfrm>
          <a:prstGeom prst="line">
            <a:avLst/>
          </a:prstGeom>
          <a:noFill/>
          <a:ln w="12700">
            <a:solidFill>
              <a:srgbClr val="BCCDD8">
                <a:alpha val="18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232136" y="530352"/>
            <a:ext cx="0" cy="5797296"/>
          </a:xfrm>
          <a:prstGeom prst="line">
            <a:avLst/>
          </a:prstGeom>
          <a:noFill/>
          <a:ln w="12700">
            <a:solidFill>
              <a:srgbClr val="BCCDD8">
                <a:alpha val="18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799064" y="530352"/>
            <a:ext cx="0" cy="5797296"/>
          </a:xfrm>
          <a:prstGeom prst="line">
            <a:avLst/>
          </a:prstGeom>
          <a:noFill/>
          <a:ln w="12700">
            <a:solidFill>
              <a:srgbClr val="BCCDD8">
                <a:alpha val="18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365992" y="530352"/>
            <a:ext cx="0" cy="5797296"/>
          </a:xfrm>
          <a:prstGeom prst="line">
            <a:avLst/>
          </a:prstGeom>
          <a:noFill/>
          <a:ln w="12700">
            <a:solidFill>
              <a:srgbClr val="BCCDD8">
                <a:alpha val="18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94360" y="530352"/>
            <a:ext cx="11002975" cy="0"/>
          </a:xfrm>
          <a:prstGeom prst="line">
            <a:avLst/>
          </a:prstGeom>
          <a:noFill/>
          <a:ln w="12700">
            <a:solidFill>
              <a:srgbClr val="BCCDD8">
                <a:alpha val="16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" y="1097280"/>
            <a:ext cx="11002975" cy="0"/>
          </a:xfrm>
          <a:prstGeom prst="line">
            <a:avLst/>
          </a:prstGeom>
          <a:noFill/>
          <a:ln w="12700">
            <a:solidFill>
              <a:srgbClr val="BCCDD8">
                <a:alpha val="16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" y="1664208"/>
            <a:ext cx="11002975" cy="0"/>
          </a:xfrm>
          <a:prstGeom prst="line">
            <a:avLst/>
          </a:prstGeom>
          <a:noFill/>
          <a:ln w="12700">
            <a:solidFill>
              <a:srgbClr val="BCCDD8">
                <a:alpha val="16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" y="2231136"/>
            <a:ext cx="11002975" cy="0"/>
          </a:xfrm>
          <a:prstGeom prst="line">
            <a:avLst/>
          </a:prstGeom>
          <a:noFill/>
          <a:ln w="12700">
            <a:solidFill>
              <a:srgbClr val="BCCDD8">
                <a:alpha val="16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2798064"/>
            <a:ext cx="11002975" cy="0"/>
          </a:xfrm>
          <a:prstGeom prst="line">
            <a:avLst/>
          </a:prstGeom>
          <a:noFill/>
          <a:ln w="12700">
            <a:solidFill>
              <a:srgbClr val="BCCDD8">
                <a:alpha val="16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94360" y="3364992"/>
            <a:ext cx="11002975" cy="0"/>
          </a:xfrm>
          <a:prstGeom prst="line">
            <a:avLst/>
          </a:prstGeom>
          <a:noFill/>
          <a:ln w="12700">
            <a:solidFill>
              <a:srgbClr val="BCCDD8">
                <a:alpha val="16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" y="3931920"/>
            <a:ext cx="11002975" cy="0"/>
          </a:xfrm>
          <a:prstGeom prst="line">
            <a:avLst/>
          </a:prstGeom>
          <a:noFill/>
          <a:ln w="12700">
            <a:solidFill>
              <a:srgbClr val="BCCDD8">
                <a:alpha val="16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" y="4498848"/>
            <a:ext cx="11002975" cy="0"/>
          </a:xfrm>
          <a:prstGeom prst="line">
            <a:avLst/>
          </a:prstGeom>
          <a:noFill/>
          <a:ln w="12700">
            <a:solidFill>
              <a:srgbClr val="BCCDD8">
                <a:alpha val="16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" y="5065776"/>
            <a:ext cx="11002975" cy="0"/>
          </a:xfrm>
          <a:prstGeom prst="line">
            <a:avLst/>
          </a:prstGeom>
          <a:noFill/>
          <a:ln w="12700">
            <a:solidFill>
              <a:srgbClr val="BCCDD8">
                <a:alpha val="16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" y="5632704"/>
            <a:ext cx="11002975" cy="0"/>
          </a:xfrm>
          <a:prstGeom prst="line">
            <a:avLst/>
          </a:prstGeom>
          <a:noFill/>
          <a:ln w="12700">
            <a:solidFill>
              <a:srgbClr val="BCCDD8">
                <a:alpha val="16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" y="6199632"/>
            <a:ext cx="11002975" cy="0"/>
          </a:xfrm>
          <a:prstGeom prst="line">
            <a:avLst/>
          </a:prstGeom>
          <a:noFill/>
          <a:ln w="12700">
            <a:solidFill>
              <a:srgbClr val="BCCDD8">
                <a:alpha val="16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600639" y="457200"/>
            <a:ext cx="914400" cy="256032"/>
          </a:xfrm>
          <a:prstGeom prst="roundRect">
            <a:avLst>
              <a:gd name="adj" fmla="val 14286"/>
            </a:avLst>
          </a:prstGeom>
          <a:solidFill>
            <a:srgbClr val="0F766E">
              <a:alpha val="92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pic>
        <p:nvPicPr>
          <p:cNvPr id="3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333488" y="1060704"/>
            <a:ext cx="4160520" cy="2011680"/>
          </a:xfrm>
          <a:prstGeom prst="rect">
            <a:avLst/>
          </a:prstGeom>
        </p:spPr>
      </p:pic>
      <p:sp>
        <p:nvSpPr>
          <p:cNvPr id="36" name="Shape 33"/>
          <p:cNvSpPr/>
          <p:nvPr/>
        </p:nvSpPr>
        <p:spPr>
          <a:xfrm>
            <a:off x="7333488" y="1060704"/>
            <a:ext cx="4160520" cy="2011680"/>
          </a:xfrm>
          <a:prstGeom prst="rect">
            <a:avLst/>
          </a:prstGeom>
          <a:solidFill>
            <a:srgbClr val="FBFCFD">
              <a:alpha val="0"/>
            </a:srgbClr>
          </a:solidFill>
          <a:ln w="12700">
            <a:solidFill>
              <a:srgbClr val="BCCDD8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37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333488" y="3264408"/>
            <a:ext cx="4160520" cy="2487168"/>
          </a:xfrm>
          <a:prstGeom prst="rect">
            <a:avLst/>
          </a:prstGeom>
        </p:spPr>
      </p:pic>
      <p:sp>
        <p:nvSpPr>
          <p:cNvPr id="38" name="Shape 34"/>
          <p:cNvSpPr/>
          <p:nvPr/>
        </p:nvSpPr>
        <p:spPr>
          <a:xfrm>
            <a:off x="7333488" y="3264408"/>
            <a:ext cx="4160520" cy="2487168"/>
          </a:xfrm>
          <a:prstGeom prst="rect">
            <a:avLst/>
          </a:prstGeom>
          <a:solidFill>
            <a:srgbClr val="FBFCFD">
              <a:alpha val="0"/>
            </a:srgbClr>
          </a:solidFill>
          <a:ln w="12700">
            <a:solidFill>
              <a:srgbClr val="BCCDD8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39" name="Shape 35"/>
          <p:cNvSpPr/>
          <p:nvPr/>
        </p:nvSpPr>
        <p:spPr>
          <a:xfrm>
            <a:off x="658368" y="3154680"/>
            <a:ext cx="63093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0" name="mdpr:mdpr-markdown-to-editable-pptx-de2396:title:__title:mdpr-markdown-to-editable-pptx-de2396"/>
          <p:cNvSpPr txBox="1"/>
          <p:nvPr/>
        </p:nvSpPr>
        <p:spPr>
          <a:xfrm>
            <a:off x="731520" y="310896"/>
            <a:ext cx="10698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MDPR: Markdown to Editable PPTX</a:t>
            </a:r>
            <a:endParaRPr lang="en-US" sz="3200" dirty="0"/>
          </a:p>
        </p:txBody>
      </p:sp>
      <p:sp>
        <p:nvSpPr>
          <p:cNvPr id="41" name="Shape 37"/>
          <p:cNvSpPr/>
          <p:nvPr/>
        </p:nvSpPr>
        <p:spPr>
          <a:xfrm>
            <a:off x="2506828" y="1472184"/>
            <a:ext cx="405689" cy="0"/>
          </a:xfrm>
          <a:prstGeom prst="line">
            <a:avLst/>
          </a:prstGeom>
          <a:noFill/>
          <a:ln w="12700">
            <a:solidFill>
              <a:srgbClr val="9E4C0F"/>
            </a:solidFill>
            <a:prstDash val="solid"/>
            <a:tailEnd type="triangle"/>
          </a:ln>
        </p:spPr>
      </p:sp>
      <p:sp>
        <p:nvSpPr>
          <p:cNvPr id="42" name="Shape 38"/>
          <p:cNvSpPr/>
          <p:nvPr/>
        </p:nvSpPr>
        <p:spPr>
          <a:xfrm>
            <a:off x="4713580" y="1472184"/>
            <a:ext cx="405689" cy="0"/>
          </a:xfrm>
          <a:prstGeom prst="line">
            <a:avLst/>
          </a:prstGeom>
          <a:noFill/>
          <a:ln w="12700">
            <a:solidFill>
              <a:srgbClr val="9E4C0F"/>
            </a:solidFill>
            <a:prstDash val="solid"/>
            <a:tailEnd type="triangle"/>
          </a:ln>
        </p:spPr>
      </p:sp>
      <p:sp>
        <p:nvSpPr>
          <p:cNvPr id="43" name="Shape 39"/>
          <p:cNvSpPr/>
          <p:nvPr/>
        </p:nvSpPr>
        <p:spPr>
          <a:xfrm>
            <a:off x="6019800" y="1846631"/>
            <a:ext cx="0" cy="384962"/>
          </a:xfrm>
          <a:prstGeom prst="line">
            <a:avLst/>
          </a:prstGeom>
          <a:noFill/>
          <a:ln w="12700">
            <a:solidFill>
              <a:srgbClr val="9E4C0F"/>
            </a:solidFill>
            <a:prstDash val="solid"/>
            <a:tailEnd type="triangle"/>
          </a:ln>
        </p:spPr>
      </p:sp>
      <p:sp>
        <p:nvSpPr>
          <p:cNvPr id="44" name="Shape 40"/>
          <p:cNvSpPr/>
          <p:nvPr/>
        </p:nvSpPr>
        <p:spPr>
          <a:xfrm>
            <a:off x="4713580" y="2606040"/>
            <a:ext cx="405689" cy="0"/>
          </a:xfrm>
          <a:prstGeom prst="line">
            <a:avLst/>
          </a:prstGeom>
          <a:noFill/>
          <a:ln w="12700">
            <a:solidFill>
              <a:srgbClr val="9E4C0F"/>
            </a:solidFill>
            <a:prstDash val="solid"/>
            <a:headEnd type="triangle"/>
          </a:ln>
        </p:spPr>
      </p:sp>
      <p:sp>
        <p:nvSpPr>
          <p:cNvPr id="45" name="Shape 41"/>
          <p:cNvSpPr/>
          <p:nvPr/>
        </p:nvSpPr>
        <p:spPr>
          <a:xfrm>
            <a:off x="658368" y="1060704"/>
            <a:ext cx="1895856" cy="822960"/>
          </a:xfrm>
          <a:prstGeom prst="roundRect">
            <a:avLst>
              <a:gd name="adj" fmla="val 6667"/>
            </a:avLst>
          </a:prstGeom>
          <a:solidFill>
            <a:srgbClr val="FBFCFD"/>
          </a:solidFill>
          <a:ln w="12700">
            <a:solidFill>
              <a:srgbClr val="0F766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46" name="Shape 42"/>
          <p:cNvSpPr/>
          <p:nvPr/>
        </p:nvSpPr>
        <p:spPr>
          <a:xfrm>
            <a:off x="658368" y="1060704"/>
            <a:ext cx="1895856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7" name="Shape 43"/>
          <p:cNvSpPr/>
          <p:nvPr/>
        </p:nvSpPr>
        <p:spPr>
          <a:xfrm>
            <a:off x="772119" y="1298448"/>
            <a:ext cx="347472" cy="347472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8" name="Text 44"/>
          <p:cNvSpPr txBox="1"/>
          <p:nvPr/>
        </p:nvSpPr>
        <p:spPr>
          <a:xfrm>
            <a:off x="772119" y="129844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400" dirty="0"/>
          </a:p>
        </p:txBody>
      </p:sp>
      <p:sp>
        <p:nvSpPr>
          <p:cNvPr id="49" name="Text 45"/>
          <p:cNvSpPr txBox="1"/>
          <p:nvPr/>
        </p:nvSpPr>
        <p:spPr>
          <a:xfrm>
            <a:off x="1265895" y="1188720"/>
            <a:ext cx="1123737" cy="56692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4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</a:t>
            </a:r>
            <a:endParaRPr lang="en-US" sz="1400" dirty="0"/>
          </a:p>
        </p:txBody>
      </p:sp>
      <p:sp>
        <p:nvSpPr>
          <p:cNvPr id="50" name="Shape 46"/>
          <p:cNvSpPr/>
          <p:nvPr/>
        </p:nvSpPr>
        <p:spPr>
          <a:xfrm>
            <a:off x="2865120" y="1060704"/>
            <a:ext cx="1895856" cy="822960"/>
          </a:xfrm>
          <a:prstGeom prst="roundRect">
            <a:avLst>
              <a:gd name="adj" fmla="val 6667"/>
            </a:avLst>
          </a:prstGeom>
          <a:solidFill>
            <a:srgbClr val="FBFCFD"/>
          </a:solidFill>
          <a:ln w="12700">
            <a:solidFill>
              <a:srgbClr val="0F766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51" name="Shape 47"/>
          <p:cNvSpPr/>
          <p:nvPr/>
        </p:nvSpPr>
        <p:spPr>
          <a:xfrm>
            <a:off x="2865120" y="1060704"/>
            <a:ext cx="1895856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2" name="Shape 48"/>
          <p:cNvSpPr/>
          <p:nvPr/>
        </p:nvSpPr>
        <p:spPr>
          <a:xfrm>
            <a:off x="2978871" y="1298448"/>
            <a:ext cx="347472" cy="347472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3" name="Text 49"/>
          <p:cNvSpPr txBox="1"/>
          <p:nvPr/>
        </p:nvSpPr>
        <p:spPr>
          <a:xfrm>
            <a:off x="2978871" y="129844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400" dirty="0"/>
          </a:p>
        </p:txBody>
      </p:sp>
      <p:sp>
        <p:nvSpPr>
          <p:cNvPr id="54" name="Text 50"/>
          <p:cNvSpPr txBox="1"/>
          <p:nvPr/>
        </p:nvSpPr>
        <p:spPr>
          <a:xfrm>
            <a:off x="3472647" y="1188720"/>
            <a:ext cx="1123737" cy="56692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4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IR</a:t>
            </a:r>
            <a:endParaRPr lang="en-US" sz="1400" dirty="0"/>
          </a:p>
        </p:txBody>
      </p:sp>
      <p:sp>
        <p:nvSpPr>
          <p:cNvPr id="55" name="Shape 51"/>
          <p:cNvSpPr/>
          <p:nvPr/>
        </p:nvSpPr>
        <p:spPr>
          <a:xfrm>
            <a:off x="5071872" y="1060704"/>
            <a:ext cx="1895856" cy="822960"/>
          </a:xfrm>
          <a:prstGeom prst="roundRect">
            <a:avLst>
              <a:gd name="adj" fmla="val 6667"/>
            </a:avLst>
          </a:prstGeom>
          <a:solidFill>
            <a:srgbClr val="FBFCFD"/>
          </a:solidFill>
          <a:ln w="12700">
            <a:solidFill>
              <a:srgbClr val="0F766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56" name="Shape 52"/>
          <p:cNvSpPr/>
          <p:nvPr/>
        </p:nvSpPr>
        <p:spPr>
          <a:xfrm>
            <a:off x="5071872" y="1060704"/>
            <a:ext cx="1895856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7" name="Shape 53"/>
          <p:cNvSpPr/>
          <p:nvPr/>
        </p:nvSpPr>
        <p:spPr>
          <a:xfrm>
            <a:off x="5185623" y="1298448"/>
            <a:ext cx="347472" cy="347472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8" name="Text 54"/>
          <p:cNvSpPr txBox="1"/>
          <p:nvPr/>
        </p:nvSpPr>
        <p:spPr>
          <a:xfrm>
            <a:off x="5185623" y="129844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400" dirty="0"/>
          </a:p>
        </p:txBody>
      </p:sp>
      <p:sp>
        <p:nvSpPr>
          <p:cNvPr id="59" name="Text 55"/>
          <p:cNvSpPr txBox="1"/>
          <p:nvPr/>
        </p:nvSpPr>
        <p:spPr>
          <a:xfrm>
            <a:off x="5679399" y="1188720"/>
            <a:ext cx="1123737" cy="56692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4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Grammar</a:t>
            </a:r>
            <a:endParaRPr lang="en-US" sz="1400" dirty="0"/>
          </a:p>
        </p:txBody>
      </p:sp>
      <p:sp>
        <p:nvSpPr>
          <p:cNvPr id="60" name="Shape 56"/>
          <p:cNvSpPr/>
          <p:nvPr/>
        </p:nvSpPr>
        <p:spPr>
          <a:xfrm>
            <a:off x="5071872" y="2194560"/>
            <a:ext cx="1895856" cy="822960"/>
          </a:xfrm>
          <a:prstGeom prst="roundRect">
            <a:avLst>
              <a:gd name="adj" fmla="val 6667"/>
            </a:avLst>
          </a:prstGeom>
          <a:solidFill>
            <a:srgbClr val="FBFCFD"/>
          </a:solidFill>
          <a:ln w="12700">
            <a:solidFill>
              <a:srgbClr val="0F766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61" name="Shape 57"/>
          <p:cNvSpPr/>
          <p:nvPr/>
        </p:nvSpPr>
        <p:spPr>
          <a:xfrm>
            <a:off x="5071872" y="2194560"/>
            <a:ext cx="1895856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62" name="Shape 58"/>
          <p:cNvSpPr/>
          <p:nvPr/>
        </p:nvSpPr>
        <p:spPr>
          <a:xfrm>
            <a:off x="5185623" y="2432304"/>
            <a:ext cx="347472" cy="347472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63" name="Text 59"/>
          <p:cNvSpPr txBox="1"/>
          <p:nvPr/>
        </p:nvSpPr>
        <p:spPr>
          <a:xfrm>
            <a:off x="5185623" y="243230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400" dirty="0"/>
          </a:p>
        </p:txBody>
      </p:sp>
      <p:sp>
        <p:nvSpPr>
          <p:cNvPr id="64" name="Text 60"/>
          <p:cNvSpPr txBox="1"/>
          <p:nvPr/>
        </p:nvSpPr>
        <p:spPr>
          <a:xfrm>
            <a:off x="5679399" y="2322576"/>
            <a:ext cx="1123737" cy="56692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4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Theme Tokens</a:t>
            </a:r>
            <a:endParaRPr lang="en-US" sz="1400" dirty="0"/>
          </a:p>
        </p:txBody>
      </p:sp>
      <p:sp>
        <p:nvSpPr>
          <p:cNvPr id="65" name="Shape 61"/>
          <p:cNvSpPr/>
          <p:nvPr/>
        </p:nvSpPr>
        <p:spPr>
          <a:xfrm>
            <a:off x="2865120" y="2194560"/>
            <a:ext cx="1895856" cy="822960"/>
          </a:xfrm>
          <a:prstGeom prst="roundRect">
            <a:avLst>
              <a:gd name="adj" fmla="val 6667"/>
            </a:avLst>
          </a:prstGeom>
          <a:solidFill>
            <a:srgbClr val="FBFCFD"/>
          </a:solidFill>
          <a:ln w="12700">
            <a:solidFill>
              <a:srgbClr val="0F766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66" name="Shape 62"/>
          <p:cNvSpPr/>
          <p:nvPr/>
        </p:nvSpPr>
        <p:spPr>
          <a:xfrm>
            <a:off x="2865120" y="2194560"/>
            <a:ext cx="1895856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67" name="Shape 63"/>
          <p:cNvSpPr/>
          <p:nvPr/>
        </p:nvSpPr>
        <p:spPr>
          <a:xfrm>
            <a:off x="2978871" y="2432304"/>
            <a:ext cx="347472" cy="347472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68" name="Text 64"/>
          <p:cNvSpPr txBox="1"/>
          <p:nvPr/>
        </p:nvSpPr>
        <p:spPr>
          <a:xfrm>
            <a:off x="2978871" y="243230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400" dirty="0"/>
          </a:p>
        </p:txBody>
      </p:sp>
      <p:sp>
        <p:nvSpPr>
          <p:cNvPr id="69" name="Text 65"/>
          <p:cNvSpPr txBox="1"/>
          <p:nvPr/>
        </p:nvSpPr>
        <p:spPr>
          <a:xfrm>
            <a:off x="3472647" y="2322576"/>
            <a:ext cx="1123737" cy="56692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4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PPTX</a:t>
            </a:r>
            <a:endParaRPr lang="en-US" sz="1400" dirty="0"/>
          </a:p>
        </p:txBody>
      </p:sp>
      <p:sp>
        <p:nvSpPr>
          <p:cNvPr id="70" name="mdpr:mdpr-markdown-to-editable-pptx-de2396:feature-summary:block-5"/>
          <p:cNvSpPr txBox="1"/>
          <p:nvPr/>
        </p:nvSpPr>
        <p:spPr>
          <a:xfrm>
            <a:off x="731520" y="3264408"/>
            <a:ext cx="6163056" cy="268833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PPTX first</a:t>
            </a:r>
            <a:pPr algn="l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editable slides, PNG previews, HTML/PDF exports.</a:t>
            </a:r>
            <a:endParaRPr lang="en-US" sz="14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No agent runtime</a:t>
            </a:r>
            <a:endParaRPr lang="en-US" sz="14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deterministic parse, split, layout, validation, render.</a:t>
            </a:r>
            <a:endParaRPr lang="en-US" sz="14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- 9 themes, 36+ patterns, 12 object families, chart/table/diagram/image/icon coverage.</a:t>
            </a:r>
            <a:endParaRPr lang="en-US" sz="14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Coherence checks</a:t>
            </a:r>
            <a:endParaRPr lang="en-US" sz="14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text bounds, graph containment, table fit, PPT theme colors.</a:t>
            </a:r>
            <a:endParaRPr lang="en-US" sz="1400" dirty="0"/>
          </a:p>
        </p:txBody>
      </p:sp>
      <p:graphicFrame>
        <p:nvGraphicFramePr>
          <p:cNvPr id="71" name="Chart 0" descr=""/>
          <p:cNvGraphicFramePr/>
          <p:nvPr/>
        </p:nvGraphicFramePr>
        <p:xfrm>
          <a:off x="7461504" y="1207008"/>
          <a:ext cx="3904488" cy="171907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graphicFrame>
        <p:nvGraphicFramePr>
          <p:cNvPr id="2" name="mdpr:mdpr-markdown-to-editable-pptx-de2396:table:block-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33488" y="3264408"/>
          <a:ext cx="4160520" cy="2487168"/>
        </p:xfrm>
        <a:graphic>
          <a:graphicData uri="http://schemas.openxmlformats.org/drawingml/2006/table">
            <a:tbl>
              <a:tblPr/>
              <a:tblGrid>
                <a:gridCol w="2080260"/>
                <a:gridCol w="2080260"/>
              </a:tblGrid>
              <a:tr h="12435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MDPR owns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Skill may hint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12435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layout, theme, objects, output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semantic grouping, review notes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11111"/>
      </a:dk1>
      <a:lt1>
        <a:srgbClr val="F8FAFC"/>
      </a:lt1>
      <a:dk2>
        <a:srgbClr val="919191"/>
      </a:dk2>
      <a:lt2>
        <a:srgbClr val="FBFCFD"/>
      </a:lt2>
      <a:accent1>
        <a:srgbClr val="0F766E"/>
      </a:accent1>
      <a:accent2>
        <a:srgbClr val="9E0F62"/>
      </a:accent2>
      <a:accent3>
        <a:srgbClr val="9E4C0F"/>
      </a:accent3>
      <a:accent4>
        <a:srgbClr val="15984D"/>
      </a:accent4>
      <a:accent5>
        <a:srgbClr val="156198"/>
      </a:accent5>
      <a:accent6>
        <a:srgbClr val="096760"/>
      </a:accent6>
      <a:hlink>
        <a:srgbClr val="0F766E"/>
      </a:hlink>
      <a:folHlink>
        <a:srgbClr val="9E0F62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mdpresent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MDPR: Markdown to Editable PPTX</dc:title>
  <dc:subject>Generated from Markdown through Presentation IR and Layout IR</dc:subject>
  <dc:creator>mdpresent</dc:creator>
  <cp:lastModifiedBy>mdpresent</cp:lastModifiedBy>
  <cp:revision>1</cp:revision>
  <dcterms:created xsi:type="dcterms:W3CDTF">2026-07-06T04:08:55Z</dcterms:created>
  <dcterms:modified xsi:type="dcterms:W3CDTF">2026-07-06T04:08:55Z</dcterms:modified>
</cp:coreProperties>
</file>