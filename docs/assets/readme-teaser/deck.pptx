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Current</c:v>
                </c:pt>
              </c:strCache>
            </c:strRef>
          </c:tx>
          <c:spPr>
            <a:solidFill>
              <a:srgbClr val="0F76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Styles</c:v>
                  </c:pt>
                  <c:pt idx="1">
                    <c:v>Patterns</c:v>
                  </c:pt>
                  <c:pt idx="2">
                    <c:v>Object families</c:v>
                  </c:pt>
                  <c:pt idx="3">
                    <c:v>Checks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</c:v>
                </c:pt>
                <c:pt idx="1">
                  <c:v>36</c:v>
                </c:pt>
                <c:pt idx="2">
                  <c:v>12</c:v>
                </c:pt>
                <c:pt idx="3">
                  <c:v>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11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BCCDD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19191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chart" Target="/ppt/charts/chart1.xml"/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image" Target="../media/image-1-3.png"/><Relationship Id="rId4" Type="http://schemas.openxmlformats.org/officeDocument/2006/relationships/image" Target="../media/image-1-4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BCCDD8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BCCDD8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BCCDD8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BCCDD8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BCCDD8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BCCDD8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BCCDD8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BCCDD8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BCCDD8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BCCDD8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BCCDD8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9E0F62">
              <a:alpha val="18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43800" y="1024128"/>
            <a:ext cx="4041648" cy="1700784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7543800" y="1024128"/>
            <a:ext cx="4041648" cy="1700784"/>
          </a:xfrm>
          <a:prstGeom prst="rect">
            <a:avLst/>
          </a:prstGeom>
          <a:solidFill>
            <a:srgbClr val="FBFCFD">
              <a:alpha val="0"/>
            </a:srgbClr>
          </a:solidFill>
          <a:ln w="12700">
            <a:solidFill>
              <a:srgbClr val="BCCDD8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3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543800" y="2980944"/>
            <a:ext cx="4041648" cy="2487168"/>
          </a:xfrm>
          <a:prstGeom prst="rect">
            <a:avLst/>
          </a:prstGeom>
        </p:spPr>
      </p:pic>
      <p:sp>
        <p:nvSpPr>
          <p:cNvPr id="40" name="Shape 36"/>
          <p:cNvSpPr/>
          <p:nvPr/>
        </p:nvSpPr>
        <p:spPr>
          <a:xfrm>
            <a:off x="7543800" y="2980944"/>
            <a:ext cx="4041648" cy="2487168"/>
          </a:xfrm>
          <a:prstGeom prst="rect">
            <a:avLst/>
          </a:prstGeom>
          <a:solidFill>
            <a:srgbClr val="FBFCFD">
              <a:alpha val="0"/>
            </a:srgbClr>
          </a:solidFill>
          <a:ln w="12700">
            <a:solidFill>
              <a:srgbClr val="BCCDD8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1" name="Shape 37"/>
          <p:cNvSpPr/>
          <p:nvPr/>
        </p:nvSpPr>
        <p:spPr>
          <a:xfrm>
            <a:off x="566928" y="3529584"/>
            <a:ext cx="6784848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2" name="mdpr:mdpr-markdown-to-editable-pptx-de2396:title:__title:mdpr-markdown-to-editable-pptx-de2396"/>
          <p:cNvSpPr txBox="1"/>
          <p:nvPr/>
        </p:nvSpPr>
        <p:spPr>
          <a:xfrm>
            <a:off x="731520" y="310896"/>
            <a:ext cx="10698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MDPR: Markdown to Editable PPTX</a:t>
            </a:r>
            <a:endParaRPr lang="en-US" sz="3200" dirty="0"/>
          </a:p>
        </p:txBody>
      </p:sp>
      <p:sp>
        <p:nvSpPr>
          <p:cNvPr id="43" name="Shape 39"/>
          <p:cNvSpPr/>
          <p:nvPr/>
        </p:nvSpPr>
        <p:spPr>
          <a:xfrm>
            <a:off x="2569921" y="1513332"/>
            <a:ext cx="413614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44" name="Shape 40"/>
          <p:cNvSpPr/>
          <p:nvPr/>
        </p:nvSpPr>
        <p:spPr>
          <a:xfrm>
            <a:off x="4935169" y="1513332"/>
            <a:ext cx="413614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45" name="Shape 41"/>
          <p:cNvSpPr/>
          <p:nvPr/>
        </p:nvSpPr>
        <p:spPr>
          <a:xfrm>
            <a:off x="6324600" y="1958508"/>
            <a:ext cx="0" cy="398953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46" name="Shape 42"/>
          <p:cNvSpPr/>
          <p:nvPr/>
        </p:nvSpPr>
        <p:spPr>
          <a:xfrm>
            <a:off x="4935169" y="2802636"/>
            <a:ext cx="413614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headEnd type="triangle"/>
          </a:ln>
        </p:spPr>
      </p:sp>
      <p:sp>
        <p:nvSpPr>
          <p:cNvPr id="47" name="Shape 43"/>
          <p:cNvSpPr/>
          <p:nvPr/>
        </p:nvSpPr>
        <p:spPr>
          <a:xfrm>
            <a:off x="566928" y="1024128"/>
            <a:ext cx="2054352" cy="978408"/>
          </a:xfrm>
          <a:prstGeom prst="roundRect">
            <a:avLst>
              <a:gd name="adj" fmla="val 5607"/>
            </a:avLst>
          </a:prstGeom>
          <a:solidFill>
            <a:srgbClr val="FB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8" name="Shape 44"/>
          <p:cNvSpPr/>
          <p:nvPr/>
        </p:nvSpPr>
        <p:spPr>
          <a:xfrm>
            <a:off x="566928" y="1024128"/>
            <a:ext cx="2054352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690189" y="1339596"/>
            <a:ext cx="347472" cy="34747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690189" y="13395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400" dirty="0"/>
          </a:p>
        </p:txBody>
      </p:sp>
      <p:sp>
        <p:nvSpPr>
          <p:cNvPr id="51" name="Text 47"/>
          <p:cNvSpPr txBox="1"/>
          <p:nvPr/>
        </p:nvSpPr>
        <p:spPr>
          <a:xfrm>
            <a:off x="1183965" y="1152144"/>
            <a:ext cx="1272723" cy="72237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</a:t>
            </a:r>
            <a:endParaRPr lang="en-US" sz="1200" dirty="0"/>
          </a:p>
        </p:txBody>
      </p:sp>
      <p:sp>
        <p:nvSpPr>
          <p:cNvPr id="52" name="Shape 48"/>
          <p:cNvSpPr/>
          <p:nvPr/>
        </p:nvSpPr>
        <p:spPr>
          <a:xfrm>
            <a:off x="2932176" y="1024128"/>
            <a:ext cx="2054352" cy="978408"/>
          </a:xfrm>
          <a:prstGeom prst="roundRect">
            <a:avLst>
              <a:gd name="adj" fmla="val 5607"/>
            </a:avLst>
          </a:prstGeom>
          <a:solidFill>
            <a:srgbClr val="FB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53" name="Shape 49"/>
          <p:cNvSpPr/>
          <p:nvPr/>
        </p:nvSpPr>
        <p:spPr>
          <a:xfrm>
            <a:off x="2932176" y="1024128"/>
            <a:ext cx="2054352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>
            <a:off x="3055437" y="1339596"/>
            <a:ext cx="347472" cy="34747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3055437" y="13395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400" dirty="0"/>
          </a:p>
        </p:txBody>
      </p:sp>
      <p:sp>
        <p:nvSpPr>
          <p:cNvPr id="56" name="Text 52"/>
          <p:cNvSpPr txBox="1"/>
          <p:nvPr/>
        </p:nvSpPr>
        <p:spPr>
          <a:xfrm>
            <a:off x="3549213" y="1152144"/>
            <a:ext cx="1272723" cy="72237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IR</a:t>
            </a:r>
            <a:endParaRPr lang="en-US" sz="1200" dirty="0"/>
          </a:p>
        </p:txBody>
      </p:sp>
      <p:sp>
        <p:nvSpPr>
          <p:cNvPr id="57" name="Shape 53"/>
          <p:cNvSpPr/>
          <p:nvPr/>
        </p:nvSpPr>
        <p:spPr>
          <a:xfrm>
            <a:off x="5297424" y="1024128"/>
            <a:ext cx="2054352" cy="978408"/>
          </a:xfrm>
          <a:prstGeom prst="roundRect">
            <a:avLst>
              <a:gd name="adj" fmla="val 5607"/>
            </a:avLst>
          </a:prstGeom>
          <a:solidFill>
            <a:srgbClr val="FB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58" name="Shape 54"/>
          <p:cNvSpPr/>
          <p:nvPr/>
        </p:nvSpPr>
        <p:spPr>
          <a:xfrm>
            <a:off x="5297424" y="1024128"/>
            <a:ext cx="2054352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9" name="Shape 55"/>
          <p:cNvSpPr/>
          <p:nvPr/>
        </p:nvSpPr>
        <p:spPr>
          <a:xfrm>
            <a:off x="5420685" y="1339596"/>
            <a:ext cx="347472" cy="34747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5420685" y="13395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400" dirty="0"/>
          </a:p>
        </p:txBody>
      </p:sp>
      <p:sp>
        <p:nvSpPr>
          <p:cNvPr id="61" name="Text 57"/>
          <p:cNvSpPr txBox="1"/>
          <p:nvPr/>
        </p:nvSpPr>
        <p:spPr>
          <a:xfrm>
            <a:off x="5914461" y="1152144"/>
            <a:ext cx="1272723" cy="72237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Grammar</a:t>
            </a:r>
            <a:endParaRPr lang="en-US" sz="1200" dirty="0"/>
          </a:p>
        </p:txBody>
      </p:sp>
      <p:sp>
        <p:nvSpPr>
          <p:cNvPr id="62" name="Shape 58"/>
          <p:cNvSpPr/>
          <p:nvPr/>
        </p:nvSpPr>
        <p:spPr>
          <a:xfrm>
            <a:off x="5297424" y="2313432"/>
            <a:ext cx="2054352" cy="978408"/>
          </a:xfrm>
          <a:prstGeom prst="roundRect">
            <a:avLst>
              <a:gd name="adj" fmla="val 5607"/>
            </a:avLst>
          </a:prstGeom>
          <a:solidFill>
            <a:srgbClr val="FB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63" name="Shape 59"/>
          <p:cNvSpPr/>
          <p:nvPr/>
        </p:nvSpPr>
        <p:spPr>
          <a:xfrm>
            <a:off x="5297424" y="2313432"/>
            <a:ext cx="2054352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4" name="Shape 60"/>
          <p:cNvSpPr/>
          <p:nvPr/>
        </p:nvSpPr>
        <p:spPr>
          <a:xfrm>
            <a:off x="5420685" y="2628900"/>
            <a:ext cx="347472" cy="34747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5420685" y="26289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400" dirty="0"/>
          </a:p>
        </p:txBody>
      </p:sp>
      <p:sp>
        <p:nvSpPr>
          <p:cNvPr id="66" name="Text 62"/>
          <p:cNvSpPr txBox="1"/>
          <p:nvPr/>
        </p:nvSpPr>
        <p:spPr>
          <a:xfrm>
            <a:off x="5914461" y="2441448"/>
            <a:ext cx="1272723" cy="72237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Theme Tokens</a:t>
            </a:r>
            <a:endParaRPr lang="en-US" sz="1200" dirty="0"/>
          </a:p>
        </p:txBody>
      </p:sp>
      <p:sp>
        <p:nvSpPr>
          <p:cNvPr id="67" name="Shape 63"/>
          <p:cNvSpPr/>
          <p:nvPr/>
        </p:nvSpPr>
        <p:spPr>
          <a:xfrm>
            <a:off x="2932176" y="2313432"/>
            <a:ext cx="2054352" cy="978408"/>
          </a:xfrm>
          <a:prstGeom prst="roundRect">
            <a:avLst>
              <a:gd name="adj" fmla="val 5607"/>
            </a:avLst>
          </a:prstGeom>
          <a:solidFill>
            <a:srgbClr val="FB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68" name="Shape 64"/>
          <p:cNvSpPr/>
          <p:nvPr/>
        </p:nvSpPr>
        <p:spPr>
          <a:xfrm>
            <a:off x="2932176" y="2313432"/>
            <a:ext cx="2054352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9" name="Shape 65"/>
          <p:cNvSpPr/>
          <p:nvPr/>
        </p:nvSpPr>
        <p:spPr>
          <a:xfrm>
            <a:off x="3055437" y="2628900"/>
            <a:ext cx="347472" cy="34747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0" name="Text 66"/>
          <p:cNvSpPr txBox="1"/>
          <p:nvPr/>
        </p:nvSpPr>
        <p:spPr>
          <a:xfrm>
            <a:off x="3055437" y="26289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400" dirty="0"/>
          </a:p>
        </p:txBody>
      </p:sp>
      <p:sp>
        <p:nvSpPr>
          <p:cNvPr id="71" name="Text 67"/>
          <p:cNvSpPr txBox="1"/>
          <p:nvPr/>
        </p:nvSpPr>
        <p:spPr>
          <a:xfrm>
            <a:off x="3549213" y="2441448"/>
            <a:ext cx="1272723" cy="72237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PPTX</a:t>
            </a:r>
            <a:endParaRPr lang="en-US" sz="1200" dirty="0"/>
          </a:p>
        </p:txBody>
      </p:sp>
      <p:sp>
        <p:nvSpPr>
          <p:cNvPr id="72" name="mdpr:mdpr-markdown-to-editable-pptx-de2396:feature-summary:mdpr-markdown-to-editable-pptx-de2396-teaser-overview"/>
          <p:cNvSpPr txBox="1"/>
          <p:nvPr/>
        </p:nvSpPr>
        <p:spPr>
          <a:xfrm>
            <a:off x="640080" y="3639312"/>
            <a:ext cx="6638544" cy="2286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Runtime Pipeline</a:t>
            </a:r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Markdown -&gt; Semantic IR -&gt; Layout Grammar -&gt; Theme Tokens</a:t>
            </a:r>
            <a:endParaRPr lang="en-US" sz="16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Main Proof</a:t>
            </a:r>
            <a:endParaRPr lang="en-US" sz="16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PPTX first editable slides, PNG previews, HTML/PDF exports.</a:t>
            </a:r>
            <a:endParaRPr lang="en-US" sz="16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Coverage</a:t>
            </a:r>
            <a:endParaRPr lang="en-US" sz="16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signal: Styles, Patterns, Object families.</a:t>
            </a:r>
            <a:endParaRPr lang="en-US" sz="16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Boundary</a:t>
            </a:r>
            <a:endParaRPr lang="en-US" sz="16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Table proof: MDPR owns / Skill may hint.</a:t>
            </a:r>
            <a:endParaRPr lang="en-US" sz="1600" dirty="0"/>
          </a:p>
        </p:txBody>
      </p:sp>
      <p:graphicFrame>
        <p:nvGraphicFramePr>
          <p:cNvPr id="73" name="Chart 0" descr=""/>
          <p:cNvGraphicFramePr/>
          <p:nvPr/>
        </p:nvGraphicFramePr>
        <p:xfrm>
          <a:off x="7671816" y="1170432"/>
          <a:ext cx="3785616" cy="140817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2" name="mdpr:mdpr-markdown-to-editable-pptx-de2396:table:block-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43800" y="2980944"/>
          <a:ext cx="4041648" cy="2487168"/>
        </p:xfrm>
        <a:graphic>
          <a:graphicData uri="http://schemas.openxmlformats.org/drawingml/2006/table">
            <a:tbl>
              <a:tblPr/>
              <a:tblGrid>
                <a:gridCol w="2020824"/>
                <a:gridCol w="2020824"/>
              </a:tblGrid>
              <a:tr h="12435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MDPR owns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Skill may hint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12435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layout, theme, objects, output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semantic grouping, review notes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111"/>
      </a:dk1>
      <a:lt1>
        <a:srgbClr val="F8FAFC"/>
      </a:lt1>
      <a:dk2>
        <a:srgbClr val="919191"/>
      </a:dk2>
      <a:lt2>
        <a:srgbClr val="FBFCFD"/>
      </a:lt2>
      <a:accent1>
        <a:srgbClr val="0F766E"/>
      </a:accent1>
      <a:accent2>
        <a:srgbClr val="9E0F62"/>
      </a:accent2>
      <a:accent3>
        <a:srgbClr val="9E4C0F"/>
      </a:accent3>
      <a:accent4>
        <a:srgbClr val="15984D"/>
      </a:accent4>
      <a:accent5>
        <a:srgbClr val="156198"/>
      </a:accent5>
      <a:accent6>
        <a:srgbClr val="096760"/>
      </a:accent6>
      <a:hlink>
        <a:srgbClr val="0F766E"/>
      </a:hlink>
      <a:folHlink>
        <a:srgbClr val="9E0F62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MDPR: Markdown to Editable PPTX</dc:title>
  <dc:subject>Generated from Markdown through Presentation IR and Layout IR</dc:subject>
  <dc:creator>mdpresent</dc:creator>
  <cp:lastModifiedBy>mdpresent</cp:lastModifiedBy>
  <cp:revision>1</cp:revision>
  <dcterms:created xsi:type="dcterms:W3CDTF">2026-07-10T07:02:05Z</dcterms:created>
  <dcterms:modified xsi:type="dcterms:W3CDTF">2026-07-10T07:02:05Z</dcterms:modified>
</cp:coreProperties>
</file>