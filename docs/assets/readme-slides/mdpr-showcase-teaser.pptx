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854C82-8393-0E74-7995-9C1BBFF4E6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330A05B-1042-012E-2682-FA6A4082C6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E3585B-5AC8-BA22-E0F8-6287F942A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CB09B-924A-4ABE-8F3B-7B27270F5C9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C52B05-99A8-F028-66DF-00ACD79D2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B96468-A817-82C5-D6AB-E8F877FAB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47458-2532-49EB-9E23-A67CFBCC43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878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5BB150-8B2E-DEFD-09AA-183D9EC96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33A253-821A-EBF5-9576-4CA6DF4AA8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66512C-A86B-C5BC-732C-4573273FB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CB09B-924A-4ABE-8F3B-7B27270F5C9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7968DD-F3E1-A637-DAE0-2CAEF782D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E5E579-8263-B1CA-5841-1D7CCB1B2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47458-2532-49EB-9E23-A67CFBCC43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9395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163EE7-8CA4-CD22-2D30-DC2BB65A8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5FEE7A-53C3-B6D8-78E6-D2AD7628F0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3D626D6-F55A-5C2F-3B02-74416C641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CB09B-924A-4ABE-8F3B-7B27270F5C9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3ED58A-558A-1807-EC3D-9C6BAB247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5B7F6F-3A5B-1054-B245-C47895F53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47458-2532-49EB-9E23-A67CFBCC43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1219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C8BBCB-9CE4-EE85-3543-E01083EE5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417E4A-3E1B-1DA7-0C07-3FB07568A4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0996385-E499-2D6D-88F1-6712737481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F903F8E-333F-5A25-7BF2-6896612BD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CB09B-924A-4ABE-8F3B-7B27270F5C9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F222359-D8F8-54C3-31A7-861784BFB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5C5A6F-06A0-2A7D-1B7E-321E8FDA8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47458-2532-49EB-9E23-A67CFBCC43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420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8E7163-64FE-63B8-FF64-138E07567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0EA0985-195F-94D6-D07A-80877B29D9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D2AAF64-0B28-8163-312B-2FE7B601DF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E72E930-BE51-98B4-F3D2-F106BE4D9B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BA3674E-FFA2-1EE3-D5B2-F963E1F48F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F0ABAF1-304E-3F48-7237-531A6D0AC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CB09B-924A-4ABE-8F3B-7B27270F5C9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50404E6-91BB-C965-6BEA-116B339DF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DD2FA6D-6822-9A89-D42D-2B205DC4F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47458-2532-49EB-9E23-A67CFBCC43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7329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FC0AA2-F65E-6585-6ABD-E36C1C5F7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078A1C2-0E55-4157-DA35-2B0646E89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CB09B-924A-4ABE-8F3B-7B27270F5C9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7DC72F7-AC98-CB9F-FC4F-4EDCDC98C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F79D011-9720-E761-52E1-3A1A6ECD7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47458-2532-49EB-9E23-A67CFBCC43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5274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AFA276D-2649-F5E7-63F9-510CC2236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CB09B-924A-4ABE-8F3B-7B27270F5C9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F2812A9-B5BC-2E83-5E50-A393CE6E2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234DC8-43F9-9B58-C7F4-0D5DBE325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47458-2532-49EB-9E23-A67CFBCC43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180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89B40F-A228-3AB9-9F87-FE09E534F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335BBC-2515-B9A4-4E8C-99F41D57C8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675ACFE-0F2B-0464-1C6C-3E5134BF97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4BFBC0-5B98-800E-7F35-74402BA94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CB09B-924A-4ABE-8F3B-7B27270F5C9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13A8D1-0170-21B7-4F2E-8693B7971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391D3D-ED1D-6298-6801-01547B041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47458-2532-49EB-9E23-A67CFBCC43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6835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813A8F-08EB-2386-E1C6-347244F70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D86926F-C4F5-11F5-EA25-876B698779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D043360-26C2-97F8-B173-61D571C5E7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E8C2396-1149-37EC-A45A-AE0013792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CB09B-924A-4ABE-8F3B-7B27270F5C9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DC5376-4E8D-B97D-ED5D-001C90BCA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4621A28-32A8-69DB-7161-27757E2D7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47458-2532-49EB-9E23-A67CFBCC43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2780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17FBFA-7DDC-14B6-69BD-A163F0A24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3896BA-5C3B-A715-49C8-203A5E40D4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AEDBCC3-1483-B89C-F363-7C2BA9868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CB09B-924A-4ABE-8F3B-7B27270F5C9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A34C43-4ADA-6B9A-17DF-79A0A8F7A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4F77C36-6F56-30CD-F1A8-21F1243A8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47458-2532-49EB-9E23-A67CFBCC43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2101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94693B7-97E2-4C0C-F875-981768EFA9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E7090BA-AE1C-E3F6-A295-8F1157380B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7B14750-D038-9DCC-B2E9-414017DDB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CB09B-924A-4ABE-8F3B-7B27270F5C9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28EC0A-8275-C9C1-8BEB-E29981E99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051A4E-E11B-0D3E-DFCF-6750628EF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47458-2532-49EB-9E23-A67CFBCC43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891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EAE158-F3F8-86B0-E098-3B7E8BD9C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3D68E68-9F11-D70D-9617-9179435B25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424892-038A-5D2C-C0C3-40E62DDB48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6CB09B-924A-4ABE-8F3B-7B27270F5C95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2AE701-D41D-BB62-8863-7199856AD4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1A5F3ED-4830-AC1F-7B45-F38B8AE728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A47458-2532-49EB-9E23-A67CFBCC43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1562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11B3C41-A907-F256-62D2-F6D76E8D472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0"/>
          </a:solidFill>
          <a:ln w="10668">
            <a:solidFill>
              <a:srgbClr val="1018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B381BEC-0CE6-8762-D34D-CB1DEBB4A69E}"/>
              </a:ext>
            </a:extLst>
          </p:cNvPr>
          <p:cNvSpPr/>
          <p:nvPr/>
        </p:nvSpPr>
        <p:spPr>
          <a:xfrm>
            <a:off x="0" y="0"/>
            <a:ext cx="563866" cy="6858000"/>
          </a:xfrm>
          <a:prstGeom prst="rect">
            <a:avLst/>
          </a:prstGeom>
          <a:solidFill>
            <a:srgbClr val="14B8A6"/>
          </a:solidFill>
          <a:ln w="10668">
            <a:solidFill>
              <a:srgbClr val="14B8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969F5E2-9E71-D218-ED2F-29461D84770F}"/>
              </a:ext>
            </a:extLst>
          </p:cNvPr>
          <p:cNvSpPr/>
          <p:nvPr/>
        </p:nvSpPr>
        <p:spPr>
          <a:xfrm>
            <a:off x="563866" y="0"/>
            <a:ext cx="11627829" cy="76200"/>
          </a:xfrm>
          <a:prstGeom prst="rect">
            <a:avLst/>
          </a:prstGeom>
          <a:solidFill>
            <a:srgbClr val="E9B44C"/>
          </a:solidFill>
          <a:ln w="10668">
            <a:solidFill>
              <a:srgbClr val="E9B44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B8C73BC-0CE2-5FC1-C0E3-A891D424464F}"/>
              </a:ext>
            </a:extLst>
          </p:cNvPr>
          <p:cNvSpPr/>
          <p:nvPr/>
        </p:nvSpPr>
        <p:spPr>
          <a:xfrm>
            <a:off x="563866" y="6248400"/>
            <a:ext cx="11627829" cy="609600"/>
          </a:xfrm>
          <a:prstGeom prst="rect">
            <a:avLst/>
          </a:prstGeom>
          <a:solidFill>
            <a:srgbClr val="0C1320"/>
          </a:solidFill>
          <a:ln w="10668">
            <a:solidFill>
              <a:srgbClr val="0C13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82E3A-6B7C-911F-A2DD-385EB9D4561A}"/>
              </a:ext>
            </a:extLst>
          </p:cNvPr>
          <p:cNvSpPr txBox="1"/>
          <p:nvPr/>
        </p:nvSpPr>
        <p:spPr>
          <a:xfrm>
            <a:off x="944856" y="441960"/>
            <a:ext cx="640064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3312" b="1">
                <a:solidFill>
                  <a:srgbClr val="FFFFFF"/>
                </a:solidFill>
                <a:latin typeface="Aptos" panose="020B0004020202020204" pitchFamily="34" charset="0"/>
              </a:rPr>
              <a:t>Markdown to editable PowerPoint</a:t>
            </a:r>
            <a:endParaRPr lang="ko-KR" altLang="en-US" sz="3312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AD3262-E8DD-89AA-4673-DD915614FEDB}"/>
              </a:ext>
            </a:extLst>
          </p:cNvPr>
          <p:cNvSpPr txBox="1"/>
          <p:nvPr/>
        </p:nvSpPr>
        <p:spPr>
          <a:xfrm>
            <a:off x="960096" y="944880"/>
            <a:ext cx="601965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440">
                <a:solidFill>
                  <a:srgbClr val="CBD5E1"/>
                </a:solidFill>
                <a:latin typeface="Aptos" panose="020B0004020202020204" pitchFamily="34" charset="0"/>
              </a:rPr>
              <a:t>MDPR uses rule-based layouts, theme colors, proof objects, tables, charts, and visual QA generated from actual PPTX outputs.</a:t>
            </a:r>
            <a:endParaRPr lang="ko-KR" altLang="en-US" sz="1440">
              <a:solidFill>
                <a:srgbClr val="CBD5E1"/>
              </a:solidFill>
              <a:latin typeface="Aptos" panose="020B0004020202020204" pitchFamily="34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1729B58-F11C-4B97-00DF-53F97B642C36}"/>
              </a:ext>
            </a:extLst>
          </p:cNvPr>
          <p:cNvSpPr/>
          <p:nvPr/>
        </p:nvSpPr>
        <p:spPr>
          <a:xfrm>
            <a:off x="960096" y="1493520"/>
            <a:ext cx="1371566" cy="45720"/>
          </a:xfrm>
          <a:prstGeom prst="rect">
            <a:avLst/>
          </a:prstGeom>
          <a:solidFill>
            <a:srgbClr val="14B8A6"/>
          </a:solidFill>
          <a:ln w="10668">
            <a:solidFill>
              <a:srgbClr val="14B8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1534417-D4A2-6BB9-1177-D17235B1F4FA}"/>
              </a:ext>
            </a:extLst>
          </p:cNvPr>
          <p:cNvSpPr/>
          <p:nvPr/>
        </p:nvSpPr>
        <p:spPr>
          <a:xfrm>
            <a:off x="960096" y="1844040"/>
            <a:ext cx="6034889" cy="3398520"/>
          </a:xfrm>
          <a:prstGeom prst="roundRect">
            <a:avLst/>
          </a:prstGeom>
          <a:solidFill>
            <a:srgbClr val="FFFFFF"/>
          </a:solidFill>
          <a:ln w="9906">
            <a:solidFill>
              <a:srgbClr val="334155"/>
            </a:solidFill>
          </a:ln>
          <a:effectLst>
            <a:outerShdw blurRad="38100" dist="28988" dir="3671352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258ECB5F-3520-318D-5B98-37C1C195520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53" y="1996440"/>
            <a:ext cx="5760576" cy="2941320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B838E032-9FE9-F68B-36AB-6102B120A035}"/>
              </a:ext>
            </a:extLst>
          </p:cNvPr>
          <p:cNvSpPr/>
          <p:nvPr/>
        </p:nvSpPr>
        <p:spPr>
          <a:xfrm>
            <a:off x="1097253" y="4937760"/>
            <a:ext cx="5760576" cy="3048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C0221C-9710-4321-4B1F-2C9DFAAB9BC0}"/>
              </a:ext>
            </a:extLst>
          </p:cNvPr>
          <p:cNvSpPr txBox="1"/>
          <p:nvPr/>
        </p:nvSpPr>
        <p:spPr>
          <a:xfrm>
            <a:off x="1249649" y="5006340"/>
            <a:ext cx="1371566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08" b="1">
                <a:solidFill>
                  <a:srgbClr val="111827"/>
                </a:solidFill>
                <a:latin typeface="Aptos" panose="020B0004020202020204" pitchFamily="34" charset="0"/>
              </a:rPr>
              <a:t>data</a:t>
            </a:r>
            <a:endParaRPr lang="ko-KR" altLang="en-US" sz="1008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B5FF15-CE4C-C5C2-4D5B-564A1DD238F4}"/>
              </a:ext>
            </a:extLst>
          </p:cNvPr>
          <p:cNvSpPr txBox="1"/>
          <p:nvPr/>
        </p:nvSpPr>
        <p:spPr>
          <a:xfrm>
            <a:off x="2666933" y="5006340"/>
            <a:ext cx="3962301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36">
                <a:solidFill>
                  <a:srgbClr val="64748B"/>
                </a:solidFill>
                <a:latin typeface="Aptos" panose="020B0004020202020204" pitchFamily="34" charset="0"/>
              </a:rPr>
              <a:t>Chart + table: chart and table stay editable, aligned, and theme-bound</a:t>
            </a:r>
            <a:endParaRPr lang="ko-KR" altLang="en-US" sz="936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08DE5C4-675D-0F49-6715-855A2D4DC246}"/>
              </a:ext>
            </a:extLst>
          </p:cNvPr>
          <p:cNvSpPr/>
          <p:nvPr/>
        </p:nvSpPr>
        <p:spPr>
          <a:xfrm>
            <a:off x="7452174" y="441960"/>
            <a:ext cx="3703227" cy="1844040"/>
          </a:xfrm>
          <a:prstGeom prst="roundRect">
            <a:avLst/>
          </a:prstGeom>
          <a:solidFill>
            <a:srgbClr val="17213A"/>
          </a:solidFill>
          <a:ln w="9144">
            <a:solidFill>
              <a:srgbClr val="334155"/>
            </a:solidFill>
          </a:ln>
          <a:effectLst>
            <a:outerShdw blurRad="38100" dist="28988" dir="3671352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1634A5-97EB-F071-C9F2-E7984FBD8A87}"/>
              </a:ext>
            </a:extLst>
          </p:cNvPr>
          <p:cNvSpPr txBox="1"/>
          <p:nvPr/>
        </p:nvSpPr>
        <p:spPr>
          <a:xfrm>
            <a:off x="7726487" y="670560"/>
            <a:ext cx="3017445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b="1">
                <a:solidFill>
                  <a:srgbClr val="FFFFFF"/>
                </a:solidFill>
                <a:latin typeface="Aptos" panose="020B0004020202020204" pitchFamily="34" charset="0"/>
              </a:rPr>
              <a:t>What is covered</a:t>
            </a:r>
            <a:endParaRPr lang="ko-KR" altLang="en-US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72E05CD1-B59D-66BC-EC10-7393D88A8D3D}"/>
              </a:ext>
            </a:extLst>
          </p:cNvPr>
          <p:cNvSpPr/>
          <p:nvPr/>
        </p:nvSpPr>
        <p:spPr>
          <a:xfrm>
            <a:off x="7680768" y="1097280"/>
            <a:ext cx="152396" cy="152400"/>
          </a:xfrm>
          <a:prstGeom prst="ellipse">
            <a:avLst/>
          </a:prstGeom>
          <a:solidFill>
            <a:srgbClr val="14B8A6"/>
          </a:solidFill>
          <a:ln w="762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FDD2A65-A9C1-DB60-631A-6BE6261651D2}"/>
              </a:ext>
            </a:extLst>
          </p:cNvPr>
          <p:cNvSpPr txBox="1"/>
          <p:nvPr/>
        </p:nvSpPr>
        <p:spPr>
          <a:xfrm>
            <a:off x="7924602" y="1082040"/>
            <a:ext cx="990575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36" b="1">
                <a:solidFill>
                  <a:srgbClr val="E2E8F0"/>
                </a:solidFill>
                <a:latin typeface="Aptos" panose="020B0004020202020204" pitchFamily="34" charset="0"/>
              </a:rPr>
              <a:t>Themes</a:t>
            </a:r>
            <a:endParaRPr lang="ko-KR" altLang="en-US" sz="936" b="1">
              <a:solidFill>
                <a:srgbClr val="E2E8F0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E8C881-1803-0996-24C0-E0499A547E34}"/>
              </a:ext>
            </a:extLst>
          </p:cNvPr>
          <p:cNvSpPr txBox="1"/>
          <p:nvPr/>
        </p:nvSpPr>
        <p:spPr>
          <a:xfrm>
            <a:off x="9082813" y="1082040"/>
            <a:ext cx="1706837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36">
                <a:solidFill>
                  <a:srgbClr val="CBD5E1"/>
                </a:solidFill>
                <a:latin typeface="Aptos" panose="020B0004020202020204" pitchFamily="34" charset="0"/>
              </a:rPr>
              <a:t>10 styles</a:t>
            </a:r>
            <a:endParaRPr lang="ko-KR" altLang="en-US" sz="936">
              <a:solidFill>
                <a:srgbClr val="CBD5E1"/>
              </a:solidFill>
              <a:latin typeface="Aptos" panose="020B0004020202020204" pitchFamily="34" charset="0"/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08F6711-C20D-6696-A98B-2935806FC746}"/>
              </a:ext>
            </a:extLst>
          </p:cNvPr>
          <p:cNvSpPr/>
          <p:nvPr/>
        </p:nvSpPr>
        <p:spPr>
          <a:xfrm>
            <a:off x="7680768" y="1371600"/>
            <a:ext cx="152396" cy="152400"/>
          </a:xfrm>
          <a:prstGeom prst="ellipse">
            <a:avLst/>
          </a:prstGeom>
          <a:solidFill>
            <a:srgbClr val="E9B44C"/>
          </a:solidFill>
          <a:ln w="762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8E47F4-1FA0-42FE-38B1-FB2991E8D55B}"/>
              </a:ext>
            </a:extLst>
          </p:cNvPr>
          <p:cNvSpPr txBox="1"/>
          <p:nvPr/>
        </p:nvSpPr>
        <p:spPr>
          <a:xfrm>
            <a:off x="7924602" y="1356360"/>
            <a:ext cx="990575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36" b="1">
                <a:solidFill>
                  <a:srgbClr val="E2E8F0"/>
                </a:solidFill>
                <a:latin typeface="Aptos" panose="020B0004020202020204" pitchFamily="34" charset="0"/>
              </a:rPr>
              <a:t>Layouts</a:t>
            </a:r>
            <a:endParaRPr lang="ko-KR" altLang="en-US" sz="936" b="1">
              <a:solidFill>
                <a:srgbClr val="E2E8F0"/>
              </a:solidFill>
              <a:latin typeface="Aptos" panose="020B00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F0666F-07B3-1EEE-9E4A-0A3CB9C78C86}"/>
              </a:ext>
            </a:extLst>
          </p:cNvPr>
          <p:cNvSpPr txBox="1"/>
          <p:nvPr/>
        </p:nvSpPr>
        <p:spPr>
          <a:xfrm>
            <a:off x="9082813" y="1356360"/>
            <a:ext cx="1706837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36">
                <a:solidFill>
                  <a:srgbClr val="CBD5E1"/>
                </a:solidFill>
                <a:latin typeface="Aptos" panose="020B0004020202020204" pitchFamily="34" charset="0"/>
              </a:rPr>
              <a:t>10 compositions</a:t>
            </a:r>
            <a:endParaRPr lang="ko-KR" altLang="en-US" sz="936">
              <a:solidFill>
                <a:srgbClr val="CBD5E1"/>
              </a:solidFill>
              <a:latin typeface="Aptos" panose="020B0004020202020204" pitchFamily="34" charset="0"/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9C7C34CC-46B4-76DC-985B-8828B9E27048}"/>
              </a:ext>
            </a:extLst>
          </p:cNvPr>
          <p:cNvSpPr/>
          <p:nvPr/>
        </p:nvSpPr>
        <p:spPr>
          <a:xfrm>
            <a:off x="7680768" y="1645920"/>
            <a:ext cx="152396" cy="152400"/>
          </a:xfrm>
          <a:prstGeom prst="ellipse">
            <a:avLst/>
          </a:prstGeom>
          <a:solidFill>
            <a:srgbClr val="8B7CF6"/>
          </a:solidFill>
          <a:ln w="762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7DA95D5-F7A7-C25F-4BD6-9CD0A9525AD6}"/>
              </a:ext>
            </a:extLst>
          </p:cNvPr>
          <p:cNvSpPr txBox="1"/>
          <p:nvPr/>
        </p:nvSpPr>
        <p:spPr>
          <a:xfrm>
            <a:off x="7924602" y="1630680"/>
            <a:ext cx="990575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36" b="1">
                <a:solidFill>
                  <a:srgbClr val="E2E8F0"/>
                </a:solidFill>
                <a:latin typeface="Aptos" panose="020B0004020202020204" pitchFamily="34" charset="0"/>
              </a:rPr>
              <a:t>Objects</a:t>
            </a:r>
            <a:endParaRPr lang="ko-KR" altLang="en-US" sz="936" b="1">
              <a:solidFill>
                <a:srgbClr val="E2E8F0"/>
              </a:solidFill>
              <a:latin typeface="Aptos" panose="020B00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5FEBC2-290E-9B6F-0F23-BF32D69199FC}"/>
              </a:ext>
            </a:extLst>
          </p:cNvPr>
          <p:cNvSpPr txBox="1"/>
          <p:nvPr/>
        </p:nvSpPr>
        <p:spPr>
          <a:xfrm>
            <a:off x="9082813" y="1630680"/>
            <a:ext cx="1706837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36">
                <a:solidFill>
                  <a:srgbClr val="CBD5E1"/>
                </a:solidFill>
                <a:latin typeface="Aptos" panose="020B0004020202020204" pitchFamily="34" charset="0"/>
              </a:rPr>
              <a:t>10 forms</a:t>
            </a:r>
            <a:endParaRPr lang="ko-KR" altLang="en-US" sz="936">
              <a:solidFill>
                <a:srgbClr val="CBD5E1"/>
              </a:solidFill>
              <a:latin typeface="Aptos" panose="020B0004020202020204" pitchFamily="34" charset="0"/>
            </a:endParaRPr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21ED70FD-B25C-C4CE-033A-89784AB3B18E}"/>
              </a:ext>
            </a:extLst>
          </p:cNvPr>
          <p:cNvSpPr/>
          <p:nvPr/>
        </p:nvSpPr>
        <p:spPr>
          <a:xfrm>
            <a:off x="7680768" y="1920240"/>
            <a:ext cx="152396" cy="152400"/>
          </a:xfrm>
          <a:prstGeom prst="ellipse">
            <a:avLst/>
          </a:prstGeom>
          <a:solidFill>
            <a:srgbClr val="BE123C"/>
          </a:solidFill>
          <a:ln w="762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693AC0D-9970-7E90-3D0D-248E93A7D3A4}"/>
              </a:ext>
            </a:extLst>
          </p:cNvPr>
          <p:cNvSpPr txBox="1"/>
          <p:nvPr/>
        </p:nvSpPr>
        <p:spPr>
          <a:xfrm>
            <a:off x="7924602" y="1905000"/>
            <a:ext cx="990575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36" b="1">
                <a:solidFill>
                  <a:srgbClr val="E2E8F0"/>
                </a:solidFill>
                <a:latin typeface="Aptos" panose="020B0004020202020204" pitchFamily="34" charset="0"/>
              </a:rPr>
              <a:t>Exports</a:t>
            </a:r>
            <a:endParaRPr lang="ko-KR" altLang="en-US" sz="936" b="1">
              <a:solidFill>
                <a:srgbClr val="E2E8F0"/>
              </a:solidFill>
              <a:latin typeface="Aptos" panose="020B00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1F32292-05CD-82BD-F959-518BE4436567}"/>
              </a:ext>
            </a:extLst>
          </p:cNvPr>
          <p:cNvSpPr txBox="1"/>
          <p:nvPr/>
        </p:nvSpPr>
        <p:spPr>
          <a:xfrm>
            <a:off x="9082813" y="1905000"/>
            <a:ext cx="1706837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936">
                <a:solidFill>
                  <a:srgbClr val="CBD5E1"/>
                </a:solidFill>
                <a:latin typeface="Aptos" panose="020B0004020202020204" pitchFamily="34" charset="0"/>
              </a:rPr>
              <a:t>190 PPTX PNGs</a:t>
            </a:r>
            <a:endParaRPr lang="ko-KR" altLang="en-US" sz="936">
              <a:solidFill>
                <a:srgbClr val="CBD5E1"/>
              </a:solidFill>
              <a:latin typeface="Aptos" panose="020B0004020202020204" pitchFamily="34" charset="0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504BEF15-8182-459E-2049-C64C92FA4CC7}"/>
              </a:ext>
            </a:extLst>
          </p:cNvPr>
          <p:cNvSpPr/>
          <p:nvPr/>
        </p:nvSpPr>
        <p:spPr>
          <a:xfrm>
            <a:off x="7452174" y="2575560"/>
            <a:ext cx="3703227" cy="1722120"/>
          </a:xfrm>
          <a:prstGeom prst="roundRect">
            <a:avLst/>
          </a:prstGeom>
          <a:solidFill>
            <a:srgbClr val="FFFDF8"/>
          </a:solidFill>
          <a:ln w="9144">
            <a:solidFill>
              <a:srgbClr val="334155"/>
            </a:solidFill>
          </a:ln>
          <a:effectLst>
            <a:outerShdw blurRad="38100" dist="28988" dir="3671352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681FA1-8B35-1AD4-DFE0-7CF6F537F9AF}"/>
              </a:ext>
            </a:extLst>
          </p:cNvPr>
          <p:cNvSpPr txBox="1"/>
          <p:nvPr/>
        </p:nvSpPr>
        <p:spPr>
          <a:xfrm>
            <a:off x="7726487" y="2819400"/>
            <a:ext cx="2971726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728" b="1">
                <a:solidFill>
                  <a:srgbClr val="111827"/>
                </a:solidFill>
                <a:latin typeface="Aptos" panose="020B0004020202020204" pitchFamily="34" charset="0"/>
              </a:rPr>
              <a:t>Deterministic visual rules</a:t>
            </a:r>
            <a:endParaRPr lang="ko-KR" altLang="en-US" sz="1728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A1947E5C-3C0E-5D93-D5E4-A10869CDF08F}"/>
              </a:ext>
            </a:extLst>
          </p:cNvPr>
          <p:cNvSpPr/>
          <p:nvPr/>
        </p:nvSpPr>
        <p:spPr>
          <a:xfrm>
            <a:off x="7741727" y="3246120"/>
            <a:ext cx="121916" cy="121920"/>
          </a:xfrm>
          <a:prstGeom prst="ellipse">
            <a:avLst/>
          </a:prstGeom>
          <a:solidFill>
            <a:srgbClr val="14B8A6"/>
          </a:solidFill>
          <a:ln w="6350">
            <a:solidFill>
              <a:srgbClr val="14B8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D43969-1134-73E7-E5A0-2D3F54C3A8CC}"/>
              </a:ext>
            </a:extLst>
          </p:cNvPr>
          <p:cNvSpPr txBox="1"/>
          <p:nvPr/>
        </p:nvSpPr>
        <p:spPr>
          <a:xfrm>
            <a:off x="7955081" y="3200400"/>
            <a:ext cx="2514537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08" b="1">
                <a:solidFill>
                  <a:srgbClr val="111827"/>
                </a:solidFill>
                <a:latin typeface="Aptos" panose="020B0004020202020204" pitchFamily="34" charset="0"/>
              </a:rPr>
              <a:t>Theme colors</a:t>
            </a:r>
            <a:endParaRPr lang="ko-KR" altLang="en-US" sz="1008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5E5260F0-55EE-E3CE-95AC-1C224F163167}"/>
              </a:ext>
            </a:extLst>
          </p:cNvPr>
          <p:cNvSpPr/>
          <p:nvPr/>
        </p:nvSpPr>
        <p:spPr>
          <a:xfrm>
            <a:off x="7741727" y="3505200"/>
            <a:ext cx="121916" cy="121920"/>
          </a:xfrm>
          <a:prstGeom prst="ellipse">
            <a:avLst/>
          </a:prstGeom>
          <a:solidFill>
            <a:srgbClr val="E9B44C"/>
          </a:solidFill>
          <a:ln w="6350">
            <a:solidFill>
              <a:srgbClr val="E9B44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7527378-2E37-9F88-EFC6-3E04643FE0B2}"/>
              </a:ext>
            </a:extLst>
          </p:cNvPr>
          <p:cNvSpPr txBox="1"/>
          <p:nvPr/>
        </p:nvSpPr>
        <p:spPr>
          <a:xfrm>
            <a:off x="7955081" y="3459480"/>
            <a:ext cx="2514537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08" b="1">
                <a:solidFill>
                  <a:srgbClr val="111827"/>
                </a:solidFill>
                <a:latin typeface="Aptos" panose="020B0004020202020204" pitchFamily="34" charset="0"/>
              </a:rPr>
              <a:t>SVG-backed surfaces</a:t>
            </a:r>
            <a:endParaRPr lang="ko-KR" altLang="en-US" sz="1008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BA642F4D-FB04-D464-6C01-5E571715B268}"/>
              </a:ext>
            </a:extLst>
          </p:cNvPr>
          <p:cNvSpPr/>
          <p:nvPr/>
        </p:nvSpPr>
        <p:spPr>
          <a:xfrm>
            <a:off x="7741727" y="3764280"/>
            <a:ext cx="121916" cy="121920"/>
          </a:xfrm>
          <a:prstGeom prst="ellipse">
            <a:avLst/>
          </a:prstGeom>
          <a:solidFill>
            <a:srgbClr val="BE123C"/>
          </a:solidFill>
          <a:ln w="6350">
            <a:solidFill>
              <a:srgbClr val="BE12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35C0F66-73E2-9D9D-E256-9D56BFFDB68E}"/>
              </a:ext>
            </a:extLst>
          </p:cNvPr>
          <p:cNvSpPr txBox="1"/>
          <p:nvPr/>
        </p:nvSpPr>
        <p:spPr>
          <a:xfrm>
            <a:off x="7955081" y="3718560"/>
            <a:ext cx="2514537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08" b="1">
                <a:solidFill>
                  <a:srgbClr val="111827"/>
                </a:solidFill>
                <a:latin typeface="Aptos" panose="020B0004020202020204" pitchFamily="34" charset="0"/>
              </a:rPr>
              <a:t>Native tables + charts</a:t>
            </a:r>
            <a:endParaRPr lang="ko-KR" altLang="en-US" sz="1008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DD9FB404-0E80-973B-85B0-E8210381609F}"/>
              </a:ext>
            </a:extLst>
          </p:cNvPr>
          <p:cNvSpPr/>
          <p:nvPr/>
        </p:nvSpPr>
        <p:spPr>
          <a:xfrm>
            <a:off x="7741727" y="4023360"/>
            <a:ext cx="121916" cy="121920"/>
          </a:xfrm>
          <a:prstGeom prst="ellipse">
            <a:avLst/>
          </a:prstGeom>
          <a:solidFill>
            <a:srgbClr val="6366F1"/>
          </a:solidFill>
          <a:ln w="6350">
            <a:solidFill>
              <a:srgbClr val="6366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5CDED1-334A-B1B9-59A2-8450081B2179}"/>
              </a:ext>
            </a:extLst>
          </p:cNvPr>
          <p:cNvSpPr txBox="1"/>
          <p:nvPr/>
        </p:nvSpPr>
        <p:spPr>
          <a:xfrm>
            <a:off x="7955081" y="3977640"/>
            <a:ext cx="2514537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08" b="1">
                <a:solidFill>
                  <a:srgbClr val="111827"/>
                </a:solidFill>
                <a:latin typeface="Aptos" panose="020B0004020202020204" pitchFamily="34" charset="0"/>
              </a:rPr>
              <a:t>Overflow and scale checks</a:t>
            </a:r>
            <a:endParaRPr lang="ko-KR" altLang="en-US" sz="1008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E065C7E7-29F4-4C7A-2EEC-8FFF3538E8E2}"/>
              </a:ext>
            </a:extLst>
          </p:cNvPr>
          <p:cNvSpPr/>
          <p:nvPr/>
        </p:nvSpPr>
        <p:spPr>
          <a:xfrm>
            <a:off x="7452174" y="4663440"/>
            <a:ext cx="1082013" cy="85344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334155"/>
            </a:solidFill>
          </a:ln>
          <a:effectLst>
            <a:outerShdw blurRad="38100" dist="28988" dir="3671352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CE38B550-672D-F0EC-ED31-E04F0605A9C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7893" y="4709160"/>
            <a:ext cx="990575" cy="56388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9E7FCD7E-0E54-7887-8A7E-CB9FEF35EAAF}"/>
              </a:ext>
            </a:extLst>
          </p:cNvPr>
          <p:cNvSpPr txBox="1"/>
          <p:nvPr/>
        </p:nvSpPr>
        <p:spPr>
          <a:xfrm>
            <a:off x="7513132" y="5318760"/>
            <a:ext cx="960096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20" b="1">
                <a:solidFill>
                  <a:srgbClr val="111827"/>
                </a:solidFill>
                <a:latin typeface="Aptos" panose="020B0004020202020204" pitchFamily="34" charset="0"/>
              </a:rPr>
              <a:t>technical</a:t>
            </a:r>
            <a:endParaRPr lang="ko-KR" altLang="en-US" sz="92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5BBFF6C-391A-34B7-3DE9-17041B383DBA}"/>
              </a:ext>
            </a:extLst>
          </p:cNvPr>
          <p:cNvSpPr txBox="1"/>
          <p:nvPr/>
        </p:nvSpPr>
        <p:spPr>
          <a:xfrm>
            <a:off x="7513132" y="5440680"/>
            <a:ext cx="960096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20">
                <a:solidFill>
                  <a:srgbClr val="64748B"/>
                </a:solidFill>
                <a:latin typeface="Aptos" panose="020B0004020202020204" pitchFamily="34" charset="0"/>
              </a:rPr>
              <a:t>Cover / title</a:t>
            </a:r>
            <a:endParaRPr lang="ko-KR" altLang="en-US" sz="920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393D224E-403F-CA0B-EAB3-5B35DDF5B882}"/>
              </a:ext>
            </a:extLst>
          </p:cNvPr>
          <p:cNvSpPr/>
          <p:nvPr/>
        </p:nvSpPr>
        <p:spPr>
          <a:xfrm>
            <a:off x="8671344" y="4663440"/>
            <a:ext cx="1082013" cy="85344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334155"/>
            </a:solidFill>
          </a:ln>
          <a:effectLst>
            <a:outerShdw blurRad="38100" dist="28988" dir="3671352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E1654201-D3D6-0DF1-DD08-ECC7D369D815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062" y="4709160"/>
            <a:ext cx="990575" cy="56388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92519C92-04AE-755A-AEF9-98DEEA96D6C8}"/>
              </a:ext>
            </a:extLst>
          </p:cNvPr>
          <p:cNvSpPr txBox="1"/>
          <p:nvPr/>
        </p:nvSpPr>
        <p:spPr>
          <a:xfrm>
            <a:off x="8732302" y="5318760"/>
            <a:ext cx="960096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20" b="1">
                <a:solidFill>
                  <a:srgbClr val="111827"/>
                </a:solidFill>
                <a:latin typeface="Aptos" panose="020B0004020202020204" pitchFamily="34" charset="0"/>
              </a:rPr>
              <a:t>glass</a:t>
            </a:r>
            <a:endParaRPr lang="ko-KR" altLang="en-US" sz="92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A17F1AD-4762-1E50-BF02-67B5FE5B4BBA}"/>
              </a:ext>
            </a:extLst>
          </p:cNvPr>
          <p:cNvSpPr txBox="1"/>
          <p:nvPr/>
        </p:nvSpPr>
        <p:spPr>
          <a:xfrm>
            <a:off x="8732302" y="5440680"/>
            <a:ext cx="960096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20">
                <a:solidFill>
                  <a:srgbClr val="64748B"/>
                </a:solidFill>
                <a:latin typeface="Aptos" panose="020B0004020202020204" pitchFamily="34" charset="0"/>
              </a:rPr>
              <a:t>Semantic grid</a:t>
            </a:r>
            <a:endParaRPr lang="ko-KR" altLang="en-US" sz="920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BE7F8F50-3CB6-F1FC-0F16-D23D4328FEE0}"/>
              </a:ext>
            </a:extLst>
          </p:cNvPr>
          <p:cNvSpPr/>
          <p:nvPr/>
        </p:nvSpPr>
        <p:spPr>
          <a:xfrm>
            <a:off x="9890513" y="4663440"/>
            <a:ext cx="1082013" cy="85344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334155"/>
            </a:solidFill>
          </a:ln>
          <a:effectLst>
            <a:outerShdw blurRad="38100" dist="28988" dir="3671352" rotWithShape="0">
              <a:scrgbClr r="0" g="0" b="0">
                <a:alpha val="14000"/>
              </a:sc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630AF9CF-13FC-AFA3-DC45-E1296B37F096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6231" y="4709160"/>
            <a:ext cx="990575" cy="563880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F8470964-AD81-244A-60E0-17209931ED84}"/>
              </a:ext>
            </a:extLst>
          </p:cNvPr>
          <p:cNvSpPr txBox="1"/>
          <p:nvPr/>
        </p:nvSpPr>
        <p:spPr>
          <a:xfrm>
            <a:off x="9951471" y="5318760"/>
            <a:ext cx="960096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20" b="1">
                <a:solidFill>
                  <a:srgbClr val="111827"/>
                </a:solidFill>
                <a:latin typeface="Aptos" panose="020B0004020202020204" pitchFamily="34" charset="0"/>
              </a:rPr>
              <a:t>magazine</a:t>
            </a:r>
            <a:endParaRPr lang="ko-KR" altLang="en-US" sz="920" b="1">
              <a:solidFill>
                <a:srgbClr val="111827"/>
              </a:solidFill>
              <a:latin typeface="Aptos" panose="020B000402020202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8588BB2-8DDB-749D-2DCC-7FA93D4D3CC2}"/>
              </a:ext>
            </a:extLst>
          </p:cNvPr>
          <p:cNvSpPr txBox="1"/>
          <p:nvPr/>
        </p:nvSpPr>
        <p:spPr>
          <a:xfrm>
            <a:off x="9951471" y="5440680"/>
            <a:ext cx="960096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920">
                <a:solidFill>
                  <a:srgbClr val="64748B"/>
                </a:solidFill>
                <a:latin typeface="Aptos" panose="020B0004020202020204" pitchFamily="34" charset="0"/>
              </a:rPr>
              <a:t>Object grammar</a:t>
            </a:r>
            <a:endParaRPr lang="ko-KR" altLang="en-US" sz="920">
              <a:solidFill>
                <a:srgbClr val="64748B"/>
              </a:solidFill>
              <a:latin typeface="Aptos" panose="020B0004020202020204" pitchFamily="34" charset="0"/>
            </a:endParaRP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BE17E45D-6201-9853-4ECA-C6676C604FB8}"/>
              </a:ext>
            </a:extLst>
          </p:cNvPr>
          <p:cNvSpPr/>
          <p:nvPr/>
        </p:nvSpPr>
        <p:spPr>
          <a:xfrm>
            <a:off x="960096" y="5516880"/>
            <a:ext cx="6034889" cy="563880"/>
          </a:xfrm>
          <a:prstGeom prst="roundRect">
            <a:avLst/>
          </a:prstGeom>
          <a:solidFill>
            <a:srgbClr val="17213A"/>
          </a:solidFill>
          <a:ln w="11430">
            <a:solidFill>
              <a:srgbClr val="22D3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55481FB-7939-C065-8AF6-188CD4432AC0}"/>
              </a:ext>
            </a:extLst>
          </p:cNvPr>
          <p:cNvSpPr txBox="1"/>
          <p:nvPr/>
        </p:nvSpPr>
        <p:spPr>
          <a:xfrm>
            <a:off x="1203930" y="5654040"/>
            <a:ext cx="1904952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224" b="1">
                <a:solidFill>
                  <a:srgbClr val="FFFFFF"/>
                </a:solidFill>
                <a:latin typeface="Aptos" panose="020B0004020202020204" pitchFamily="34" charset="0"/>
              </a:rPr>
              <a:t>Built from real MDPR results</a:t>
            </a:r>
            <a:endParaRPr lang="ko-KR" altLang="en-US" sz="1224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65C749C-8336-EA23-A496-F2CF1F6BABEF}"/>
              </a:ext>
            </a:extLst>
          </p:cNvPr>
          <p:cNvSpPr txBox="1"/>
          <p:nvPr/>
        </p:nvSpPr>
        <p:spPr>
          <a:xfrm>
            <a:off x="3200320" y="5654040"/>
            <a:ext cx="3276518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1008">
                <a:solidFill>
                  <a:srgbClr val="CBD5E1"/>
                </a:solidFill>
                <a:latin typeface="Aptos" panose="020B0004020202020204" pitchFamily="34" charset="0"/>
              </a:rPr>
              <a:t>theme-preview PPTX -&gt; PowerPoint PNG -&gt; README teaser</a:t>
            </a:r>
            <a:endParaRPr lang="ko-KR" altLang="en-US" sz="1008">
              <a:solidFill>
                <a:srgbClr val="CBD5E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0484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</Words>
  <Application>Microsoft Office PowerPoint</Application>
  <PresentationFormat>사용자 지정</PresentationFormat>
  <Paragraphs>26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Aptos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2026-06-20T16:22:27Z</dcterms:created>
  <dcterms:modified xsi:type="dcterms:W3CDTF">2026-06-20T16:22:27Z</dcterms:modified>
</cp:coreProperties>
</file>