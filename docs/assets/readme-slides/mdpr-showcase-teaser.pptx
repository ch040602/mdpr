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07773E-F009-ECA8-9C57-EE847D1BCA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2BF1B6D-DEB6-B8D3-7F9C-B20CA58200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B48EBF-217E-5E72-996D-55D42158B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E5FCE-C137-4A6E-A349-AF724E9D2612}" type="datetimeFigureOut">
              <a:rPr lang="ko-KR" altLang="en-US" smtClean="0"/>
              <a:t>2026-06-21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C7EB0AF-FC0B-4045-8FBD-D66D98085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DDA265C-C451-450F-4CB9-E1236BCDF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91F36-BDAF-4756-8918-2B97940F91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79039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C7EE12-A725-408C-41E0-B33DC5594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E29E7AC-267C-3FE3-7352-EA3BC3A379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73C9F73-A51E-04E6-836F-A194B0F9F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E5FCE-C137-4A6E-A349-AF724E9D2612}" type="datetimeFigureOut">
              <a:rPr lang="ko-KR" altLang="en-US" smtClean="0"/>
              <a:t>2026-06-21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B06AFC1-43CA-5AA1-69D8-C041D79A2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9965614-CC06-D37F-8818-5EF208691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91F36-BDAF-4756-8918-2B97940F91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60632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3C91A9-74F9-E478-D789-34ACBEC311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957B5ED-0DC8-EFBD-D72F-EE32A72E11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44A760D-BC43-0B72-8F05-8506D7418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E5FCE-C137-4A6E-A349-AF724E9D2612}" type="datetimeFigureOut">
              <a:rPr lang="ko-KR" altLang="en-US" smtClean="0"/>
              <a:t>2026-06-21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CC30712-760A-EBAF-1E7A-E618EB9C5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13DA966-A2FB-41DF-6D14-459BD2A97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91F36-BDAF-4756-8918-2B97940F91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05023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B97ABD-1F87-6827-9505-7AA39288D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5E8A035-91BD-816B-F48A-A1960C6144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BEA2845-8A94-7E34-1719-5BCFB17D3C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5B16447-BCCB-D993-45BD-B4E69A7D8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E5FCE-C137-4A6E-A349-AF724E9D2612}" type="datetimeFigureOut">
              <a:rPr lang="ko-KR" altLang="en-US" smtClean="0"/>
              <a:t>2026-06-21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A0C13BB-B47A-BCF7-3C64-C2BCB53C1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1AC7681-8473-5F93-D134-0EA3F4E77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91F36-BDAF-4756-8918-2B97940F91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17370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06550D-4349-E6E9-F814-A051E5B1B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ABDA8E7-3A25-40C6-DC81-A0483B8E6D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D9366D2-E491-C439-8064-047147B5F7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EE14B0E-86E2-9E80-3024-6DFA9538C8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25DE6AE-B269-B3E6-2B47-E10F6F86F9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EB6B6E0-E19D-067E-7FD4-6C6D1F5FB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E5FCE-C137-4A6E-A349-AF724E9D2612}" type="datetimeFigureOut">
              <a:rPr lang="ko-KR" altLang="en-US" smtClean="0"/>
              <a:t>2026-06-21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56698E3-DFB3-87CB-01AF-38A4D562A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6688BC9-0B8F-6B46-2302-AA63CD1AB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91F36-BDAF-4756-8918-2B97940F91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07685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AEA5C4-8309-E77E-5BF8-AC01F7475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F34B0B0-AD47-C707-2220-1DF3C4A019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E5FCE-C137-4A6E-A349-AF724E9D2612}" type="datetimeFigureOut">
              <a:rPr lang="ko-KR" altLang="en-US" smtClean="0"/>
              <a:t>2026-06-21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C1471AB-80A1-39BF-A042-A08842F22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C0B026A-B9FD-87EC-E686-FC2CCDB2F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91F36-BDAF-4756-8918-2B97940F91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14577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47B39C3-3CF2-B89F-9125-C8E9DDC96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E5FCE-C137-4A6E-A349-AF724E9D2612}" type="datetimeFigureOut">
              <a:rPr lang="ko-KR" altLang="en-US" smtClean="0"/>
              <a:t>2026-06-21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2871281-100F-16BC-C88E-DA1FFABCB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D085CE4-B905-2561-63CD-B0BD0E5D6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91F36-BDAF-4756-8918-2B97940F91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17884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555960-0B51-4892-A540-33CCBB072D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7C34F78-C893-A1AA-859E-769EE84F42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9AE5F33-CEA6-CFD3-1BE2-444C50FB60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84155CA-3860-604E-7D10-4AF29473B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E5FCE-C137-4A6E-A349-AF724E9D2612}" type="datetimeFigureOut">
              <a:rPr lang="ko-KR" altLang="en-US" smtClean="0"/>
              <a:t>2026-06-21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6D804D8-B565-48D2-65B6-CA04FE115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C5B6CA1-A7CC-C37E-AEF6-100385B0D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91F36-BDAF-4756-8918-2B97940F91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84234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C6DD83-145B-0BB7-76A8-92E42A2F2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C55993B-D31F-1F68-8C8D-DE85F9689E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6955DEC-13B9-E690-C9CF-7373CD2AFF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4F39131-6A0B-BA5B-2F3F-1F4F9B7A7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E5FCE-C137-4A6E-A349-AF724E9D2612}" type="datetimeFigureOut">
              <a:rPr lang="ko-KR" altLang="en-US" smtClean="0"/>
              <a:t>2026-06-21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D132DB5-0517-73A8-3AC7-75D6BF106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2B3A1F8-EC32-C2DC-4D8A-A8FDE6F80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91F36-BDAF-4756-8918-2B97940F91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16496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A9C719-1092-971A-6BFA-328C45853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3B38B8D-E973-C06B-8358-569E6E4D6D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7617414-87AF-0C93-93DB-16FD9E006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E5FCE-C137-4A6E-A349-AF724E9D2612}" type="datetimeFigureOut">
              <a:rPr lang="ko-KR" altLang="en-US" smtClean="0"/>
              <a:t>2026-06-21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EF3E945-4267-67AD-F97D-28444E4B8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2BA803A-02F9-AB1C-FF63-BAA2A8E80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91F36-BDAF-4756-8918-2B97940F91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3950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53128D3-56E3-6887-E4F6-1FB3C40C45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23B99CB-43BC-19A0-C3A9-B2097D2E99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DAD116-6727-00BD-0431-9DB27C65D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E5FCE-C137-4A6E-A349-AF724E9D2612}" type="datetimeFigureOut">
              <a:rPr lang="ko-KR" altLang="en-US" smtClean="0"/>
              <a:t>2026-06-21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376535F-E4B6-D6F5-2680-ECBCD55FF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C1243A6-26FE-D476-5CA2-A46CD16BD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91F36-BDAF-4756-8918-2B97940F91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70423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6CCB758-897F-A264-75EF-CF69B3990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D4EFF31-B807-0DDB-2C1C-CCC88E60C2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6A01BC-7F43-2AAC-03DD-BAECA73DD2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CE5FCE-C137-4A6E-A349-AF724E9D2612}" type="datetimeFigureOut">
              <a:rPr lang="ko-KR" altLang="en-US" smtClean="0"/>
              <a:t>2026-06-21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1EB699-0318-4EE1-20C2-4492E05AC3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D7F7ADC-5841-7A65-AA44-6E7B99BA58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191F36-BDAF-4756-8918-2B97940F91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28536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53443336-3667-F881-17F3-FADC968447CB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0"/>
          </a:solidFill>
          <a:ln w="10668">
            <a:solidFill>
              <a:srgbClr val="10182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7103E04-AD48-95EA-0812-4E1670307BEE}"/>
              </a:ext>
            </a:extLst>
          </p:cNvPr>
          <p:cNvSpPr/>
          <p:nvPr/>
        </p:nvSpPr>
        <p:spPr>
          <a:xfrm>
            <a:off x="0" y="0"/>
            <a:ext cx="670543" cy="6858000"/>
          </a:xfrm>
          <a:prstGeom prst="rect">
            <a:avLst/>
          </a:prstGeom>
          <a:solidFill>
            <a:srgbClr val="14B8A6"/>
          </a:solidFill>
          <a:ln w="10668">
            <a:solidFill>
              <a:srgbClr val="14B8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542932D-5571-F5E2-1546-1A12764B4507}"/>
              </a:ext>
            </a:extLst>
          </p:cNvPr>
          <p:cNvSpPr/>
          <p:nvPr/>
        </p:nvSpPr>
        <p:spPr>
          <a:xfrm>
            <a:off x="670543" y="0"/>
            <a:ext cx="11521152" cy="91440"/>
          </a:xfrm>
          <a:prstGeom prst="rect">
            <a:avLst/>
          </a:prstGeom>
          <a:solidFill>
            <a:srgbClr val="E9B44C"/>
          </a:solidFill>
          <a:ln w="10668">
            <a:solidFill>
              <a:srgbClr val="E9B44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3E9150-4176-9578-32E6-7E69930B176A}"/>
              </a:ext>
            </a:extLst>
          </p:cNvPr>
          <p:cNvSpPr txBox="1"/>
          <p:nvPr/>
        </p:nvSpPr>
        <p:spPr>
          <a:xfrm>
            <a:off x="990575" y="411480"/>
            <a:ext cx="6248244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3600" b="1">
                <a:solidFill>
                  <a:srgbClr val="FFFFFF"/>
                </a:solidFill>
                <a:latin typeface="Aptos" panose="020B0004020202020204" pitchFamily="34" charset="0"/>
              </a:rPr>
              <a:t>MDPR Visual Grammar</a:t>
            </a:r>
            <a:endParaRPr lang="ko-KR" altLang="en-US" sz="36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26C290-D3ED-2DFB-A45D-9BB5518292E5}"/>
              </a:ext>
            </a:extLst>
          </p:cNvPr>
          <p:cNvSpPr txBox="1"/>
          <p:nvPr/>
        </p:nvSpPr>
        <p:spPr>
          <a:xfrm>
            <a:off x="1021054" y="944880"/>
            <a:ext cx="7467413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1512">
                <a:solidFill>
                  <a:srgbClr val="CBD5E1"/>
                </a:solidFill>
                <a:latin typeface="Aptos" panose="020B0004020202020204" pitchFamily="34" charset="0"/>
              </a:rPr>
              <a:t>PPTX-first themes, layout compositions, proof objects, and visual QA generated from actual MDPR outputs.</a:t>
            </a:r>
            <a:endParaRPr lang="ko-KR" altLang="en-US" sz="1512">
              <a:solidFill>
                <a:srgbClr val="CBD5E1"/>
              </a:solidFill>
              <a:latin typeface="Aptos" panose="020B0004020202020204" pitchFamily="34" charset="0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39684400-8551-854E-208C-8F3E9778E1F8}"/>
              </a:ext>
            </a:extLst>
          </p:cNvPr>
          <p:cNvSpPr/>
          <p:nvPr/>
        </p:nvSpPr>
        <p:spPr>
          <a:xfrm>
            <a:off x="8610385" y="365760"/>
            <a:ext cx="1203929" cy="792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4B8A6"/>
            </a:solidFill>
          </a:ln>
          <a:effectLst>
            <a:outerShdw blurRad="38100" dist="28988" dir="3671352" rotWithShape="0">
              <a:scrgbClr r="0" g="0" b="0">
                <a:alpha val="14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73B438-671B-BA84-F5B8-5577FA11BCB7}"/>
              </a:ext>
            </a:extLst>
          </p:cNvPr>
          <p:cNvSpPr txBox="1"/>
          <p:nvPr/>
        </p:nvSpPr>
        <p:spPr>
          <a:xfrm>
            <a:off x="8747541" y="487680"/>
            <a:ext cx="929617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ko-KR" sz="2448" b="1">
                <a:solidFill>
                  <a:srgbClr val="14B8A6"/>
                </a:solidFill>
                <a:latin typeface="Aptos" panose="020B0004020202020204" pitchFamily="34" charset="0"/>
              </a:rPr>
              <a:t>10</a:t>
            </a:r>
            <a:endParaRPr lang="ko-KR" altLang="en-US" sz="2448" b="1">
              <a:solidFill>
                <a:srgbClr val="14B8A6"/>
              </a:solidFill>
              <a:latin typeface="Aptos" panose="020B00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C71E5F-FAB2-9C37-722C-CCCBD9D35CC7}"/>
              </a:ext>
            </a:extLst>
          </p:cNvPr>
          <p:cNvSpPr txBox="1"/>
          <p:nvPr/>
        </p:nvSpPr>
        <p:spPr>
          <a:xfrm>
            <a:off x="8747541" y="830580"/>
            <a:ext cx="929617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ko-KR" sz="1080" b="1">
                <a:solidFill>
                  <a:srgbClr val="64748B"/>
                </a:solidFill>
                <a:latin typeface="Aptos" panose="020B0004020202020204" pitchFamily="34" charset="0"/>
              </a:rPr>
              <a:t>theme styles</a:t>
            </a:r>
            <a:endParaRPr lang="ko-KR" altLang="en-US" sz="1080" b="1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010DBF04-CB6E-C8DF-2C6E-2A2661B09CE1}"/>
              </a:ext>
            </a:extLst>
          </p:cNvPr>
          <p:cNvSpPr/>
          <p:nvPr/>
        </p:nvSpPr>
        <p:spPr>
          <a:xfrm>
            <a:off x="9951471" y="365760"/>
            <a:ext cx="1203929" cy="792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9B44C"/>
            </a:solidFill>
          </a:ln>
          <a:effectLst>
            <a:outerShdw blurRad="38100" dist="28988" dir="3671352" rotWithShape="0">
              <a:scrgbClr r="0" g="0" b="0">
                <a:alpha val="14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D56783E-BD12-C650-B0C2-C50A9A7D6FDF}"/>
              </a:ext>
            </a:extLst>
          </p:cNvPr>
          <p:cNvSpPr txBox="1"/>
          <p:nvPr/>
        </p:nvSpPr>
        <p:spPr>
          <a:xfrm>
            <a:off x="10088628" y="487680"/>
            <a:ext cx="929617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ko-KR" sz="2448" b="1">
                <a:solidFill>
                  <a:srgbClr val="E9B44C"/>
                </a:solidFill>
                <a:latin typeface="Aptos" panose="020B0004020202020204" pitchFamily="34" charset="0"/>
              </a:rPr>
              <a:t>10</a:t>
            </a:r>
            <a:endParaRPr lang="ko-KR" altLang="en-US" sz="2448" b="1">
              <a:solidFill>
                <a:srgbClr val="E9B44C"/>
              </a:solidFill>
              <a:latin typeface="Aptos" panose="020B00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6C7ED44-4095-8622-84A0-E67E796AB535}"/>
              </a:ext>
            </a:extLst>
          </p:cNvPr>
          <p:cNvSpPr txBox="1"/>
          <p:nvPr/>
        </p:nvSpPr>
        <p:spPr>
          <a:xfrm>
            <a:off x="10088628" y="830580"/>
            <a:ext cx="929617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ko-KR" sz="1080" b="1">
                <a:solidFill>
                  <a:srgbClr val="64748B"/>
                </a:solidFill>
                <a:latin typeface="Aptos" panose="020B0004020202020204" pitchFamily="34" charset="0"/>
              </a:rPr>
              <a:t>layouts</a:t>
            </a:r>
            <a:endParaRPr lang="ko-KR" altLang="en-US" sz="1080" b="1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4093D14F-7DCC-A35B-BC6D-2C74AA2AC467}"/>
              </a:ext>
            </a:extLst>
          </p:cNvPr>
          <p:cNvSpPr/>
          <p:nvPr/>
        </p:nvSpPr>
        <p:spPr>
          <a:xfrm>
            <a:off x="8610385" y="1295400"/>
            <a:ext cx="1203929" cy="792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8B7CF6"/>
            </a:solidFill>
          </a:ln>
          <a:effectLst>
            <a:outerShdw blurRad="38100" dist="28988" dir="3671352" rotWithShape="0">
              <a:scrgbClr r="0" g="0" b="0">
                <a:alpha val="14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B599E94-D59E-A1FC-57CD-6E464E72EBDB}"/>
              </a:ext>
            </a:extLst>
          </p:cNvPr>
          <p:cNvSpPr txBox="1"/>
          <p:nvPr/>
        </p:nvSpPr>
        <p:spPr>
          <a:xfrm>
            <a:off x="8747541" y="1417320"/>
            <a:ext cx="929617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ko-KR" sz="2448" b="1">
                <a:solidFill>
                  <a:srgbClr val="8B7CF6"/>
                </a:solidFill>
                <a:latin typeface="Aptos" panose="020B0004020202020204" pitchFamily="34" charset="0"/>
              </a:rPr>
              <a:t>10</a:t>
            </a:r>
            <a:endParaRPr lang="ko-KR" altLang="en-US" sz="2448" b="1">
              <a:solidFill>
                <a:srgbClr val="8B7CF6"/>
              </a:solidFill>
              <a:latin typeface="Aptos" panose="020B00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9DD650B-452F-A8EF-A76E-10A64DEE0A6D}"/>
              </a:ext>
            </a:extLst>
          </p:cNvPr>
          <p:cNvSpPr txBox="1"/>
          <p:nvPr/>
        </p:nvSpPr>
        <p:spPr>
          <a:xfrm>
            <a:off x="8747541" y="1760220"/>
            <a:ext cx="929617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ko-KR" sz="1080" b="1">
                <a:solidFill>
                  <a:srgbClr val="64748B"/>
                </a:solidFill>
                <a:latin typeface="Aptos" panose="020B0004020202020204" pitchFamily="34" charset="0"/>
              </a:rPr>
              <a:t>object forms</a:t>
            </a:r>
            <a:endParaRPr lang="ko-KR" altLang="en-US" sz="1080" b="1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30DE012C-A0F9-BC56-B128-A32D707BF060}"/>
              </a:ext>
            </a:extLst>
          </p:cNvPr>
          <p:cNvSpPr/>
          <p:nvPr/>
        </p:nvSpPr>
        <p:spPr>
          <a:xfrm>
            <a:off x="9951471" y="1295400"/>
            <a:ext cx="1203929" cy="792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E123C"/>
            </a:solidFill>
          </a:ln>
          <a:effectLst>
            <a:outerShdw blurRad="38100" dist="28988" dir="3671352" rotWithShape="0">
              <a:scrgbClr r="0" g="0" b="0">
                <a:alpha val="14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F3F91C0-07FC-9101-C94C-F3B76CF7932D}"/>
              </a:ext>
            </a:extLst>
          </p:cNvPr>
          <p:cNvSpPr txBox="1"/>
          <p:nvPr/>
        </p:nvSpPr>
        <p:spPr>
          <a:xfrm>
            <a:off x="10088628" y="1417320"/>
            <a:ext cx="929617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ko-KR" sz="2448" b="1">
                <a:solidFill>
                  <a:srgbClr val="BE123C"/>
                </a:solidFill>
                <a:latin typeface="Aptos" panose="020B0004020202020204" pitchFamily="34" charset="0"/>
              </a:rPr>
              <a:t>190</a:t>
            </a:r>
            <a:endParaRPr lang="ko-KR" altLang="en-US" sz="2448" b="1">
              <a:solidFill>
                <a:srgbClr val="BE123C"/>
              </a:solidFill>
              <a:latin typeface="Aptos" panose="020B00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221744E-67BA-6889-840E-A6E1D8B2D6F6}"/>
              </a:ext>
            </a:extLst>
          </p:cNvPr>
          <p:cNvSpPr txBox="1"/>
          <p:nvPr/>
        </p:nvSpPr>
        <p:spPr>
          <a:xfrm>
            <a:off x="10088628" y="1760220"/>
            <a:ext cx="929617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ko-KR" sz="1080" b="1">
                <a:solidFill>
                  <a:srgbClr val="64748B"/>
                </a:solidFill>
                <a:latin typeface="Aptos" panose="020B0004020202020204" pitchFamily="34" charset="0"/>
              </a:rPr>
              <a:t>PPT PNGs</a:t>
            </a:r>
            <a:endParaRPr lang="ko-KR" altLang="en-US" sz="1080" b="1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BAF260C7-7490-4266-3ED3-FDA6EF5D6035}"/>
              </a:ext>
            </a:extLst>
          </p:cNvPr>
          <p:cNvSpPr/>
          <p:nvPr/>
        </p:nvSpPr>
        <p:spPr>
          <a:xfrm>
            <a:off x="914377" y="1600200"/>
            <a:ext cx="3886103" cy="2377440"/>
          </a:xfrm>
          <a:prstGeom prst="roundRect">
            <a:avLst/>
          </a:prstGeom>
          <a:solidFill>
            <a:srgbClr val="FFFFFF"/>
          </a:solidFill>
          <a:ln w="9144">
            <a:solidFill>
              <a:srgbClr val="334155"/>
            </a:solidFill>
          </a:ln>
          <a:effectLst>
            <a:outerShdw blurRad="38100" dist="28988" dir="3671352" rotWithShape="0">
              <a:scrgbClr r="0" g="0" b="0">
                <a:alpha val="14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0CFCE513-8753-828B-CD32-18E0CBE7046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575" y="1676400"/>
            <a:ext cx="3733707" cy="1981200"/>
          </a:xfrm>
          <a:prstGeom prst="rect">
            <a:avLst/>
          </a:prstGeom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A0504BC4-893B-A117-3E56-496C557CAB47}"/>
              </a:ext>
            </a:extLst>
          </p:cNvPr>
          <p:cNvSpPr/>
          <p:nvPr/>
        </p:nvSpPr>
        <p:spPr>
          <a:xfrm>
            <a:off x="990575" y="3657600"/>
            <a:ext cx="3733707" cy="28956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4E141D6-7D1E-F1F8-BB1D-1DEA19FD4AFD}"/>
              </a:ext>
            </a:extLst>
          </p:cNvPr>
          <p:cNvSpPr txBox="1"/>
          <p:nvPr/>
        </p:nvSpPr>
        <p:spPr>
          <a:xfrm>
            <a:off x="1127732" y="3718560"/>
            <a:ext cx="1219169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1080" b="1">
                <a:solidFill>
                  <a:srgbClr val="111827"/>
                </a:solidFill>
                <a:latin typeface="Aptos" panose="020B0004020202020204" pitchFamily="34" charset="0"/>
              </a:rPr>
              <a:t>technical</a:t>
            </a:r>
            <a:endParaRPr lang="ko-KR" altLang="en-US" sz="1080" b="1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EE805FA-D676-5617-66A3-5753E6AD2507}"/>
              </a:ext>
            </a:extLst>
          </p:cNvPr>
          <p:cNvSpPr txBox="1"/>
          <p:nvPr/>
        </p:nvSpPr>
        <p:spPr>
          <a:xfrm>
            <a:off x="2331662" y="3718560"/>
            <a:ext cx="2255464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1008">
                <a:solidFill>
                  <a:srgbClr val="64748B"/>
                </a:solidFill>
                <a:latin typeface="Aptos" panose="020B0004020202020204" pitchFamily="34" charset="0"/>
              </a:rPr>
              <a:t>Cover / title</a:t>
            </a:r>
            <a:endParaRPr lang="ko-KR" altLang="en-US" sz="1008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25317516-ED83-1C9E-A63E-E0DDE000D9A1}"/>
              </a:ext>
            </a:extLst>
          </p:cNvPr>
          <p:cNvSpPr/>
          <p:nvPr/>
        </p:nvSpPr>
        <p:spPr>
          <a:xfrm>
            <a:off x="4876678" y="1600200"/>
            <a:ext cx="3886103" cy="2377440"/>
          </a:xfrm>
          <a:prstGeom prst="roundRect">
            <a:avLst/>
          </a:prstGeom>
          <a:solidFill>
            <a:srgbClr val="FFFFFF"/>
          </a:solidFill>
          <a:ln w="9144">
            <a:solidFill>
              <a:srgbClr val="334155"/>
            </a:solidFill>
          </a:ln>
          <a:effectLst>
            <a:outerShdw blurRad="38100" dist="28988" dir="3671352" rotWithShape="0">
              <a:scrgbClr r="0" g="0" b="0">
                <a:alpha val="14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72156CED-7A3D-9B65-6EB3-CB48FB7239B4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2876" y="1676400"/>
            <a:ext cx="3733707" cy="1981200"/>
          </a:xfrm>
          <a:prstGeom prst="rect">
            <a:avLst/>
          </a:prstGeom>
        </p:spPr>
      </p:pic>
      <p:sp>
        <p:nvSpPr>
          <p:cNvPr id="28" name="직사각형 27">
            <a:extLst>
              <a:ext uri="{FF2B5EF4-FFF2-40B4-BE49-F238E27FC236}">
                <a16:creationId xmlns:a16="http://schemas.microsoft.com/office/drawing/2014/main" id="{1AAF4F35-A055-9117-A3FD-B2AC0D00479C}"/>
              </a:ext>
            </a:extLst>
          </p:cNvPr>
          <p:cNvSpPr/>
          <p:nvPr/>
        </p:nvSpPr>
        <p:spPr>
          <a:xfrm>
            <a:off x="4952876" y="3657600"/>
            <a:ext cx="3733707" cy="28956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753D23C-A9DA-902B-7B18-52277B0EF3CB}"/>
              </a:ext>
            </a:extLst>
          </p:cNvPr>
          <p:cNvSpPr txBox="1"/>
          <p:nvPr/>
        </p:nvSpPr>
        <p:spPr>
          <a:xfrm>
            <a:off x="5090033" y="3718560"/>
            <a:ext cx="1219169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1080" b="1">
                <a:solidFill>
                  <a:srgbClr val="111827"/>
                </a:solidFill>
                <a:latin typeface="Aptos" panose="020B0004020202020204" pitchFamily="34" charset="0"/>
              </a:rPr>
              <a:t>glass</a:t>
            </a:r>
            <a:endParaRPr lang="ko-KR" altLang="en-US" sz="1080" b="1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C1D4622-8382-5523-315E-639968C9355E}"/>
              </a:ext>
            </a:extLst>
          </p:cNvPr>
          <p:cNvSpPr txBox="1"/>
          <p:nvPr/>
        </p:nvSpPr>
        <p:spPr>
          <a:xfrm>
            <a:off x="6293963" y="3718560"/>
            <a:ext cx="2255464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1008">
                <a:solidFill>
                  <a:srgbClr val="64748B"/>
                </a:solidFill>
                <a:latin typeface="Aptos" panose="020B0004020202020204" pitchFamily="34" charset="0"/>
              </a:rPr>
              <a:t>Semantic grid</a:t>
            </a:r>
            <a:endParaRPr lang="ko-KR" altLang="en-US" sz="1008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969B176F-0886-33D7-D76C-21A2A55EE94A}"/>
              </a:ext>
            </a:extLst>
          </p:cNvPr>
          <p:cNvSpPr/>
          <p:nvPr/>
        </p:nvSpPr>
        <p:spPr>
          <a:xfrm>
            <a:off x="914377" y="4130040"/>
            <a:ext cx="3886103" cy="2377440"/>
          </a:xfrm>
          <a:prstGeom prst="roundRect">
            <a:avLst/>
          </a:prstGeom>
          <a:solidFill>
            <a:srgbClr val="FFFFFF"/>
          </a:solidFill>
          <a:ln w="9144">
            <a:solidFill>
              <a:srgbClr val="334155"/>
            </a:solidFill>
          </a:ln>
          <a:effectLst>
            <a:outerShdw blurRad="38100" dist="28988" dir="3671352" rotWithShape="0">
              <a:scrgbClr r="0" g="0" b="0">
                <a:alpha val="14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3" name="그림 32">
            <a:extLst>
              <a:ext uri="{FF2B5EF4-FFF2-40B4-BE49-F238E27FC236}">
                <a16:creationId xmlns:a16="http://schemas.microsoft.com/office/drawing/2014/main" id="{5D050ADF-0573-BEE9-74C5-6B3C147BF0DE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575" y="4206240"/>
            <a:ext cx="3733707" cy="1981200"/>
          </a:xfrm>
          <a:prstGeom prst="rect">
            <a:avLst/>
          </a:prstGeom>
        </p:spPr>
      </p:pic>
      <p:sp>
        <p:nvSpPr>
          <p:cNvPr id="34" name="직사각형 33">
            <a:extLst>
              <a:ext uri="{FF2B5EF4-FFF2-40B4-BE49-F238E27FC236}">
                <a16:creationId xmlns:a16="http://schemas.microsoft.com/office/drawing/2014/main" id="{571087E5-A80C-C6E5-26B8-B9C0569D5F3D}"/>
              </a:ext>
            </a:extLst>
          </p:cNvPr>
          <p:cNvSpPr/>
          <p:nvPr/>
        </p:nvSpPr>
        <p:spPr>
          <a:xfrm>
            <a:off x="990575" y="6187440"/>
            <a:ext cx="3733707" cy="28956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B45DBB2-BB4D-093A-7749-A9E4FED7DEF4}"/>
              </a:ext>
            </a:extLst>
          </p:cNvPr>
          <p:cNvSpPr txBox="1"/>
          <p:nvPr/>
        </p:nvSpPr>
        <p:spPr>
          <a:xfrm>
            <a:off x="1127732" y="6248400"/>
            <a:ext cx="1219169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1080" b="1">
                <a:solidFill>
                  <a:srgbClr val="111827"/>
                </a:solidFill>
                <a:latin typeface="Aptos" panose="020B0004020202020204" pitchFamily="34" charset="0"/>
              </a:rPr>
              <a:t>data</a:t>
            </a:r>
            <a:endParaRPr lang="ko-KR" altLang="en-US" sz="1080" b="1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A9F6AF4-F6B3-7AD5-8C6D-0AF718F75FB2}"/>
              </a:ext>
            </a:extLst>
          </p:cNvPr>
          <p:cNvSpPr txBox="1"/>
          <p:nvPr/>
        </p:nvSpPr>
        <p:spPr>
          <a:xfrm>
            <a:off x="2331662" y="6248400"/>
            <a:ext cx="2255464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1008">
                <a:solidFill>
                  <a:srgbClr val="64748B"/>
                </a:solidFill>
                <a:latin typeface="Aptos" panose="020B0004020202020204" pitchFamily="34" charset="0"/>
              </a:rPr>
              <a:t>Chart + table</a:t>
            </a:r>
            <a:endParaRPr lang="ko-KR" altLang="en-US" sz="1008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FC58F2D7-57DD-6622-3832-8911ED623706}"/>
              </a:ext>
            </a:extLst>
          </p:cNvPr>
          <p:cNvSpPr/>
          <p:nvPr/>
        </p:nvSpPr>
        <p:spPr>
          <a:xfrm>
            <a:off x="4876678" y="4130040"/>
            <a:ext cx="3886103" cy="2377440"/>
          </a:xfrm>
          <a:prstGeom prst="roundRect">
            <a:avLst/>
          </a:prstGeom>
          <a:solidFill>
            <a:srgbClr val="FFFFFF"/>
          </a:solidFill>
          <a:ln w="9144">
            <a:solidFill>
              <a:srgbClr val="334155"/>
            </a:solidFill>
          </a:ln>
          <a:effectLst>
            <a:outerShdw blurRad="38100" dist="28988" dir="3671352" rotWithShape="0">
              <a:scrgbClr r="0" g="0" b="0">
                <a:alpha val="14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9" name="그림 38">
            <a:extLst>
              <a:ext uri="{FF2B5EF4-FFF2-40B4-BE49-F238E27FC236}">
                <a16:creationId xmlns:a16="http://schemas.microsoft.com/office/drawing/2014/main" id="{C03DA2D9-2013-0218-8D0A-6967AECA0E82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2876" y="4206240"/>
            <a:ext cx="3733707" cy="1981200"/>
          </a:xfrm>
          <a:prstGeom prst="rect">
            <a:avLst/>
          </a:prstGeom>
        </p:spPr>
      </p:pic>
      <p:sp>
        <p:nvSpPr>
          <p:cNvPr id="40" name="직사각형 39">
            <a:extLst>
              <a:ext uri="{FF2B5EF4-FFF2-40B4-BE49-F238E27FC236}">
                <a16:creationId xmlns:a16="http://schemas.microsoft.com/office/drawing/2014/main" id="{220C4F08-7207-D5C4-6258-8F42706BB26E}"/>
              </a:ext>
            </a:extLst>
          </p:cNvPr>
          <p:cNvSpPr/>
          <p:nvPr/>
        </p:nvSpPr>
        <p:spPr>
          <a:xfrm>
            <a:off x="4952876" y="6187440"/>
            <a:ext cx="3733707" cy="28956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B96E459-4F8C-36A4-6E5D-22A5BDB78A8F}"/>
              </a:ext>
            </a:extLst>
          </p:cNvPr>
          <p:cNvSpPr txBox="1"/>
          <p:nvPr/>
        </p:nvSpPr>
        <p:spPr>
          <a:xfrm>
            <a:off x="5090033" y="6248400"/>
            <a:ext cx="1219169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1080" b="1">
                <a:solidFill>
                  <a:srgbClr val="111827"/>
                </a:solidFill>
                <a:latin typeface="Aptos" panose="020B0004020202020204" pitchFamily="34" charset="0"/>
              </a:rPr>
              <a:t>magazine</a:t>
            </a:r>
            <a:endParaRPr lang="ko-KR" altLang="en-US" sz="1080" b="1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9B9544F-1355-4DB6-6143-341EA957FC4B}"/>
              </a:ext>
            </a:extLst>
          </p:cNvPr>
          <p:cNvSpPr txBox="1"/>
          <p:nvPr/>
        </p:nvSpPr>
        <p:spPr>
          <a:xfrm>
            <a:off x="6293963" y="6248400"/>
            <a:ext cx="2255464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1008">
                <a:solidFill>
                  <a:srgbClr val="64748B"/>
                </a:solidFill>
                <a:latin typeface="Aptos" panose="020B0004020202020204" pitchFamily="34" charset="0"/>
              </a:rPr>
              <a:t>Object grammar</a:t>
            </a:r>
            <a:endParaRPr lang="ko-KR" altLang="en-US" sz="1008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2E958CD4-93C6-37E2-5EA1-54413433C0A6}"/>
              </a:ext>
            </a:extLst>
          </p:cNvPr>
          <p:cNvSpPr/>
          <p:nvPr/>
        </p:nvSpPr>
        <p:spPr>
          <a:xfrm>
            <a:off x="8991375" y="2484120"/>
            <a:ext cx="2316422" cy="2712720"/>
          </a:xfrm>
          <a:prstGeom prst="roundRect">
            <a:avLst/>
          </a:prstGeom>
          <a:solidFill>
            <a:srgbClr val="FFFFFF"/>
          </a:solidFill>
          <a:ln w="9144">
            <a:solidFill>
              <a:srgbClr val="334155"/>
            </a:solidFill>
          </a:ln>
          <a:effectLst>
            <a:outerShdw blurRad="38100" dist="28988" dir="3671352" rotWithShape="0">
              <a:scrgbClr r="0" g="0" b="0">
                <a:alpha val="14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6665C0F-7D06-00AB-85BD-3A549C8AA257}"/>
              </a:ext>
            </a:extLst>
          </p:cNvPr>
          <p:cNvSpPr txBox="1"/>
          <p:nvPr/>
        </p:nvSpPr>
        <p:spPr>
          <a:xfrm>
            <a:off x="9219970" y="2697480"/>
            <a:ext cx="1752556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1728" b="1">
                <a:solidFill>
                  <a:srgbClr val="111827"/>
                </a:solidFill>
                <a:latin typeface="Aptos" panose="020B0004020202020204" pitchFamily="34" charset="0"/>
              </a:rPr>
              <a:t>Feature Coverage</a:t>
            </a:r>
            <a:endParaRPr lang="ko-KR" altLang="en-US" sz="1728" b="1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130AA0EC-F13B-9BA9-E5EF-5E892E4A9760}"/>
              </a:ext>
            </a:extLst>
          </p:cNvPr>
          <p:cNvSpPr/>
          <p:nvPr/>
        </p:nvSpPr>
        <p:spPr>
          <a:xfrm>
            <a:off x="9219970" y="3032760"/>
            <a:ext cx="1859234" cy="320040"/>
          </a:xfrm>
          <a:prstGeom prst="roundRect">
            <a:avLst/>
          </a:prstGeom>
          <a:solidFill>
            <a:srgbClr val="FFFFFF"/>
          </a:solidFill>
          <a:ln w="10668">
            <a:solidFill>
              <a:srgbClr val="14B8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62CEC64E-A837-6214-8DE5-1067BCBA5A6D}"/>
              </a:ext>
            </a:extLst>
          </p:cNvPr>
          <p:cNvSpPr/>
          <p:nvPr/>
        </p:nvSpPr>
        <p:spPr>
          <a:xfrm>
            <a:off x="9326647" y="3124200"/>
            <a:ext cx="137157" cy="137160"/>
          </a:xfrm>
          <a:prstGeom prst="ellipse">
            <a:avLst/>
          </a:prstGeom>
          <a:solidFill>
            <a:srgbClr val="14B8A6"/>
          </a:solidFill>
          <a:ln w="9144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30F7D37-E785-ED77-606B-87C42B414DEB}"/>
              </a:ext>
            </a:extLst>
          </p:cNvPr>
          <p:cNvSpPr txBox="1"/>
          <p:nvPr/>
        </p:nvSpPr>
        <p:spPr>
          <a:xfrm>
            <a:off x="9326647" y="3124200"/>
            <a:ext cx="137157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ko-KR" sz="920" b="1">
                <a:solidFill>
                  <a:srgbClr val="FFFFFF"/>
                </a:solidFill>
                <a:latin typeface="Aptos" panose="020B0004020202020204" pitchFamily="34" charset="0"/>
              </a:rPr>
              <a:t>T</a:t>
            </a:r>
            <a:endParaRPr lang="ko-KR" altLang="en-US" sz="92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256A55A-F54B-6842-C32B-23A127CA3C93}"/>
              </a:ext>
            </a:extLst>
          </p:cNvPr>
          <p:cNvSpPr txBox="1"/>
          <p:nvPr/>
        </p:nvSpPr>
        <p:spPr>
          <a:xfrm>
            <a:off x="9540001" y="3093720"/>
            <a:ext cx="1432524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936" b="1">
                <a:solidFill>
                  <a:srgbClr val="111827"/>
                </a:solidFill>
                <a:latin typeface="Aptos" panose="020B0004020202020204" pitchFamily="34" charset="0"/>
              </a:rPr>
              <a:t>Theme colors</a:t>
            </a:r>
            <a:endParaRPr lang="ko-KR" altLang="en-US" sz="936" b="1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7925BFE5-1A3B-21A0-B630-7C5D6FD972CD}"/>
              </a:ext>
            </a:extLst>
          </p:cNvPr>
          <p:cNvSpPr/>
          <p:nvPr/>
        </p:nvSpPr>
        <p:spPr>
          <a:xfrm>
            <a:off x="9219970" y="3360420"/>
            <a:ext cx="1859234" cy="320040"/>
          </a:xfrm>
          <a:prstGeom prst="roundRect">
            <a:avLst/>
          </a:prstGeom>
          <a:solidFill>
            <a:srgbClr val="FFFFFF"/>
          </a:solidFill>
          <a:ln w="10668">
            <a:solidFill>
              <a:srgbClr val="E9B44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AFF8127D-B998-07B5-ADB1-390F293B0A45}"/>
              </a:ext>
            </a:extLst>
          </p:cNvPr>
          <p:cNvSpPr/>
          <p:nvPr/>
        </p:nvSpPr>
        <p:spPr>
          <a:xfrm>
            <a:off x="9326647" y="3451860"/>
            <a:ext cx="137157" cy="137160"/>
          </a:xfrm>
          <a:prstGeom prst="ellipse">
            <a:avLst/>
          </a:prstGeom>
          <a:solidFill>
            <a:srgbClr val="E9B44C"/>
          </a:solidFill>
          <a:ln w="9144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DF8D305-6C9F-A15F-9C88-97EBEF625878}"/>
              </a:ext>
            </a:extLst>
          </p:cNvPr>
          <p:cNvSpPr txBox="1"/>
          <p:nvPr/>
        </p:nvSpPr>
        <p:spPr>
          <a:xfrm>
            <a:off x="9326647" y="3451860"/>
            <a:ext cx="137157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ko-KR" sz="920" b="1">
                <a:solidFill>
                  <a:srgbClr val="FFFFFF"/>
                </a:solidFill>
                <a:latin typeface="Aptos" panose="020B0004020202020204" pitchFamily="34" charset="0"/>
              </a:rPr>
              <a:t>S</a:t>
            </a:r>
            <a:endParaRPr lang="ko-KR" altLang="en-US" sz="92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2DF39AC-06CF-0D81-490C-ED2962764021}"/>
              </a:ext>
            </a:extLst>
          </p:cNvPr>
          <p:cNvSpPr txBox="1"/>
          <p:nvPr/>
        </p:nvSpPr>
        <p:spPr>
          <a:xfrm>
            <a:off x="9540001" y="3421380"/>
            <a:ext cx="1432524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936" b="1">
                <a:solidFill>
                  <a:srgbClr val="111827"/>
                </a:solidFill>
                <a:latin typeface="Aptos" panose="020B0004020202020204" pitchFamily="34" charset="0"/>
              </a:rPr>
              <a:t>SVG surfaces</a:t>
            </a:r>
            <a:endParaRPr lang="ko-KR" altLang="en-US" sz="936" b="1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21877671-7E78-33CB-F110-A1A7435D1214}"/>
              </a:ext>
            </a:extLst>
          </p:cNvPr>
          <p:cNvSpPr/>
          <p:nvPr/>
        </p:nvSpPr>
        <p:spPr>
          <a:xfrm>
            <a:off x="9219970" y="3688080"/>
            <a:ext cx="1859234" cy="320040"/>
          </a:xfrm>
          <a:prstGeom prst="roundRect">
            <a:avLst/>
          </a:prstGeom>
          <a:solidFill>
            <a:srgbClr val="FFFFFF"/>
          </a:solidFill>
          <a:ln w="10668">
            <a:solidFill>
              <a:srgbClr val="8B7C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타원 53">
            <a:extLst>
              <a:ext uri="{FF2B5EF4-FFF2-40B4-BE49-F238E27FC236}">
                <a16:creationId xmlns:a16="http://schemas.microsoft.com/office/drawing/2014/main" id="{361AECED-BE96-93C8-02D4-E952D0165DA8}"/>
              </a:ext>
            </a:extLst>
          </p:cNvPr>
          <p:cNvSpPr/>
          <p:nvPr/>
        </p:nvSpPr>
        <p:spPr>
          <a:xfrm>
            <a:off x="9326647" y="3779520"/>
            <a:ext cx="137157" cy="137160"/>
          </a:xfrm>
          <a:prstGeom prst="ellipse">
            <a:avLst/>
          </a:prstGeom>
          <a:solidFill>
            <a:srgbClr val="8B7CF6"/>
          </a:solidFill>
          <a:ln w="9144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81B623C-40AD-ADD6-7D48-27774D71EC1C}"/>
              </a:ext>
            </a:extLst>
          </p:cNvPr>
          <p:cNvSpPr txBox="1"/>
          <p:nvPr/>
        </p:nvSpPr>
        <p:spPr>
          <a:xfrm>
            <a:off x="9326647" y="3779520"/>
            <a:ext cx="137157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ko-KR" sz="920" b="1">
                <a:solidFill>
                  <a:srgbClr val="FFFFFF"/>
                </a:solidFill>
                <a:latin typeface="Aptos" panose="020B0004020202020204" pitchFamily="34" charset="0"/>
              </a:rPr>
              <a:t>P</a:t>
            </a:r>
            <a:endParaRPr lang="ko-KR" altLang="en-US" sz="92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C9B7E0E-D33A-F1A7-655E-E31C2330281E}"/>
              </a:ext>
            </a:extLst>
          </p:cNvPr>
          <p:cNvSpPr txBox="1"/>
          <p:nvPr/>
        </p:nvSpPr>
        <p:spPr>
          <a:xfrm>
            <a:off x="9540001" y="3749040"/>
            <a:ext cx="1432524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936" b="1">
                <a:solidFill>
                  <a:srgbClr val="111827"/>
                </a:solidFill>
                <a:latin typeface="Aptos" panose="020B0004020202020204" pitchFamily="34" charset="0"/>
              </a:rPr>
              <a:t>Proof objects</a:t>
            </a:r>
            <a:endParaRPr lang="ko-KR" altLang="en-US" sz="936" b="1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15AFD296-6CA8-3686-6D62-151BC9658DFD}"/>
              </a:ext>
            </a:extLst>
          </p:cNvPr>
          <p:cNvSpPr/>
          <p:nvPr/>
        </p:nvSpPr>
        <p:spPr>
          <a:xfrm>
            <a:off x="9219970" y="4015740"/>
            <a:ext cx="1859234" cy="320040"/>
          </a:xfrm>
          <a:prstGeom prst="roundRect">
            <a:avLst/>
          </a:prstGeom>
          <a:solidFill>
            <a:srgbClr val="FFFFFF"/>
          </a:solidFill>
          <a:ln w="10668">
            <a:solidFill>
              <a:srgbClr val="BE12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타원 57">
            <a:extLst>
              <a:ext uri="{FF2B5EF4-FFF2-40B4-BE49-F238E27FC236}">
                <a16:creationId xmlns:a16="http://schemas.microsoft.com/office/drawing/2014/main" id="{DF9B09E1-26E9-508A-BBB0-950182A031A8}"/>
              </a:ext>
            </a:extLst>
          </p:cNvPr>
          <p:cNvSpPr/>
          <p:nvPr/>
        </p:nvSpPr>
        <p:spPr>
          <a:xfrm>
            <a:off x="9326647" y="4107180"/>
            <a:ext cx="137157" cy="137160"/>
          </a:xfrm>
          <a:prstGeom prst="ellipse">
            <a:avLst/>
          </a:prstGeom>
          <a:solidFill>
            <a:srgbClr val="BE123C"/>
          </a:solidFill>
          <a:ln w="9144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2536AF2-31F4-0761-82C5-90521BBCD0C2}"/>
              </a:ext>
            </a:extLst>
          </p:cNvPr>
          <p:cNvSpPr txBox="1"/>
          <p:nvPr/>
        </p:nvSpPr>
        <p:spPr>
          <a:xfrm>
            <a:off x="9326647" y="4107180"/>
            <a:ext cx="137157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ko-KR" sz="920" b="1">
                <a:solidFill>
                  <a:srgbClr val="FFFFFF"/>
                </a:solidFill>
                <a:latin typeface="Aptos" panose="020B0004020202020204" pitchFamily="34" charset="0"/>
              </a:rPr>
              <a:t>N</a:t>
            </a:r>
            <a:endParaRPr lang="ko-KR" altLang="en-US" sz="92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1A49513-2082-85AE-7ABD-BDD58EB9C7AD}"/>
              </a:ext>
            </a:extLst>
          </p:cNvPr>
          <p:cNvSpPr txBox="1"/>
          <p:nvPr/>
        </p:nvSpPr>
        <p:spPr>
          <a:xfrm>
            <a:off x="9540001" y="4076700"/>
            <a:ext cx="1432524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936" b="1">
                <a:solidFill>
                  <a:srgbClr val="111827"/>
                </a:solidFill>
                <a:latin typeface="Aptos" panose="020B0004020202020204" pitchFamily="34" charset="0"/>
              </a:rPr>
              <a:t>Native tables</a:t>
            </a:r>
            <a:endParaRPr lang="ko-KR" altLang="en-US" sz="936" b="1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B1337FDF-A3D1-D3DF-A8A2-FCC54204D729}"/>
              </a:ext>
            </a:extLst>
          </p:cNvPr>
          <p:cNvSpPr/>
          <p:nvPr/>
        </p:nvSpPr>
        <p:spPr>
          <a:xfrm>
            <a:off x="9219970" y="4343400"/>
            <a:ext cx="1859234" cy="320040"/>
          </a:xfrm>
          <a:prstGeom prst="roundRect">
            <a:avLst/>
          </a:prstGeom>
          <a:solidFill>
            <a:srgbClr val="FFFFFF"/>
          </a:solidFill>
          <a:ln w="10668">
            <a:solidFill>
              <a:srgbClr val="86A78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타원 61">
            <a:extLst>
              <a:ext uri="{FF2B5EF4-FFF2-40B4-BE49-F238E27FC236}">
                <a16:creationId xmlns:a16="http://schemas.microsoft.com/office/drawing/2014/main" id="{5D313F73-D468-9307-7B52-928253F11933}"/>
              </a:ext>
            </a:extLst>
          </p:cNvPr>
          <p:cNvSpPr/>
          <p:nvPr/>
        </p:nvSpPr>
        <p:spPr>
          <a:xfrm>
            <a:off x="9326647" y="4434840"/>
            <a:ext cx="137157" cy="137160"/>
          </a:xfrm>
          <a:prstGeom prst="ellipse">
            <a:avLst/>
          </a:prstGeom>
          <a:solidFill>
            <a:srgbClr val="86A789"/>
          </a:solidFill>
          <a:ln w="9144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FFD3150-F952-2744-4D0E-F81A097CC07A}"/>
              </a:ext>
            </a:extLst>
          </p:cNvPr>
          <p:cNvSpPr txBox="1"/>
          <p:nvPr/>
        </p:nvSpPr>
        <p:spPr>
          <a:xfrm>
            <a:off x="9326647" y="4434840"/>
            <a:ext cx="137157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ko-KR" sz="920" b="1">
                <a:solidFill>
                  <a:srgbClr val="FFFFFF"/>
                </a:solidFill>
                <a:latin typeface="Aptos" panose="020B0004020202020204" pitchFamily="34" charset="0"/>
              </a:rPr>
              <a:t>C</a:t>
            </a:r>
            <a:endParaRPr lang="ko-KR" altLang="en-US" sz="92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BCA9980-2914-9927-B7BD-603EDBBFFFED}"/>
              </a:ext>
            </a:extLst>
          </p:cNvPr>
          <p:cNvSpPr txBox="1"/>
          <p:nvPr/>
        </p:nvSpPr>
        <p:spPr>
          <a:xfrm>
            <a:off x="9540001" y="4404360"/>
            <a:ext cx="1432524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936" b="1">
                <a:solidFill>
                  <a:srgbClr val="111827"/>
                </a:solidFill>
                <a:latin typeface="Aptos" panose="020B0004020202020204" pitchFamily="34" charset="0"/>
              </a:rPr>
              <a:t>Charts + prose</a:t>
            </a:r>
            <a:endParaRPr lang="ko-KR" altLang="en-US" sz="936" b="1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  <p:sp>
        <p:nvSpPr>
          <p:cNvPr id="65" name="사각형: 둥근 모서리 64">
            <a:extLst>
              <a:ext uri="{FF2B5EF4-FFF2-40B4-BE49-F238E27FC236}">
                <a16:creationId xmlns:a16="http://schemas.microsoft.com/office/drawing/2014/main" id="{13AF8765-115C-4FF1-A4F3-76A93B7D66FB}"/>
              </a:ext>
            </a:extLst>
          </p:cNvPr>
          <p:cNvSpPr/>
          <p:nvPr/>
        </p:nvSpPr>
        <p:spPr>
          <a:xfrm>
            <a:off x="9219970" y="4671060"/>
            <a:ext cx="1859234" cy="320040"/>
          </a:xfrm>
          <a:prstGeom prst="roundRect">
            <a:avLst/>
          </a:prstGeom>
          <a:solidFill>
            <a:srgbClr val="FFFFFF"/>
          </a:solidFill>
          <a:ln w="10668">
            <a:solidFill>
              <a:srgbClr val="6366F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타원 65">
            <a:extLst>
              <a:ext uri="{FF2B5EF4-FFF2-40B4-BE49-F238E27FC236}">
                <a16:creationId xmlns:a16="http://schemas.microsoft.com/office/drawing/2014/main" id="{6B1E6365-C898-7F62-19BF-43B950DC34A5}"/>
              </a:ext>
            </a:extLst>
          </p:cNvPr>
          <p:cNvSpPr/>
          <p:nvPr/>
        </p:nvSpPr>
        <p:spPr>
          <a:xfrm>
            <a:off x="9326647" y="4762500"/>
            <a:ext cx="137157" cy="137160"/>
          </a:xfrm>
          <a:prstGeom prst="ellipse">
            <a:avLst/>
          </a:prstGeom>
          <a:solidFill>
            <a:srgbClr val="6366F1"/>
          </a:solidFill>
          <a:ln w="9144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EF2B9B2-FDD0-FC7F-E6B2-3C619C83BA30}"/>
              </a:ext>
            </a:extLst>
          </p:cNvPr>
          <p:cNvSpPr txBox="1"/>
          <p:nvPr/>
        </p:nvSpPr>
        <p:spPr>
          <a:xfrm>
            <a:off x="9326647" y="4762500"/>
            <a:ext cx="137157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ko-KR" sz="920" b="1">
                <a:solidFill>
                  <a:srgbClr val="FFFFFF"/>
                </a:solidFill>
                <a:latin typeface="Aptos" panose="020B0004020202020204" pitchFamily="34" charset="0"/>
              </a:rPr>
              <a:t>O</a:t>
            </a:r>
            <a:endParaRPr lang="ko-KR" altLang="en-US" sz="92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C5FEDBC-6223-1586-E995-B2DDB800756F}"/>
              </a:ext>
            </a:extLst>
          </p:cNvPr>
          <p:cNvSpPr txBox="1"/>
          <p:nvPr/>
        </p:nvSpPr>
        <p:spPr>
          <a:xfrm>
            <a:off x="9540001" y="4732020"/>
            <a:ext cx="1432524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936" b="1">
                <a:solidFill>
                  <a:srgbClr val="111827"/>
                </a:solidFill>
                <a:latin typeface="Aptos" panose="020B0004020202020204" pitchFamily="34" charset="0"/>
              </a:rPr>
              <a:t>Overflow QA</a:t>
            </a:r>
            <a:endParaRPr lang="ko-KR" altLang="en-US" sz="936" b="1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  <p:sp>
        <p:nvSpPr>
          <p:cNvPr id="69" name="사각형: 둥근 모서리 68">
            <a:extLst>
              <a:ext uri="{FF2B5EF4-FFF2-40B4-BE49-F238E27FC236}">
                <a16:creationId xmlns:a16="http://schemas.microsoft.com/office/drawing/2014/main" id="{753D7357-F7D1-166E-B32A-6E2B10B6FE6F}"/>
              </a:ext>
            </a:extLst>
          </p:cNvPr>
          <p:cNvSpPr/>
          <p:nvPr/>
        </p:nvSpPr>
        <p:spPr>
          <a:xfrm>
            <a:off x="8991375" y="5440680"/>
            <a:ext cx="2316422" cy="640080"/>
          </a:xfrm>
          <a:prstGeom prst="roundRect">
            <a:avLst/>
          </a:prstGeom>
          <a:solidFill>
            <a:srgbClr val="17213A"/>
          </a:solidFill>
          <a:ln w="13716">
            <a:solidFill>
              <a:srgbClr val="22D3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E49F3BC-9CC7-31CD-1F14-EBD9077EFB9A}"/>
              </a:ext>
            </a:extLst>
          </p:cNvPr>
          <p:cNvSpPr txBox="1"/>
          <p:nvPr/>
        </p:nvSpPr>
        <p:spPr>
          <a:xfrm>
            <a:off x="9219970" y="5562600"/>
            <a:ext cx="1859234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ko-KR" sz="1152" b="1">
                <a:solidFill>
                  <a:srgbClr val="FFFFFF"/>
                </a:solidFill>
                <a:latin typeface="Aptos" panose="020B0004020202020204" pitchFamily="34" charset="0"/>
              </a:rPr>
              <a:t>Built from MDPR results</a:t>
            </a:r>
            <a:endParaRPr lang="ko-KR" altLang="en-US" sz="1152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5F922CE-351F-0D0B-D9CA-D64B3365140B}"/>
              </a:ext>
            </a:extLst>
          </p:cNvPr>
          <p:cNvSpPr txBox="1"/>
          <p:nvPr/>
        </p:nvSpPr>
        <p:spPr>
          <a:xfrm>
            <a:off x="9219970" y="5806440"/>
            <a:ext cx="1859234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ko-KR" sz="920">
                <a:solidFill>
                  <a:srgbClr val="CBD5E1"/>
                </a:solidFill>
                <a:latin typeface="Aptos" panose="020B0004020202020204" pitchFamily="34" charset="0"/>
              </a:rPr>
              <a:t>theme-preview PPTX -&gt; PNG</a:t>
            </a:r>
            <a:endParaRPr lang="ko-KR" altLang="en-US" sz="920">
              <a:solidFill>
                <a:srgbClr val="CBD5E1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04829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</Words>
  <Application>Microsoft Office PowerPoint</Application>
  <PresentationFormat>사용자 지정</PresentationFormat>
  <Paragraphs>33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맑은 고딕</vt:lpstr>
      <vt:lpstr>Aptos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채승훈</dc:creator>
  <cp:lastModifiedBy>채승훈</cp:lastModifiedBy>
  <cp:revision>1</cp:revision>
  <dcterms:created xsi:type="dcterms:W3CDTF">2026-06-20T15:14:58Z</dcterms:created>
  <dcterms:modified xsi:type="dcterms:W3CDTF">2026-06-20T15:14:58Z</dcterms:modified>
</cp:coreProperties>
</file>