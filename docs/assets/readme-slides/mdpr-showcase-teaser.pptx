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5A7AC7-9589-B851-1585-15E800E262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2CCBEB-BF27-F116-E096-4E814FF2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DC3D88-A3DC-AF29-3199-C7E7F91BD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B76A40-0671-C7CE-71B0-B28670826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0F939-D067-8A7F-0B72-36B875C04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337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982965-DFBD-BD4A-7AD6-D79389634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41661D-58A0-BB35-C5C7-5AF6FEEB6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041E01-8693-47AD-2DB7-B591976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110C3-AEFB-8771-7698-BEF84F838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72209-3F4C-4C38-4593-F2A58467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6772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2731C4-6BBB-3A9B-D746-A000730B2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209A78-251D-7371-7196-24D48B573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B36630-0AC8-9D0F-8D34-E8C842AD7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CA7D89-5704-6A43-7A9E-B94C4DBD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485F5F-AEE9-D3D8-23F2-2839BB3CD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6512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199B0-F79A-4675-5D9C-151C4C0E5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2D4CF6-CA2B-933A-5B2D-6B1256780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864FC4-2027-C65E-CA60-3566AC9BBA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300B33-11CC-C22F-EFAB-E96CEB7D2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9BA530-732D-0200-5196-721D9A672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186BDF-A743-1392-554A-3CE4BFBBC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3703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BF9CA-EFEB-5EDF-8B5D-3FC68DEE0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426B34-7806-F8B7-FB72-383E96A1E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4374DD-19B7-B601-9652-363E510A9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C5C0BD8-3B77-8974-BF8E-F89AE9A28D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45B407-B995-ECB7-E2B2-0FA954D89A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5333115-F09A-0A57-D5C5-E70FCFDEA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7E86FED-F554-6F91-30D8-22366AB08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31484F2-143E-461D-CBC4-2FE5F3FEB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268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5CCD14-B528-F4AC-6DBC-BCE199C65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6EB423-E726-9DE2-FF9E-5822532B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CC9187-5161-3BFD-1249-1F3807267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C41DA2-EBA7-9278-19EA-FF4D2A79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176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7F1CEB-878C-80B2-32B2-AA352E251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C22FDE-C901-CAD1-8568-259ADD3D4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CEB3C7-4A9F-1011-2585-DAA6721F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67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E7A493-560A-F0D4-D0C4-93D8CEB7F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A6955C-ED12-C760-0EE6-C2913F38A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D13594-71CE-B6C7-122C-FDB3884740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EFE3AF-77D4-1C04-A860-27A57564A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073B83-3603-B8D4-36DE-C6B85B28C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713079-0B8A-1E41-24FE-0B0D5A5F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245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0CD46-8616-701D-1028-D2D14E940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E234B1-E940-ABC9-C07C-498CBC277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E3328D-256F-7222-22C4-91CE26A794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F37FA0-AFA9-7093-8218-687F2BD40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AC17C8-B563-3C40-C17A-A4C9493A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ABF293-882F-42CC-3187-BBFC6303E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644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EA67D-A7A6-99AF-E6BA-BE0AE6F5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FA83B2-D47E-1C57-F7E7-471854788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163E3D-3E9A-3655-07ED-4B3475056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EAF14F-95ED-DAD9-7A91-405008DCA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F9D535-884A-99F7-480A-461DE2EB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688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B46220A-6137-DAAC-BF6A-BE8B215702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82C756F-7896-3B8E-DB79-95DE12654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1959D7-A1E5-EE9F-5CAC-346E64683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3863CB-0278-EA7E-0876-741937147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898707-C5C9-4E2C-63D3-7F6E8E37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203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5861D90-2FD4-BDC9-FAD0-1FC7121F5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4301AD-631C-D9E4-6184-144E307C9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0A3179-026A-7EDB-7B5E-7ECB7DADD4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102FE8-5E0B-4008-BD70-DE3CA99DBFFE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7135B0-B89C-4E28-FFDD-6AE2BAF4B6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B4B28B-36AB-F089-E4FA-42B99B4635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260F0-8A78-4BA2-96EF-454563B2238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4A31114-BFCE-6AF4-D0A9-E6DECE54A62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0668">
            <a:solidFill>
              <a:srgbClr val="1018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79E15B-D772-96EE-4129-E7589424ED48}"/>
              </a:ext>
            </a:extLst>
          </p:cNvPr>
          <p:cNvSpPr/>
          <p:nvPr/>
        </p:nvSpPr>
        <p:spPr>
          <a:xfrm>
            <a:off x="0" y="0"/>
            <a:ext cx="563866" cy="6858000"/>
          </a:xfrm>
          <a:prstGeom prst="rect">
            <a:avLst/>
          </a:prstGeom>
          <a:solidFill>
            <a:srgbClr val="14B8A6"/>
          </a:solidFill>
          <a:ln w="1066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5C0FF7F-A4B6-3ECB-15FB-F1C315A8D811}"/>
              </a:ext>
            </a:extLst>
          </p:cNvPr>
          <p:cNvSpPr/>
          <p:nvPr/>
        </p:nvSpPr>
        <p:spPr>
          <a:xfrm>
            <a:off x="563866" y="0"/>
            <a:ext cx="11627829" cy="76200"/>
          </a:xfrm>
          <a:prstGeom prst="rect">
            <a:avLst/>
          </a:prstGeom>
          <a:solidFill>
            <a:srgbClr val="E9B44C"/>
          </a:solidFill>
          <a:ln w="10668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9C3744C-BD3A-B889-EB39-413A9084444D}"/>
              </a:ext>
            </a:extLst>
          </p:cNvPr>
          <p:cNvSpPr/>
          <p:nvPr/>
        </p:nvSpPr>
        <p:spPr>
          <a:xfrm>
            <a:off x="563866" y="6248400"/>
            <a:ext cx="11627829" cy="609600"/>
          </a:xfrm>
          <a:prstGeom prst="rect">
            <a:avLst/>
          </a:prstGeom>
          <a:solidFill>
            <a:srgbClr val="0C1320"/>
          </a:solidFill>
          <a:ln w="10668">
            <a:solidFill>
              <a:srgbClr val="0C13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FBABBC-D883-9746-8B1E-F194CCA12253}"/>
              </a:ext>
            </a:extLst>
          </p:cNvPr>
          <p:cNvSpPr txBox="1"/>
          <p:nvPr/>
        </p:nvSpPr>
        <p:spPr>
          <a:xfrm>
            <a:off x="944856" y="441960"/>
            <a:ext cx="640064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2880" b="1">
                <a:solidFill>
                  <a:srgbClr val="FFFFFF"/>
                </a:solidFill>
                <a:latin typeface="Aptos" panose="020B0004020202020204" pitchFamily="34" charset="0"/>
              </a:rPr>
              <a:t>Markdown to editable PowerPoint</a:t>
            </a:r>
            <a:endParaRPr lang="ko-KR" altLang="en-US" sz="28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602D-EDED-D830-4565-7BF96F5ECB57}"/>
              </a:ext>
            </a:extLst>
          </p:cNvPr>
          <p:cNvSpPr txBox="1"/>
          <p:nvPr/>
        </p:nvSpPr>
        <p:spPr>
          <a:xfrm>
            <a:off x="960096" y="944880"/>
            <a:ext cx="601965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368">
                <a:solidFill>
                  <a:srgbClr val="CBD5E1"/>
                </a:solidFill>
                <a:latin typeface="Aptos" panose="020B0004020202020204" pitchFamily="34" charset="0"/>
              </a:rPr>
              <a:t>MDPR uses rule-based layouts, theme colors, proof objects, tables, charts, and visual QA generated from actual PPTX outputs.</a:t>
            </a:r>
            <a:endParaRPr lang="ko-KR" altLang="en-US" sz="1368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C734484-4B48-A5EE-8C2D-20017B8A7DB5}"/>
              </a:ext>
            </a:extLst>
          </p:cNvPr>
          <p:cNvSpPr/>
          <p:nvPr/>
        </p:nvSpPr>
        <p:spPr>
          <a:xfrm>
            <a:off x="960096" y="1493520"/>
            <a:ext cx="1371566" cy="45720"/>
          </a:xfrm>
          <a:prstGeom prst="rect">
            <a:avLst/>
          </a:prstGeom>
          <a:solidFill>
            <a:srgbClr val="14B8A6"/>
          </a:solidFill>
          <a:ln w="1066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hero-preview-frame">
            <a:extLst>
              <a:ext uri="{FF2B5EF4-FFF2-40B4-BE49-F238E27FC236}">
                <a16:creationId xmlns:a16="http://schemas.microsoft.com/office/drawing/2014/main" id="{9B6E65C2-3601-21F7-BD68-6ABB8D25CB85}"/>
              </a:ext>
            </a:extLst>
          </p:cNvPr>
          <p:cNvSpPr/>
          <p:nvPr/>
        </p:nvSpPr>
        <p:spPr>
          <a:xfrm>
            <a:off x="960096" y="1844040"/>
            <a:ext cx="6034889" cy="339852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hero-preview-image">
            <a:extLst>
              <a:ext uri="{FF2B5EF4-FFF2-40B4-BE49-F238E27FC236}">
                <a16:creationId xmlns:a16="http://schemas.microsoft.com/office/drawing/2014/main" id="{C9648D4E-ABC2-8C7C-67EF-AEF68379AA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53" y="1981200"/>
            <a:ext cx="5760576" cy="281940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0F321557-6985-5CE7-AE65-509FA6058277}"/>
              </a:ext>
            </a:extLst>
          </p:cNvPr>
          <p:cNvSpPr/>
          <p:nvPr/>
        </p:nvSpPr>
        <p:spPr>
          <a:xfrm>
            <a:off x="1097253" y="4937760"/>
            <a:ext cx="5760576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069709-A151-6F6E-71F4-200895559A0D}"/>
              </a:ext>
            </a:extLst>
          </p:cNvPr>
          <p:cNvSpPr txBox="1"/>
          <p:nvPr/>
        </p:nvSpPr>
        <p:spPr>
          <a:xfrm>
            <a:off x="1249649" y="5006340"/>
            <a:ext cx="137156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data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90B975-564D-EF14-6E90-725B726E6F03}"/>
              </a:ext>
            </a:extLst>
          </p:cNvPr>
          <p:cNvSpPr txBox="1"/>
          <p:nvPr/>
        </p:nvSpPr>
        <p:spPr>
          <a:xfrm>
            <a:off x="2666933" y="5006340"/>
            <a:ext cx="396230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64748B"/>
                </a:solidFill>
                <a:latin typeface="Aptos" panose="020B0004020202020204" pitchFamily="34" charset="0"/>
              </a:rPr>
              <a:t>Chart + table: chart and table stay editable, aligned, and theme-bound</a:t>
            </a:r>
            <a:endParaRPr lang="ko-KR" altLang="en-US" sz="936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44BA32D-4BE9-DE97-1CEE-9FA43D213E73}"/>
              </a:ext>
            </a:extLst>
          </p:cNvPr>
          <p:cNvSpPr/>
          <p:nvPr/>
        </p:nvSpPr>
        <p:spPr>
          <a:xfrm>
            <a:off x="7452174" y="441960"/>
            <a:ext cx="3703227" cy="1844040"/>
          </a:xfrm>
          <a:prstGeom prst="roundRect">
            <a:avLst/>
          </a:prstGeom>
          <a:solidFill>
            <a:srgbClr val="17213A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CFA750-76B6-BDA2-6613-33FA5A6E3EA1}"/>
              </a:ext>
            </a:extLst>
          </p:cNvPr>
          <p:cNvSpPr txBox="1"/>
          <p:nvPr/>
        </p:nvSpPr>
        <p:spPr>
          <a:xfrm>
            <a:off x="7726487" y="670560"/>
            <a:ext cx="30174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584" b="1">
                <a:solidFill>
                  <a:srgbClr val="FFFFFF"/>
                </a:solidFill>
                <a:latin typeface="Aptos" panose="020B0004020202020204" pitchFamily="34" charset="0"/>
              </a:rPr>
              <a:t>What is covered</a:t>
            </a:r>
            <a:endParaRPr lang="ko-KR" altLang="en-US" sz="1584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DC6D87C-2F20-75A2-0E98-C0783A607C54}"/>
              </a:ext>
            </a:extLst>
          </p:cNvPr>
          <p:cNvSpPr/>
          <p:nvPr/>
        </p:nvSpPr>
        <p:spPr>
          <a:xfrm>
            <a:off x="7680768" y="1097280"/>
            <a:ext cx="152396" cy="152400"/>
          </a:xfrm>
          <a:prstGeom prst="ellipse">
            <a:avLst/>
          </a:prstGeom>
          <a:solidFill>
            <a:srgbClr val="14B8A6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F7A7A-EFF8-8AFE-EFCC-C5217309E511}"/>
              </a:ext>
            </a:extLst>
          </p:cNvPr>
          <p:cNvSpPr txBox="1"/>
          <p:nvPr/>
        </p:nvSpPr>
        <p:spPr>
          <a:xfrm>
            <a:off x="7924602" y="108204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Themes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8CD051-66F4-95CE-5056-B6965E616FF7}"/>
              </a:ext>
            </a:extLst>
          </p:cNvPr>
          <p:cNvSpPr txBox="1"/>
          <p:nvPr/>
        </p:nvSpPr>
        <p:spPr>
          <a:xfrm>
            <a:off x="9082813" y="108204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10 styles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BDBACF5-EEAA-81DF-671E-8E717EF06C5E}"/>
              </a:ext>
            </a:extLst>
          </p:cNvPr>
          <p:cNvSpPr/>
          <p:nvPr/>
        </p:nvSpPr>
        <p:spPr>
          <a:xfrm>
            <a:off x="7680768" y="1371600"/>
            <a:ext cx="152396" cy="152400"/>
          </a:xfrm>
          <a:prstGeom prst="ellipse">
            <a:avLst/>
          </a:prstGeom>
          <a:solidFill>
            <a:srgbClr val="E9B44C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11DCBA-30B3-1B7A-BD23-48BF9AB8F02A}"/>
              </a:ext>
            </a:extLst>
          </p:cNvPr>
          <p:cNvSpPr txBox="1"/>
          <p:nvPr/>
        </p:nvSpPr>
        <p:spPr>
          <a:xfrm>
            <a:off x="7924602" y="135636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Layouts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0BE876-4353-5AE7-DE2C-A54235CF36DB}"/>
              </a:ext>
            </a:extLst>
          </p:cNvPr>
          <p:cNvSpPr txBox="1"/>
          <p:nvPr/>
        </p:nvSpPr>
        <p:spPr>
          <a:xfrm>
            <a:off x="9082813" y="135636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10 compositions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C64937E-E517-74D2-9CFA-6554CEFED7A8}"/>
              </a:ext>
            </a:extLst>
          </p:cNvPr>
          <p:cNvSpPr/>
          <p:nvPr/>
        </p:nvSpPr>
        <p:spPr>
          <a:xfrm>
            <a:off x="7680768" y="1645920"/>
            <a:ext cx="152396" cy="152400"/>
          </a:xfrm>
          <a:prstGeom prst="ellipse">
            <a:avLst/>
          </a:prstGeom>
          <a:solidFill>
            <a:srgbClr val="8B7CF6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1D2634-7681-3C57-BFAB-A4A138E8E0F2}"/>
              </a:ext>
            </a:extLst>
          </p:cNvPr>
          <p:cNvSpPr txBox="1"/>
          <p:nvPr/>
        </p:nvSpPr>
        <p:spPr>
          <a:xfrm>
            <a:off x="7924602" y="163068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Objects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74078E-1867-DB78-343E-7CA22EFEF828}"/>
              </a:ext>
            </a:extLst>
          </p:cNvPr>
          <p:cNvSpPr txBox="1"/>
          <p:nvPr/>
        </p:nvSpPr>
        <p:spPr>
          <a:xfrm>
            <a:off x="9082813" y="163068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10 forms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4E7A6B5B-B6EC-A017-44FB-D2E68530539F}"/>
              </a:ext>
            </a:extLst>
          </p:cNvPr>
          <p:cNvSpPr/>
          <p:nvPr/>
        </p:nvSpPr>
        <p:spPr>
          <a:xfrm>
            <a:off x="7680768" y="1920240"/>
            <a:ext cx="152396" cy="152400"/>
          </a:xfrm>
          <a:prstGeom prst="ellipse">
            <a:avLst/>
          </a:prstGeom>
          <a:solidFill>
            <a:srgbClr val="BE123C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87EEEC-62DC-4FAA-91F7-F2D38ACF5D5F}"/>
              </a:ext>
            </a:extLst>
          </p:cNvPr>
          <p:cNvSpPr txBox="1"/>
          <p:nvPr/>
        </p:nvSpPr>
        <p:spPr>
          <a:xfrm>
            <a:off x="7924602" y="190500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Exports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C7C39A-083B-DEA7-552C-6C5454034C48}"/>
              </a:ext>
            </a:extLst>
          </p:cNvPr>
          <p:cNvSpPr txBox="1"/>
          <p:nvPr/>
        </p:nvSpPr>
        <p:spPr>
          <a:xfrm>
            <a:off x="9082813" y="190500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190 PPTX PNGs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1957EDA-F668-3E97-F418-03F19031675B}"/>
              </a:ext>
            </a:extLst>
          </p:cNvPr>
          <p:cNvSpPr/>
          <p:nvPr/>
        </p:nvSpPr>
        <p:spPr>
          <a:xfrm>
            <a:off x="7452174" y="2575560"/>
            <a:ext cx="3703227" cy="1722120"/>
          </a:xfrm>
          <a:prstGeom prst="roundRect">
            <a:avLst/>
          </a:prstGeom>
          <a:solidFill>
            <a:srgbClr val="FFFDF8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BD3FD4-EECB-CCD9-2FC8-9583BB6C5D0D}"/>
              </a:ext>
            </a:extLst>
          </p:cNvPr>
          <p:cNvSpPr txBox="1"/>
          <p:nvPr/>
        </p:nvSpPr>
        <p:spPr>
          <a:xfrm>
            <a:off x="7726487" y="2819400"/>
            <a:ext cx="297172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40" b="1">
                <a:solidFill>
                  <a:srgbClr val="111827"/>
                </a:solidFill>
                <a:latin typeface="Aptos" panose="020B0004020202020204" pitchFamily="34" charset="0"/>
              </a:rPr>
              <a:t>Deterministic visual rules</a:t>
            </a:r>
            <a:endParaRPr lang="ko-KR" altLang="en-US" sz="144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2222922C-5961-0069-0901-84117BB1F329}"/>
              </a:ext>
            </a:extLst>
          </p:cNvPr>
          <p:cNvSpPr/>
          <p:nvPr/>
        </p:nvSpPr>
        <p:spPr>
          <a:xfrm>
            <a:off x="7741727" y="3246120"/>
            <a:ext cx="121916" cy="121920"/>
          </a:xfrm>
          <a:prstGeom prst="ellipse">
            <a:avLst/>
          </a:prstGeom>
          <a:solidFill>
            <a:srgbClr val="14B8A6"/>
          </a:solidFill>
          <a:ln w="6350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CAAC18-6176-4200-8928-339F744426CF}"/>
              </a:ext>
            </a:extLst>
          </p:cNvPr>
          <p:cNvSpPr txBox="1"/>
          <p:nvPr/>
        </p:nvSpPr>
        <p:spPr>
          <a:xfrm>
            <a:off x="7955081" y="320040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Theme colors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2360BD4A-4F0B-DF7D-4CAE-6172D222E637}"/>
              </a:ext>
            </a:extLst>
          </p:cNvPr>
          <p:cNvSpPr/>
          <p:nvPr/>
        </p:nvSpPr>
        <p:spPr>
          <a:xfrm>
            <a:off x="7741727" y="3505200"/>
            <a:ext cx="121916" cy="121920"/>
          </a:xfrm>
          <a:prstGeom prst="ellipse">
            <a:avLst/>
          </a:prstGeom>
          <a:solidFill>
            <a:srgbClr val="E9B44C"/>
          </a:solidFill>
          <a:ln w="6350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A153C0-CE12-EE58-4309-B4DD0DBCD5B1}"/>
              </a:ext>
            </a:extLst>
          </p:cNvPr>
          <p:cNvSpPr txBox="1"/>
          <p:nvPr/>
        </p:nvSpPr>
        <p:spPr>
          <a:xfrm>
            <a:off x="7955081" y="345948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SVG-backed surfaces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66BA4DE4-9A0A-909D-EC5C-52B49DEE5627}"/>
              </a:ext>
            </a:extLst>
          </p:cNvPr>
          <p:cNvSpPr/>
          <p:nvPr/>
        </p:nvSpPr>
        <p:spPr>
          <a:xfrm>
            <a:off x="7741727" y="3764280"/>
            <a:ext cx="121916" cy="121920"/>
          </a:xfrm>
          <a:prstGeom prst="ellipse">
            <a:avLst/>
          </a:prstGeom>
          <a:solidFill>
            <a:srgbClr val="BE123C"/>
          </a:solidFill>
          <a:ln w="635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C89333-37DF-B419-A87E-086819F68E7E}"/>
              </a:ext>
            </a:extLst>
          </p:cNvPr>
          <p:cNvSpPr txBox="1"/>
          <p:nvPr/>
        </p:nvSpPr>
        <p:spPr>
          <a:xfrm>
            <a:off x="7955081" y="371856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Native tables + charts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491FEE3-2047-6758-DFA3-B3CBB7D8DA8A}"/>
              </a:ext>
            </a:extLst>
          </p:cNvPr>
          <p:cNvSpPr/>
          <p:nvPr/>
        </p:nvSpPr>
        <p:spPr>
          <a:xfrm>
            <a:off x="7741727" y="4023360"/>
            <a:ext cx="121916" cy="121920"/>
          </a:xfrm>
          <a:prstGeom prst="ellipse">
            <a:avLst/>
          </a:prstGeom>
          <a:solidFill>
            <a:srgbClr val="6366F1"/>
          </a:solidFill>
          <a:ln w="63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BCCDD7-2CE2-85C3-CD0F-F4E317179C7E}"/>
              </a:ext>
            </a:extLst>
          </p:cNvPr>
          <p:cNvSpPr txBox="1"/>
          <p:nvPr/>
        </p:nvSpPr>
        <p:spPr>
          <a:xfrm>
            <a:off x="7955081" y="397764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Overflow and scale checks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9" name="strip-preview-1-frame">
            <a:extLst>
              <a:ext uri="{FF2B5EF4-FFF2-40B4-BE49-F238E27FC236}">
                <a16:creationId xmlns:a16="http://schemas.microsoft.com/office/drawing/2014/main" id="{D130F4E8-68E3-69FA-F69F-1C4C2E6637A0}"/>
              </a:ext>
            </a:extLst>
          </p:cNvPr>
          <p:cNvSpPr/>
          <p:nvPr/>
        </p:nvSpPr>
        <p:spPr>
          <a:xfrm>
            <a:off x="7452174" y="4663440"/>
            <a:ext cx="1082013" cy="85344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strip-preview-1-image">
            <a:extLst>
              <a:ext uri="{FF2B5EF4-FFF2-40B4-BE49-F238E27FC236}">
                <a16:creationId xmlns:a16="http://schemas.microsoft.com/office/drawing/2014/main" id="{6FE2B429-6D54-D853-3CDD-89C6BC85D7D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3132" y="4724400"/>
            <a:ext cx="960096" cy="731520"/>
          </a:xfrm>
          <a:prstGeom prst="rect">
            <a:avLst/>
          </a:prstGeom>
        </p:spPr>
      </p:pic>
      <p:sp>
        <p:nvSpPr>
          <p:cNvPr id="42" name="strip-preview-2-frame">
            <a:extLst>
              <a:ext uri="{FF2B5EF4-FFF2-40B4-BE49-F238E27FC236}">
                <a16:creationId xmlns:a16="http://schemas.microsoft.com/office/drawing/2014/main" id="{9C9B8042-DC91-8355-4D22-216B633253EC}"/>
              </a:ext>
            </a:extLst>
          </p:cNvPr>
          <p:cNvSpPr/>
          <p:nvPr/>
        </p:nvSpPr>
        <p:spPr>
          <a:xfrm>
            <a:off x="8671344" y="4663440"/>
            <a:ext cx="1082013" cy="85344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strip-preview-2-image">
            <a:extLst>
              <a:ext uri="{FF2B5EF4-FFF2-40B4-BE49-F238E27FC236}">
                <a16:creationId xmlns:a16="http://schemas.microsoft.com/office/drawing/2014/main" id="{05DD3A29-E1D0-80BF-6EB5-AFA9DC019C3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2302" y="4724400"/>
            <a:ext cx="960096" cy="731520"/>
          </a:xfrm>
          <a:prstGeom prst="rect">
            <a:avLst/>
          </a:prstGeom>
        </p:spPr>
      </p:pic>
      <p:sp>
        <p:nvSpPr>
          <p:cNvPr id="45" name="strip-preview-3-frame">
            <a:extLst>
              <a:ext uri="{FF2B5EF4-FFF2-40B4-BE49-F238E27FC236}">
                <a16:creationId xmlns:a16="http://schemas.microsoft.com/office/drawing/2014/main" id="{141F13C3-60AA-C14A-0283-0D87D7F91B98}"/>
              </a:ext>
            </a:extLst>
          </p:cNvPr>
          <p:cNvSpPr/>
          <p:nvPr/>
        </p:nvSpPr>
        <p:spPr>
          <a:xfrm>
            <a:off x="9890513" y="4663440"/>
            <a:ext cx="1082013" cy="85344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strip-preview-3-image">
            <a:extLst>
              <a:ext uri="{FF2B5EF4-FFF2-40B4-BE49-F238E27FC236}">
                <a16:creationId xmlns:a16="http://schemas.microsoft.com/office/drawing/2014/main" id="{B4654232-523E-0930-3B41-894EB0666873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1471" y="4724400"/>
            <a:ext cx="960096" cy="731520"/>
          </a:xfrm>
          <a:prstGeom prst="rect">
            <a:avLst/>
          </a:prstGeom>
        </p:spPr>
      </p:pic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0201712-260F-8779-DC6B-A408E9596703}"/>
              </a:ext>
            </a:extLst>
          </p:cNvPr>
          <p:cNvSpPr/>
          <p:nvPr/>
        </p:nvSpPr>
        <p:spPr>
          <a:xfrm>
            <a:off x="960096" y="5516880"/>
            <a:ext cx="6034889" cy="563880"/>
          </a:xfrm>
          <a:prstGeom prst="roundRect">
            <a:avLst/>
          </a:prstGeom>
          <a:solidFill>
            <a:srgbClr val="17213A"/>
          </a:solidFill>
          <a:ln w="11430">
            <a:solidFill>
              <a:srgbClr val="22D3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3FE44D-AEDE-95D5-7D50-A0FE6F4D0DDD}"/>
              </a:ext>
            </a:extLst>
          </p:cNvPr>
          <p:cNvSpPr txBox="1"/>
          <p:nvPr/>
        </p:nvSpPr>
        <p:spPr>
          <a:xfrm>
            <a:off x="1203930" y="5654040"/>
            <a:ext cx="19049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224" b="1">
                <a:solidFill>
                  <a:srgbClr val="FFFFFF"/>
                </a:solidFill>
                <a:latin typeface="Aptos" panose="020B0004020202020204" pitchFamily="34" charset="0"/>
              </a:rPr>
              <a:t>Built from real MDPR results</a:t>
            </a:r>
            <a:endParaRPr lang="ko-KR" altLang="en-US" sz="1224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2875D6-F944-19C4-1B21-C17CB9E53114}"/>
              </a:ext>
            </a:extLst>
          </p:cNvPr>
          <p:cNvSpPr txBox="1"/>
          <p:nvPr/>
        </p:nvSpPr>
        <p:spPr>
          <a:xfrm>
            <a:off x="3200320" y="5654040"/>
            <a:ext cx="32765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>
                <a:solidFill>
                  <a:srgbClr val="CBD5E1"/>
                </a:solidFill>
                <a:latin typeface="Aptos" panose="020B0004020202020204" pitchFamily="34" charset="0"/>
              </a:rPr>
              <a:t>theme-preview PPTX -&gt; PowerPoint PNG -&gt; README teaser</a:t>
            </a:r>
            <a:endParaRPr lang="ko-KR" altLang="en-US" sz="1008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608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</Words>
  <Application>Microsoft Office PowerPoint</Application>
  <PresentationFormat>사용자 지정</PresentationFormat>
  <Paragraphs>20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2026-06-20T16:34:44Z</dcterms:created>
  <dcterms:modified xsi:type="dcterms:W3CDTF">2026-06-20T16:34:44Z</dcterms:modified>
</cp:coreProperties>
</file>